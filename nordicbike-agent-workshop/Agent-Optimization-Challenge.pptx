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before anything else: this is not a lecture with an exercise bolted on. Teams will build four versions of the same agent and their last one gets scored on a public leaderboard.
The number in the subtitle is the whole workshop. Almost five times less context, and the correctness bar does not move. If anyone cuts context by breaking answers, they lose more points than they gain — the scoring is built to make that unprofitable.
Say up front that the case company is fictional but the trade-offs are not. Everything they will hit today — over-stuffed context, fat handoffs, frontier models doing trivial work — is what real agent systems get wrong.
Housekeeping while people settle: teams of three or four, one laptop driving per team, and the leaderboard runs at the two-hour mark whether or not everyone is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people want to start.
The two things to say out loud. First, the rebuilds are cumulative: V2 keeps working in V3, V3 keeps working in V4. Nobody starts from scratch at any point.
Second, and this is the one teams forget: correctness is seventy percent of the final score and cost is thirty. Every year someone optimises themselves down to a beautifully cheap agent that gets the eligibility decisions wrong, and they finish last. Say that now so nobody can claim they were not warned.
Phase 3 is the long one at forty-five minutes. Protect it. If phase 1 runs over, cut your own talking, not their building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do not elaborate — the workshop teaches them, this slide just names them.
The line worth adding: these are ordered by how much leverage they have. Context engineering alone gets most teams from V1 to V2 and halves their cost. Routing is the smallest change and the biggest multiplier, because a Tier 3 token costs twelve times a Tier 1 token.
If anyone asks which matters most in real systems, the honest answer is context engineering, because it improves accuracy as well as cost. Everything else on this list mainly buys money and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it justifies the entire exercise structure.
Spend the time on the second bullet, because the first is obvious and the second is not. Everyone accepts that more tokens cost more money. Far fewer accept that more tokens make the answer worse.
But that is exactly what the NordicBike cases are built to demonstrate. When you hand the agent all four policy documents, it will find a section that plausibly applies — and in the adversarial cases, the plausible section is the wrong one. Anna and Erik later on is the clean example of this.
The dark box is the sentence to leave in the room. Big context windows made this instinct feel safe. It is not safe; it is just no longer expensive enough to notice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map for the whole afternoon, so make the mapping explicit and then refer back to it at each phase.
Progressive disclosure is the least intuitive of the three. Teams instinctively load the knowledge base once at the start because it feels efficient. It is the opposite: they pay for all of it on every turn, and most of it never gets used for that case.
Handoff discipline is where the biggest surprise usually lands. Teams build a subagent split in V3, feel clever, and discover their token count barely moved — because they passed the entire context across the boundary. That disappointment is deliberate and it is the most valuable moment in the workshop. Do not spoil it now.
Routing is last because it is the easiest and it only pays once the first two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of context-setting, then teams form. Do not let this run long — the cases teach better than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 company is fictional and nobody needs to remember the details — the knowledge base is in the repo.
The one fact worth pointing at is the founding year. A company founded in 2019 has already superseded at least one policy version, which is exactly the trap in Archetype B. Plant it now, quietly, and it pays off later.
The brief on the right is the actual assignment. Say both halves and stress that only satisfying one is failure — a perfectly accurate agent that costs a fortune loses to a slightly cheaper one that is equally accurate, and a cheap agent that gets decisions wrong loses to everybody.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through the products — nobody needs to memorise a price list, and it is all in the repo.
The two things to actually say. The battery variants are not decoration: several cases hinge on which pack is fitted and when it was purchased, so a team that treats all batteries as one product will get those wrong.
And the ten cases are not a random sample. Every one of them is built around one of four traps, and each trap appears at least once. A team that gets nine right and one badly wrong has probably fallen into an archetype rather than made a small error — which is precisely what the penalty term in the scoring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teams will want to photograph. Give them a moment.
Walk each one with the failure mode, not the definition. A fails when the agent pattern-matches on the symptom text and never checks the root cause. B fails when the agent grabs the newest policy document because it is the newest. C fails when the agent tries to be helpful and answers something it should have escalated. D fails when the agent fills a gap with a confident assumption instead of a question.
Notice what all four have in common: the failure looks like competence. There is no error message. The output is fluent, well-structured and wrong — which is exactly why the quality gate has to check for citation and root cause rather than just reading nicely.
Then land the penalty. Ten points each, out of a hundred. Two archetype failures and no amount of cost efficiency saves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slide in the deck for making the whole workshop click. Take your time.
Read the two cards across rather than down. Batch: identical. Symptom: identical, word for word. Then the root cause line, and the outcome flips completely.
The question to ask the room: what would an agent have to do to get both of these right? It has to go looking for the cause after it has read the symptom, and it has to know that section 4(i) exists and excludes pressure-washing. Nothing in Anna's case mentions water at all — the absence is what makes her eligible.
This is also the cleanest argument for the quality gate, so foreshadow it: gate item 2 requires the eligibility outcome to be justified by root cause, not symptom text alone. This case is why that line is worded exactly that way.
If teams grasp only this slide, they will build a far better agent than if they had memorised the entire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body of the workshop — phases 2, 3 and 4, roughly 95 minutes of the 120. Everything before was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V1 before you attack it. It is not a strawman — it is what most first drafts look like, including in production, and it does produce reasonable answers on the easy cases.
Its flaw is that it makes no decisions about what the model sees. It cannot, because it never looks at the case before assembling the context. Every case gets the same eighteen thousand tokens whether it is a simple shipping question or the Erik warranty trap.
Point at the Tier 3 line. A frontier model is reading the accessories catalogue to answer a question about a battery. That is the single most expensive thing on this slide and the easiest to fix — but tell them to fix it last, because routing on top of a bloated context just makes the waste cheaper rather than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over-explain the domain. The knowledge base is in the repo and teams read faster than you talk.
The one thing worth doing properly is walking a single case end to end — Anna is the best choice — so that everyone has a concrete picture of what a case file contains and what a good answer looks like.
Team formation: mix technical and less technical people deliberately. The quality gate work in Phase 4 is a reading and judgement exercise, not a coding one, and mixed teams reliably score better on it.
Say the scoring split now and say it again in Phase 4. Teams that hear it only once optimise for cost and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diagnosis step is the one teams want to skip. Do not let them — insist on the written list before any editing starts.
The interesting part is where they think the tokens are. Most teams guess the case text. It is almost never the case text; it is the knowledge base dump, which is the majority of the payload and mostly irrelevant to any single case.
Walk the room during this phase and ask each team one question: for this specific case, how many of the loaded documents were actually needed? The answer is usually two out of eleven. That realisation is what powers Phase 3.
Also make sure everyone has a working run before the phase ends. A team still fighting their environment at minute twenty will not recover.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longest phase and the one that teaches the most. Protect the full forty-five minutes.
V2 is mostly mechanical and teams get there fast. The rule to enforce is verification: every team must confirm Case 1 still resolves correctly before they touch V3. Teams that race ahead break correctness silently and only discover it during the quality gate, when there is no time left to fix it.
V3 is where the real lesson lives, and it is a trap by design. Teams will split the agent into triage and resolver, feel pleased with themselves, and find their token count has barely moved — because they passed the whole context across the boundary. Let them hit it. Do not warn them.
When a team hits the wall, ask one question rather than giving the answer: what does the resolver actually need to know in order to decide? Then let them work out that it is about fifteen fields, not eleven documents. That is the next slide, and they should arrive at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at the start of Phase 3 as the map, and again at the end as the scoreboard.
The shape is the message. The first cut is the easiest and the biggest — half the tokens for the least clever work, just by not loading files you do not need.
Then point at V3 and be honest about it. Forty percent for a substantially harder change, because V3 still carries full context across the handoff. It is deliberately the least efficient step per unit of effort, and teams should feel that.
V4 is where the two remaining ideas compound: thin the payload and route the calls. Note the split — a thousand tokens of Tier 1 triage and 2,800 of Tier 2 resolver. In cost points that is dramatically better than the token count alone suggests, because the tier weights differ by twelve times. That is the bridge to the routing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up only after teams have hit the wall themselves in Phase 3. Shown too early it is a warning; shown at the right moment it is a diagnosis, and they remember diagnoses.
Ask someone to read the key names out loud. Every single one is a whole file. The structure looks disciplined — nested, typed, tidy — and it is carrying eleven complete documents across a boundary that was supposed to reduce load.
The conversation_history line deserves its own moment. Unbounded means it grows every turn and nothing ever removes anything. On a long case that field alone can dwarf everything above it.
The sentence at the bottom right is the one to repeat: delegation without discipline is just two bills. Splitting an agent is not an optimisation. Thinning the interface between the halves is the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handoff slides side by side mentally — same boundary, same architecture, completely different bill.
Walk three fields specifically. applicable_policy_sections carries pointers rather than prose: the resolver is told where to look and fetches only if it actually needs the text. root_cause_flags is the Anna and Erik distinction reduced to two booleans, which is the entire difference between eligible and not. recommended_model_tier means routing is a decision made by something that has read the case, not a static configuration.
The important conceptual point: this payload is not a compression of the old one. It is the output of thinking. The triage call read the mess and produced structured judgements, and those judgements are what crosses the boundary.
Worth saying plainly — this is what "typed handoff" means in practice, and it is the single most transferable idea from the whole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exercises in thirty minutes is tight, and the second one matters more. Announce the split at the start: fifteen minutes on V4, fifteen on the gate, and mean it.
The escalation short-circuit is the cleverest trick available and teams routinely miss it. If triage flags a case as out of scope, there is nothing for the resolver to resolve — the second call should not happen at all. That is a whole call saved on two of the ten cases.
The gate is where the workshop's real lesson lands. Teams have spent an hour optimising against Case 1 and now discover their agent fails Case 5 or Case 7. That is not a workshop artefact; it is exactly what happens when you tune an agent against a single example.
Walk the room repeating one thing: quality is seventy percent. Any team still shaving tokens while a gate item fails is actively 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to make people feel is the twelve. A token processed by a frontier model costs twelve times the same token on the fast model, and V1 spent every single one of its eighteen thousand tokens at that rate.
Then the reframe that makes routing obvious: ask what the triage step is actually doing. It is reading a case file and pulling out a serial number, a purchase date and two boolean flags. That is extraction. It does not require the most capable model available, and using one there is like couriering a letter across town by helicopter.
Be careful to say what routing does not fix. It makes waste cheaper; it does not make it smaller. A team that routes a bloated V1 down to Tier 1 will get a decent cost score and fail on quality, because the small model drowns in the same irrelevant context. Routing pays off only after the context work is done — which is exactly why it is exercise four and not exercise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items 2 and 5 slowly — they are the two that decide most teams' scores.
Item 2 is the Anna and Erik gate. The wording is deliberate: justified by root cause, not symptom text alone. An answer that says not eligible for the right reason passes; an answer that reaches the same verdict by pattern-matching the symptom does not.
Item 5 is counter-intuitive and worth defending explicitly. Asking a clarifying question feels like failure to a team that has built an agent to answer things. It is the correct behaviour for archetype D, and it is the behaviour production support teams actually want. An agent that guesses confidently on missing information is worse than one that stops.
Item 6 sounds soft, but the language clause is not decoration. If the customer wrote in Swedish, an English answer fails the gate.
Note the AND at the bottom. Sixteen out of twenty on the rubric is not enough on its own. Both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formula aloud line by line. Explain the shape and let teams read the detail.
The shape: quality is worth seventy, cost is worth thirty, and archetype failures come straight off the top. A team that halves its cost gains at most fifteen points. A team that blows two adversarial cases loses twenty and probably fails those cases on quality too — so the real swing is much larger.
The baseline cost points figure is worth one sentence. BCP is what V1 costs: twelve times 18.4 thousand tokens, or 220.8. Cost efficiency is measured as how far below that you got, so a V4 at 3,800 tokens across two tiers scores extremely well.
Then say the thing that decides the leaderboard every time: the winning team is almost never the cheapest. It is the team that got to roughly V3 or V4 cost with zero archetype failures. Cheap and wrong loses to slightly-less-cheap and right, every single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scoring while Phase 4 is still running, as submissions land. Ten minutes is not enough to score from cold and still hold a discussion.
Reveal the leaderboard bottom-up; it keeps attention and it is kinder. Before showing the top, ask the room to guess whether the winner was the cheapest agent. They will guess yes. It usually is not, and that reveal makes the scoring philosophy land better than any explanation of the formula.
Protect the retro even if the leaderboard runs long. The third question is the one that matters — teams have just built a typed handoff and a quality gate under time pressure, and they will never have a better moment to decide what to carry into real work.
Close by naming the one transferable idea: the handoff payload. Most people here will not build a scoring rubric next week, but nearly all of them will design an interface between two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Mechanically simple; the value is in how you stage the reveal.
Be transparent that scoring is partly judgement. The rubric has five categories at zero to four each, and reasonable people can differ by a point. Say so before the reveal rather than defending it after. What is not judgement is the archetype penalty and the cost arithmetic — those are mechanical, and they decide most of the ranking.
The prompt in the dark box is the highest-value ten seconds of the phase. Teams have spent two hours optimising cost, so they assume cheapest wins. When it does not, the seventy-thirty split stops being a rule on a slide and becomes something they 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fast — energy is high after the leaderboard and a long recap wastes it.
Read the five as capabilities rather than topics. Every one of them was measured today, not asserted.
Then land the final line and stop. Scoring rubrics and evaluation harnesses are specialist work that not everyone will do. Designing the interface between two agents is something nearly everyone in this room will do within a month, and the difference between the two JSON payloads they saw today is the whole discipline in one picture.
If you want a closing question rather than a closing statement: ask which of their current systems is passing a fat handoff right now. Somebody always knows the answer, and it is usually uncomfortable.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1E11"/>
        </a:solidFill>
      </p:bgPr>
    </p:bg>
    <p:spTree>
      <p:nvGrpSpPr>
        <p:cNvPr id="1" name=""/>
        <p:cNvGrpSpPr/>
        <p:nvPr/>
      </p:nvGrpSpPr>
      <p:grpSpPr>
        <a:xfrm>
          <a:off x="0" y="0"/>
          <a:ext cx="0" cy="0"/>
          <a:chOff x="0" y="0"/>
          <a:chExt cx="0" cy="0"/>
        </a:xfrm>
      </p:grpSpPr>
      <p:pic>
        <p:nvPicPr>
          <p:cNvPr id="2" name="Image 0" descr="/home/claude/assets/contours.png">    </p:cNvPr>
          <p:cNvPicPr>
            <a:picLocks noChangeAspect="1"/>
          </p:cNvPicPr>
          <p:nvPr/>
        </p:nvPicPr>
        <p:blipFill>
          <a:blip r:embed="rId1">
            <a:alphaModFix amt="70000"/>
          </a:blip>
          <a:stretch>
            <a:fillRect/>
          </a:stretch>
        </p:blipFill>
        <p:spPr>
          <a:xfrm>
            <a:off x="0" y="1280160"/>
            <a:ext cx="12191695" cy="5577840"/>
          </a:xfrm>
          <a:prstGeom prst="rect">
            <a:avLst/>
          </a:prstGeom>
        </p:spPr>
      </p:pic>
      <p:pic>
        <p:nvPicPr>
          <p:cNvPr id="3" name="Image 1" descr="/home/claude/assets/hero.png">    </p:cNvPr>
          <p:cNvPicPr>
            <a:picLocks noChangeAspect="1"/>
          </p:cNvPicPr>
          <p:nvPr/>
        </p:nvPicPr>
        <p:blipFill>
          <a:blip r:embed="rId2">
            <a:alphaModFix amt="92000"/>
          </a:blip>
          <a:stretch>
            <a:fillRect/>
          </a:stretch>
        </p:blipFill>
        <p:spPr>
          <a:xfrm>
            <a:off x="5943600" y="502920"/>
            <a:ext cx="6035040" cy="5852160"/>
          </a:xfrm>
          <a:prstGeom prst="rect">
            <a:avLst/>
          </a:prstGeom>
        </p:spPr>
      </p:pic>
      <p:sp>
        <p:nvSpPr>
          <p:cNvPr id="4" name="Text 0"/>
          <p:cNvSpPr/>
          <p:nvPr/>
        </p:nvSpPr>
        <p:spPr>
          <a:xfrm>
            <a:off x="640080" y="1234440"/>
            <a:ext cx="5943600" cy="274320"/>
          </a:xfrm>
          <a:prstGeom prst="rect">
            <a:avLst/>
          </a:prstGeom>
          <a:noFill/>
          <a:ln/>
        </p:spPr>
        <p:txBody>
          <a:bodyPr wrap="square" lIns="0" tIns="0" rIns="0" bIns="0" rtlCol="0" anchor="ctr"/>
          <a:lstStyle/>
          <a:p>
            <a:pPr indent="0" marL="0">
              <a:buNone/>
            </a:pPr>
            <a:r>
              <a:rPr lang="en-US" sz="1150" b="1" spc="240" kern="0" dirty="0">
                <a:solidFill>
                  <a:srgbClr val="D6E3FF"/>
                </a:solidFill>
                <a:latin typeface="Arial" pitchFamily="34" charset="0"/>
                <a:ea typeface="Arial" pitchFamily="34" charset="-122"/>
                <a:cs typeface="Arial" pitchFamily="34" charset="-120"/>
              </a:rPr>
              <a:t>HANDS-ON WORKSHOP  ·  120 MINUTES</a:t>
            </a:r>
            <a:endParaRPr lang="en-US" sz="1150" dirty="0"/>
          </a:p>
        </p:txBody>
      </p:sp>
      <p:sp>
        <p:nvSpPr>
          <p:cNvPr id="5" name="Text 1"/>
          <p:cNvSpPr/>
          <p:nvPr/>
        </p:nvSpPr>
        <p:spPr>
          <a:xfrm>
            <a:off x="640080" y="1828800"/>
            <a:ext cx="5760720" cy="2651760"/>
          </a:xfrm>
          <a:prstGeom prst="rect">
            <a:avLst/>
          </a:prstGeom>
          <a:noFill/>
          <a:ln/>
        </p:spPr>
        <p:txBody>
          <a:bodyPr wrap="square" lIns="0" tIns="0" rIns="0" bIns="0" rtlCol="0" anchor="t"/>
          <a:lstStyle/>
          <a:p>
            <a:pPr indent="0" marL="0">
              <a:lnSpc>
                <a:spcPts val="5400"/>
              </a:lnSpc>
              <a:buNone/>
            </a:pPr>
            <a:r>
              <a:rPr lang="en-US" sz="4800" b="1" dirty="0">
                <a:solidFill>
                  <a:srgbClr val="FAF9F7"/>
                </a:solidFill>
                <a:latin typeface="Arial" pitchFamily="34" charset="0"/>
                <a:ea typeface="Arial" pitchFamily="34" charset="-122"/>
                <a:cs typeface="Arial" pitchFamily="34" charset="-120"/>
              </a:rPr>
              <a:t>Agent</a:t>
            </a:r>
            <a:endParaRPr lang="en-US" sz="4800" dirty="0"/>
          </a:p>
          <a:p>
            <a:pPr indent="0" marL="0">
              <a:lnSpc>
                <a:spcPts val="5400"/>
              </a:lnSpc>
              <a:buNone/>
            </a:pPr>
            <a:r>
              <a:rPr lang="en-US" sz="4800" b="1" dirty="0">
                <a:solidFill>
                  <a:srgbClr val="FAF9F7"/>
                </a:solidFill>
                <a:latin typeface="Arial" pitchFamily="34" charset="0"/>
                <a:ea typeface="Arial" pitchFamily="34" charset="-122"/>
                <a:cs typeface="Arial" pitchFamily="34" charset="-120"/>
              </a:rPr>
              <a:t>Optimization</a:t>
            </a:r>
            <a:endParaRPr lang="en-US" sz="4800" dirty="0"/>
          </a:p>
          <a:p>
            <a:pPr indent="0" marL="0">
              <a:lnSpc>
                <a:spcPts val="5400"/>
              </a:lnSpc>
              <a:buNone/>
            </a:pPr>
            <a:r>
              <a:rPr lang="en-US" sz="4800" b="1" dirty="0">
                <a:solidFill>
                  <a:srgbClr val="FAF9F7"/>
                </a:solidFill>
                <a:latin typeface="Arial" pitchFamily="34" charset="0"/>
                <a:ea typeface="Arial" pitchFamily="34" charset="-122"/>
                <a:cs typeface="Arial" pitchFamily="34" charset="-120"/>
              </a:rPr>
              <a:t>Challenge</a:t>
            </a:r>
            <a:endParaRPr lang="en-US" sz="4800" dirty="0"/>
          </a:p>
        </p:txBody>
      </p:sp>
      <p:sp>
        <p:nvSpPr>
          <p:cNvPr id="6" name="Shape 2"/>
          <p:cNvSpPr/>
          <p:nvPr/>
        </p:nvSpPr>
        <p:spPr>
          <a:xfrm>
            <a:off x="640080" y="4709160"/>
            <a:ext cx="1097280" cy="41148"/>
          </a:xfrm>
          <a:prstGeom prst="rect">
            <a:avLst/>
          </a:prstGeom>
          <a:solidFill>
            <a:srgbClr val="0054F0"/>
          </a:solidFill>
          <a:ln/>
        </p:spPr>
      </p:sp>
      <p:sp>
        <p:nvSpPr>
          <p:cNvPr id="7" name="Text 3"/>
          <p:cNvSpPr/>
          <p:nvPr/>
        </p:nvSpPr>
        <p:spPr>
          <a:xfrm>
            <a:off x="640080" y="4983480"/>
            <a:ext cx="5486400" cy="822960"/>
          </a:xfrm>
          <a:prstGeom prst="rect">
            <a:avLst/>
          </a:prstGeom>
          <a:noFill/>
          <a:ln/>
        </p:spPr>
        <p:txBody>
          <a:bodyPr wrap="square" lIns="0" tIns="0" rIns="0" bIns="0" rtlCol="0" anchor="ctr"/>
          <a:lstStyle/>
          <a:p>
            <a:pPr indent="0" marL="0">
              <a:lnSpc>
                <a:spcPts val="2200"/>
              </a:lnSpc>
              <a:buNone/>
            </a:pPr>
            <a:r>
              <a:rPr lang="en-US" sz="1500" dirty="0">
                <a:solidFill>
                  <a:srgbClr val="E8E0D9"/>
                </a:solidFill>
                <a:latin typeface="Arial" pitchFamily="34" charset="0"/>
                <a:ea typeface="Arial" pitchFamily="34" charset="-122"/>
                <a:cs typeface="Arial" pitchFamily="34" charset="-120"/>
              </a:rPr>
              <a:t>NordicBike AB — cut an agent from 18,400 tokens to 3,800</a:t>
            </a:r>
            <a:endParaRPr lang="en-US" sz="1500" dirty="0"/>
          </a:p>
          <a:p>
            <a:pPr indent="0" marL="0">
              <a:lnSpc>
                <a:spcPts val="2200"/>
              </a:lnSpc>
              <a:buNone/>
            </a:pPr>
            <a:r>
              <a:rPr lang="en-US" sz="1500" dirty="0">
                <a:solidFill>
                  <a:srgbClr val="E8E0D9"/>
                </a:solidFill>
                <a:latin typeface="Arial" pitchFamily="34" charset="0"/>
                <a:ea typeface="Arial" pitchFamily="34" charset="-122"/>
                <a:cs typeface="Arial" pitchFamily="34" charset="-120"/>
              </a:rPr>
              <a:t>without losing a single correct decision.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2</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THE NEXT TWO HOURS</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Five phases, one agent, four rewrites</a:t>
            </a:r>
            <a:endParaRPr lang="en-US" sz="3600" dirty="0"/>
          </a:p>
        </p:txBody>
      </p:sp>
      <p:sp>
        <p:nvSpPr>
          <p:cNvPr id="5" name="Text 3"/>
          <p:cNvSpPr/>
          <p:nvPr/>
        </p:nvSpPr>
        <p:spPr>
          <a:xfrm>
            <a:off x="640080" y="1874520"/>
            <a:ext cx="5486400" cy="1280160"/>
          </a:xfrm>
          <a:prstGeom prst="rect">
            <a:avLst/>
          </a:prstGeom>
          <a:noFill/>
          <a:ln/>
        </p:spPr>
        <p:txBody>
          <a:bodyPr wrap="square" lIns="0" tIns="0" rIns="0" bIns="0" rtlCol="0" anchor="ctr"/>
          <a:lstStyle/>
          <a:p>
            <a:pPr indent="0" marL="0">
              <a:lnSpc>
                <a:spcPts val="2400"/>
              </a:lnSpc>
              <a:buNone/>
            </a:pPr>
            <a:r>
              <a:rPr lang="en-US" sz="1550" dirty="0">
                <a:solidFill>
                  <a:srgbClr val="331E11"/>
                </a:solidFill>
                <a:latin typeface="Arial" pitchFamily="34" charset="0"/>
                <a:ea typeface="Arial" pitchFamily="34" charset="-122"/>
                <a:cs typeface="Arial" pitchFamily="34" charset="-120"/>
              </a:rPr>
              <a:t>You will run a deliberately wasteful agent, diagnose it, and rebuild it three times. Each rebuild removes a different kind of waste — and the scoring punishes you if correctness slips.</a:t>
            </a:r>
            <a:endParaRPr lang="en-US" sz="1550" dirty="0"/>
          </a:p>
        </p:txBody>
      </p:sp>
      <p:sp>
        <p:nvSpPr>
          <p:cNvPr id="6" name="Shape 4"/>
          <p:cNvSpPr/>
          <p:nvPr/>
        </p:nvSpPr>
        <p:spPr>
          <a:xfrm>
            <a:off x="640080" y="3383280"/>
            <a:ext cx="5486400" cy="1371600"/>
          </a:xfrm>
          <a:prstGeom prst="roundRect">
            <a:avLst>
              <a:gd name="adj" fmla="val 9333"/>
            </a:avLst>
          </a:prstGeom>
          <a:solidFill>
            <a:srgbClr val="331E11"/>
          </a:solidFill>
          <a:ln/>
        </p:spPr>
      </p:sp>
      <p:sp>
        <p:nvSpPr>
          <p:cNvPr id="7" name="Text 5"/>
          <p:cNvSpPr/>
          <p:nvPr/>
        </p:nvSpPr>
        <p:spPr>
          <a:xfrm>
            <a:off x="1005840" y="3584448"/>
            <a:ext cx="4754880" cy="320040"/>
          </a:xfrm>
          <a:prstGeom prst="rect">
            <a:avLst/>
          </a:prstGeom>
          <a:noFill/>
          <a:ln/>
        </p:spPr>
        <p:txBody>
          <a:bodyPr wrap="square" lIns="0" tIns="0" rIns="0" bIns="0" rtlCol="0" anchor="ctr"/>
          <a:lstStyle/>
          <a:p>
            <a:pPr indent="0" marL="0">
              <a:buNone/>
            </a:pPr>
            <a:r>
              <a:rPr lang="en-US" sz="1300" dirty="0">
                <a:solidFill>
                  <a:srgbClr val="E8E0D9"/>
                </a:solidFill>
                <a:latin typeface="Arial" pitchFamily="34" charset="0"/>
                <a:ea typeface="Arial" pitchFamily="34" charset="-122"/>
                <a:cs typeface="Arial" pitchFamily="34" charset="-120"/>
              </a:rPr>
              <a:t>The single measure that matters:</a:t>
            </a:r>
            <a:endParaRPr lang="en-US" sz="1300" dirty="0"/>
          </a:p>
        </p:txBody>
      </p:sp>
      <p:sp>
        <p:nvSpPr>
          <p:cNvPr id="8" name="Text 6"/>
          <p:cNvSpPr/>
          <p:nvPr/>
        </p:nvSpPr>
        <p:spPr>
          <a:xfrm>
            <a:off x="1005840" y="3931920"/>
            <a:ext cx="4754880" cy="548640"/>
          </a:xfrm>
          <a:prstGeom prst="rect">
            <a:avLst/>
          </a:prstGeom>
          <a:noFill/>
          <a:ln/>
        </p:spPr>
        <p:txBody>
          <a:bodyPr wrap="square" lIns="0" tIns="0" rIns="0" bIns="0" rtlCol="0" anchor="ctr"/>
          <a:lstStyle/>
          <a:p>
            <a:pPr indent="0" marL="0">
              <a:buNone/>
            </a:pPr>
            <a:r>
              <a:rPr lang="en-US" sz="2700" b="1" dirty="0">
                <a:solidFill>
                  <a:srgbClr val="FAF9F7"/>
                </a:solidFill>
                <a:latin typeface="Arial" pitchFamily="34" charset="0"/>
                <a:ea typeface="Arial" pitchFamily="34" charset="-122"/>
                <a:cs typeface="Arial" pitchFamily="34" charset="-120"/>
              </a:rPr>
              <a:t>cheap and still correct.</a:t>
            </a:r>
            <a:endParaRPr lang="en-US" sz="2700" dirty="0"/>
          </a:p>
        </p:txBody>
      </p:sp>
      <p:sp>
        <p:nvSpPr>
          <p:cNvPr id="9" name="Shape 7"/>
          <p:cNvSpPr/>
          <p:nvPr/>
        </p:nvSpPr>
        <p:spPr>
          <a:xfrm>
            <a:off x="6537960" y="1737360"/>
            <a:ext cx="4983480" cy="768096"/>
          </a:xfrm>
          <a:prstGeom prst="roundRect">
            <a:avLst>
              <a:gd name="adj" fmla="val 1666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0" name="Text 8"/>
          <p:cNvSpPr/>
          <p:nvPr/>
        </p:nvSpPr>
        <p:spPr>
          <a:xfrm>
            <a:off x="6775704" y="1828800"/>
            <a:ext cx="548640" cy="585216"/>
          </a:xfrm>
          <a:prstGeom prst="rect">
            <a:avLst/>
          </a:prstGeom>
          <a:noFill/>
          <a:ln/>
        </p:spPr>
        <p:txBody>
          <a:bodyPr wrap="square" lIns="0" tIns="0" rIns="0" bIns="0" rtlCol="0" anchor="ctr"/>
          <a:lstStyle/>
          <a:p>
            <a:pPr indent="0" marL="0">
              <a:buNone/>
            </a:pPr>
            <a:r>
              <a:rPr lang="en-US" sz="2200" b="1" dirty="0">
                <a:solidFill>
                  <a:srgbClr val="0054F0"/>
                </a:solidFill>
                <a:latin typeface="Arial" pitchFamily="34" charset="0"/>
                <a:ea typeface="Arial" pitchFamily="34" charset="-122"/>
                <a:cs typeface="Arial" pitchFamily="34" charset="-120"/>
              </a:rPr>
              <a:t>01</a:t>
            </a:r>
            <a:endParaRPr lang="en-US" sz="2200" dirty="0"/>
          </a:p>
        </p:txBody>
      </p:sp>
      <p:sp>
        <p:nvSpPr>
          <p:cNvPr id="11" name="Text 9"/>
          <p:cNvSpPr/>
          <p:nvPr/>
        </p:nvSpPr>
        <p:spPr>
          <a:xfrm>
            <a:off x="7406640" y="1828800"/>
            <a:ext cx="2377440" cy="310896"/>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Kickoff</a:t>
            </a:r>
            <a:endParaRPr lang="en-US" sz="1400" dirty="0"/>
          </a:p>
        </p:txBody>
      </p:sp>
      <p:sp>
        <p:nvSpPr>
          <p:cNvPr id="12" name="Text 10"/>
          <p:cNvSpPr/>
          <p:nvPr/>
        </p:nvSpPr>
        <p:spPr>
          <a:xfrm>
            <a:off x="7406640" y="2139696"/>
            <a:ext cx="2926080" cy="274320"/>
          </a:xfrm>
          <a:prstGeom prst="rect">
            <a:avLst/>
          </a:prstGeom>
          <a:noFill/>
          <a:ln/>
        </p:spPr>
        <p:txBody>
          <a:bodyPr wrap="square" lIns="0" tIns="0" rIns="0" bIns="0" rtlCol="0" anchor="ctr"/>
          <a:lstStyle/>
          <a:p>
            <a:pPr indent="0" marL="0">
              <a:buNone/>
            </a:pPr>
            <a:r>
              <a:rPr lang="en-US" sz="1100" dirty="0">
                <a:solidFill>
                  <a:srgbClr val="7A6B60"/>
                </a:solidFill>
                <a:latin typeface="Arial" pitchFamily="34" charset="0"/>
                <a:ea typeface="Arial" pitchFamily="34" charset="-122"/>
                <a:cs typeface="Arial" pitchFamily="34" charset="-120"/>
              </a:rPr>
              <a:t>Case, objectives, teams</a:t>
            </a:r>
            <a:endParaRPr lang="en-US" sz="1100" dirty="0"/>
          </a:p>
        </p:txBody>
      </p:sp>
      <p:sp>
        <p:nvSpPr>
          <p:cNvPr id="13" name="Text 11"/>
          <p:cNvSpPr/>
          <p:nvPr/>
        </p:nvSpPr>
        <p:spPr>
          <a:xfrm>
            <a:off x="10469880" y="1828800"/>
            <a:ext cx="777240" cy="585216"/>
          </a:xfrm>
          <a:prstGeom prst="rect">
            <a:avLst/>
          </a:prstGeom>
          <a:noFill/>
          <a:ln/>
        </p:spPr>
        <p:txBody>
          <a:bodyPr wrap="square" lIns="0" tIns="0" rIns="0" bIns="0" rtlCol="0" anchor="ctr"/>
          <a:lstStyle/>
          <a:p>
            <a:pPr algn="r" indent="0" marL="0">
              <a:buNone/>
            </a:pPr>
            <a:r>
              <a:rPr lang="en-US" sz="1150" b="1" dirty="0">
                <a:solidFill>
                  <a:srgbClr val="7A6B60"/>
                </a:solidFill>
                <a:latin typeface="Arial" pitchFamily="34" charset="0"/>
                <a:ea typeface="Arial" pitchFamily="34" charset="-122"/>
                <a:cs typeface="Arial" pitchFamily="34" charset="-120"/>
              </a:rPr>
              <a:t>15 min</a:t>
            </a:r>
            <a:endParaRPr lang="en-US" sz="1150" dirty="0"/>
          </a:p>
        </p:txBody>
      </p:sp>
      <p:sp>
        <p:nvSpPr>
          <p:cNvPr id="14" name="Shape 12"/>
          <p:cNvSpPr/>
          <p:nvPr/>
        </p:nvSpPr>
        <p:spPr>
          <a:xfrm>
            <a:off x="6537960" y="2633472"/>
            <a:ext cx="4983480" cy="768096"/>
          </a:xfrm>
          <a:prstGeom prst="roundRect">
            <a:avLst>
              <a:gd name="adj" fmla="val 1666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5" name="Text 13"/>
          <p:cNvSpPr/>
          <p:nvPr/>
        </p:nvSpPr>
        <p:spPr>
          <a:xfrm>
            <a:off x="6775704" y="2724912"/>
            <a:ext cx="548640" cy="585216"/>
          </a:xfrm>
          <a:prstGeom prst="rect">
            <a:avLst/>
          </a:prstGeom>
          <a:noFill/>
          <a:ln/>
        </p:spPr>
        <p:txBody>
          <a:bodyPr wrap="square" lIns="0" tIns="0" rIns="0" bIns="0" rtlCol="0" anchor="ctr"/>
          <a:lstStyle/>
          <a:p>
            <a:pPr indent="0" marL="0">
              <a:buNone/>
            </a:pPr>
            <a:r>
              <a:rPr lang="en-US" sz="2200" b="1" dirty="0">
                <a:solidFill>
                  <a:srgbClr val="0054F0"/>
                </a:solidFill>
                <a:latin typeface="Arial" pitchFamily="34" charset="0"/>
                <a:ea typeface="Arial" pitchFamily="34" charset="-122"/>
                <a:cs typeface="Arial" pitchFamily="34" charset="-120"/>
              </a:rPr>
              <a:t>02</a:t>
            </a:r>
            <a:endParaRPr lang="en-US" sz="2200" dirty="0"/>
          </a:p>
        </p:txBody>
      </p:sp>
      <p:sp>
        <p:nvSpPr>
          <p:cNvPr id="16" name="Text 14"/>
          <p:cNvSpPr/>
          <p:nvPr/>
        </p:nvSpPr>
        <p:spPr>
          <a:xfrm>
            <a:off x="7406640" y="2724912"/>
            <a:ext cx="2377440" cy="310896"/>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Baseline</a:t>
            </a:r>
            <a:endParaRPr lang="en-US" sz="1400" dirty="0"/>
          </a:p>
        </p:txBody>
      </p:sp>
      <p:sp>
        <p:nvSpPr>
          <p:cNvPr id="17" name="Text 15"/>
          <p:cNvSpPr/>
          <p:nvPr/>
        </p:nvSpPr>
        <p:spPr>
          <a:xfrm>
            <a:off x="7406640" y="3035808"/>
            <a:ext cx="2926080" cy="274320"/>
          </a:xfrm>
          <a:prstGeom prst="rect">
            <a:avLst/>
          </a:prstGeom>
          <a:noFill/>
          <a:ln/>
        </p:spPr>
        <p:txBody>
          <a:bodyPr wrap="square" lIns="0" tIns="0" rIns="0" bIns="0" rtlCol="0" anchor="ctr"/>
          <a:lstStyle/>
          <a:p>
            <a:pPr indent="0" marL="0">
              <a:buNone/>
            </a:pPr>
            <a:r>
              <a:rPr lang="en-US" sz="1100" dirty="0">
                <a:solidFill>
                  <a:srgbClr val="7A6B60"/>
                </a:solidFill>
                <a:latin typeface="Arial" pitchFamily="34" charset="0"/>
                <a:ea typeface="Arial" pitchFamily="34" charset="-122"/>
                <a:cs typeface="Arial" pitchFamily="34" charset="-120"/>
              </a:rPr>
              <a:t>Run V1, diagnose the waste</a:t>
            </a:r>
            <a:endParaRPr lang="en-US" sz="1100" dirty="0"/>
          </a:p>
        </p:txBody>
      </p:sp>
      <p:sp>
        <p:nvSpPr>
          <p:cNvPr id="18" name="Text 16"/>
          <p:cNvSpPr/>
          <p:nvPr/>
        </p:nvSpPr>
        <p:spPr>
          <a:xfrm>
            <a:off x="10469880" y="2724912"/>
            <a:ext cx="777240" cy="585216"/>
          </a:xfrm>
          <a:prstGeom prst="rect">
            <a:avLst/>
          </a:prstGeom>
          <a:noFill/>
          <a:ln/>
        </p:spPr>
        <p:txBody>
          <a:bodyPr wrap="square" lIns="0" tIns="0" rIns="0" bIns="0" rtlCol="0" anchor="ctr"/>
          <a:lstStyle/>
          <a:p>
            <a:pPr algn="r" indent="0" marL="0">
              <a:buNone/>
            </a:pPr>
            <a:r>
              <a:rPr lang="en-US" sz="1150" b="1" dirty="0">
                <a:solidFill>
                  <a:srgbClr val="7A6B60"/>
                </a:solidFill>
                <a:latin typeface="Arial" pitchFamily="34" charset="0"/>
                <a:ea typeface="Arial" pitchFamily="34" charset="-122"/>
                <a:cs typeface="Arial" pitchFamily="34" charset="-120"/>
              </a:rPr>
              <a:t>20 min</a:t>
            </a:r>
            <a:endParaRPr lang="en-US" sz="1150" dirty="0"/>
          </a:p>
        </p:txBody>
      </p:sp>
      <p:sp>
        <p:nvSpPr>
          <p:cNvPr id="19" name="Shape 17"/>
          <p:cNvSpPr/>
          <p:nvPr/>
        </p:nvSpPr>
        <p:spPr>
          <a:xfrm>
            <a:off x="6537960" y="3529584"/>
            <a:ext cx="4983480" cy="768096"/>
          </a:xfrm>
          <a:prstGeom prst="roundRect">
            <a:avLst>
              <a:gd name="adj" fmla="val 1666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20" name="Text 18"/>
          <p:cNvSpPr/>
          <p:nvPr/>
        </p:nvSpPr>
        <p:spPr>
          <a:xfrm>
            <a:off x="6775704" y="3621024"/>
            <a:ext cx="548640" cy="585216"/>
          </a:xfrm>
          <a:prstGeom prst="rect">
            <a:avLst/>
          </a:prstGeom>
          <a:noFill/>
          <a:ln/>
        </p:spPr>
        <p:txBody>
          <a:bodyPr wrap="square" lIns="0" tIns="0" rIns="0" bIns="0" rtlCol="0" anchor="ctr"/>
          <a:lstStyle/>
          <a:p>
            <a:pPr indent="0" marL="0">
              <a:buNone/>
            </a:pPr>
            <a:r>
              <a:rPr lang="en-US" sz="2200" b="1" dirty="0">
                <a:solidFill>
                  <a:srgbClr val="0054F0"/>
                </a:solidFill>
                <a:latin typeface="Arial" pitchFamily="34" charset="0"/>
                <a:ea typeface="Arial" pitchFamily="34" charset="-122"/>
                <a:cs typeface="Arial" pitchFamily="34" charset="-120"/>
              </a:rPr>
              <a:t>03</a:t>
            </a:r>
            <a:endParaRPr lang="en-US" sz="2200" dirty="0"/>
          </a:p>
        </p:txBody>
      </p:sp>
      <p:sp>
        <p:nvSpPr>
          <p:cNvPr id="21" name="Text 19"/>
          <p:cNvSpPr/>
          <p:nvPr/>
        </p:nvSpPr>
        <p:spPr>
          <a:xfrm>
            <a:off x="7406640" y="3621024"/>
            <a:ext cx="2377440" cy="310896"/>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Optimization</a:t>
            </a:r>
            <a:endParaRPr lang="en-US" sz="1400" dirty="0"/>
          </a:p>
        </p:txBody>
      </p:sp>
      <p:sp>
        <p:nvSpPr>
          <p:cNvPr id="22" name="Text 20"/>
          <p:cNvSpPr/>
          <p:nvPr/>
        </p:nvSpPr>
        <p:spPr>
          <a:xfrm>
            <a:off x="7406640" y="3931920"/>
            <a:ext cx="2926080" cy="274320"/>
          </a:xfrm>
          <a:prstGeom prst="rect">
            <a:avLst/>
          </a:prstGeom>
          <a:noFill/>
          <a:ln/>
        </p:spPr>
        <p:txBody>
          <a:bodyPr wrap="square" lIns="0" tIns="0" rIns="0" bIns="0" rtlCol="0" anchor="ctr"/>
          <a:lstStyle/>
          <a:p>
            <a:pPr indent="0" marL="0">
              <a:buNone/>
            </a:pPr>
            <a:r>
              <a:rPr lang="en-US" sz="1100" dirty="0">
                <a:solidFill>
                  <a:srgbClr val="7A6B60"/>
                </a:solidFill>
                <a:latin typeface="Arial" pitchFamily="34" charset="0"/>
                <a:ea typeface="Arial" pitchFamily="34" charset="-122"/>
                <a:cs typeface="Arial" pitchFamily="34" charset="-120"/>
              </a:rPr>
              <a:t>Build V2 and V3</a:t>
            </a:r>
            <a:endParaRPr lang="en-US" sz="1100" dirty="0"/>
          </a:p>
        </p:txBody>
      </p:sp>
      <p:sp>
        <p:nvSpPr>
          <p:cNvPr id="23" name="Text 21"/>
          <p:cNvSpPr/>
          <p:nvPr/>
        </p:nvSpPr>
        <p:spPr>
          <a:xfrm>
            <a:off x="10469880" y="3621024"/>
            <a:ext cx="777240" cy="585216"/>
          </a:xfrm>
          <a:prstGeom prst="rect">
            <a:avLst/>
          </a:prstGeom>
          <a:noFill/>
          <a:ln/>
        </p:spPr>
        <p:txBody>
          <a:bodyPr wrap="square" lIns="0" tIns="0" rIns="0" bIns="0" rtlCol="0" anchor="ctr"/>
          <a:lstStyle/>
          <a:p>
            <a:pPr algn="r" indent="0" marL="0">
              <a:buNone/>
            </a:pPr>
            <a:r>
              <a:rPr lang="en-US" sz="1150" b="1" dirty="0">
                <a:solidFill>
                  <a:srgbClr val="7A6B60"/>
                </a:solidFill>
                <a:latin typeface="Arial" pitchFamily="34" charset="0"/>
                <a:ea typeface="Arial" pitchFamily="34" charset="-122"/>
                <a:cs typeface="Arial" pitchFamily="34" charset="-120"/>
              </a:rPr>
              <a:t>45 min</a:t>
            </a:r>
            <a:endParaRPr lang="en-US" sz="1150" dirty="0"/>
          </a:p>
        </p:txBody>
      </p:sp>
      <p:sp>
        <p:nvSpPr>
          <p:cNvPr id="24" name="Shape 22"/>
          <p:cNvSpPr/>
          <p:nvPr/>
        </p:nvSpPr>
        <p:spPr>
          <a:xfrm>
            <a:off x="6537960" y="4425696"/>
            <a:ext cx="4983480" cy="768096"/>
          </a:xfrm>
          <a:prstGeom prst="roundRect">
            <a:avLst>
              <a:gd name="adj" fmla="val 1666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25" name="Text 23"/>
          <p:cNvSpPr/>
          <p:nvPr/>
        </p:nvSpPr>
        <p:spPr>
          <a:xfrm>
            <a:off x="6775704" y="4517136"/>
            <a:ext cx="548640" cy="585216"/>
          </a:xfrm>
          <a:prstGeom prst="rect">
            <a:avLst/>
          </a:prstGeom>
          <a:noFill/>
          <a:ln/>
        </p:spPr>
        <p:txBody>
          <a:bodyPr wrap="square" lIns="0" tIns="0" rIns="0" bIns="0" rtlCol="0" anchor="ctr"/>
          <a:lstStyle/>
          <a:p>
            <a:pPr indent="0" marL="0">
              <a:buNone/>
            </a:pPr>
            <a:r>
              <a:rPr lang="en-US" sz="2200" b="1" dirty="0">
                <a:solidFill>
                  <a:srgbClr val="0054F0"/>
                </a:solidFill>
                <a:latin typeface="Arial" pitchFamily="34" charset="0"/>
                <a:ea typeface="Arial" pitchFamily="34" charset="-122"/>
                <a:cs typeface="Arial" pitchFamily="34" charset="-120"/>
              </a:rPr>
              <a:t>04</a:t>
            </a:r>
            <a:endParaRPr lang="en-US" sz="2200" dirty="0"/>
          </a:p>
        </p:txBody>
      </p:sp>
      <p:sp>
        <p:nvSpPr>
          <p:cNvPr id="26" name="Text 24"/>
          <p:cNvSpPr/>
          <p:nvPr/>
        </p:nvSpPr>
        <p:spPr>
          <a:xfrm>
            <a:off x="7406640" y="4517136"/>
            <a:ext cx="2377440" cy="310896"/>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Routing &amp; quality</a:t>
            </a:r>
            <a:endParaRPr lang="en-US" sz="1400" dirty="0"/>
          </a:p>
        </p:txBody>
      </p:sp>
      <p:sp>
        <p:nvSpPr>
          <p:cNvPr id="27" name="Text 25"/>
          <p:cNvSpPr/>
          <p:nvPr/>
        </p:nvSpPr>
        <p:spPr>
          <a:xfrm>
            <a:off x="7406640" y="4828032"/>
            <a:ext cx="2926080" cy="274320"/>
          </a:xfrm>
          <a:prstGeom prst="rect">
            <a:avLst/>
          </a:prstGeom>
          <a:noFill/>
          <a:ln/>
        </p:spPr>
        <p:txBody>
          <a:bodyPr wrap="square" lIns="0" tIns="0" rIns="0" bIns="0" rtlCol="0" anchor="ctr"/>
          <a:lstStyle/>
          <a:p>
            <a:pPr indent="0" marL="0">
              <a:buNone/>
            </a:pPr>
            <a:r>
              <a:rPr lang="en-US" sz="1100" dirty="0">
                <a:solidFill>
                  <a:srgbClr val="7A6B60"/>
                </a:solidFill>
                <a:latin typeface="Arial" pitchFamily="34" charset="0"/>
                <a:ea typeface="Arial" pitchFamily="34" charset="-122"/>
                <a:cs typeface="Arial" pitchFamily="34" charset="-120"/>
              </a:rPr>
              <a:t>Build V4, run the gate</a:t>
            </a:r>
            <a:endParaRPr lang="en-US" sz="1100" dirty="0"/>
          </a:p>
        </p:txBody>
      </p:sp>
      <p:sp>
        <p:nvSpPr>
          <p:cNvPr id="28" name="Text 26"/>
          <p:cNvSpPr/>
          <p:nvPr/>
        </p:nvSpPr>
        <p:spPr>
          <a:xfrm>
            <a:off x="10469880" y="4517136"/>
            <a:ext cx="777240" cy="585216"/>
          </a:xfrm>
          <a:prstGeom prst="rect">
            <a:avLst/>
          </a:prstGeom>
          <a:noFill/>
          <a:ln/>
        </p:spPr>
        <p:txBody>
          <a:bodyPr wrap="square" lIns="0" tIns="0" rIns="0" bIns="0" rtlCol="0" anchor="ctr"/>
          <a:lstStyle/>
          <a:p>
            <a:pPr algn="r" indent="0" marL="0">
              <a:buNone/>
            </a:pPr>
            <a:r>
              <a:rPr lang="en-US" sz="1150" b="1" dirty="0">
                <a:solidFill>
                  <a:srgbClr val="7A6B60"/>
                </a:solidFill>
                <a:latin typeface="Arial" pitchFamily="34" charset="0"/>
                <a:ea typeface="Arial" pitchFamily="34" charset="-122"/>
                <a:cs typeface="Arial" pitchFamily="34" charset="-120"/>
              </a:rPr>
              <a:t>30 min</a:t>
            </a:r>
            <a:endParaRPr lang="en-US" sz="1150" dirty="0"/>
          </a:p>
        </p:txBody>
      </p:sp>
      <p:sp>
        <p:nvSpPr>
          <p:cNvPr id="29" name="Shape 27"/>
          <p:cNvSpPr/>
          <p:nvPr/>
        </p:nvSpPr>
        <p:spPr>
          <a:xfrm>
            <a:off x="6537960" y="5321808"/>
            <a:ext cx="4983480" cy="768096"/>
          </a:xfrm>
          <a:prstGeom prst="roundRect">
            <a:avLst>
              <a:gd name="adj" fmla="val 1666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30" name="Text 28"/>
          <p:cNvSpPr/>
          <p:nvPr/>
        </p:nvSpPr>
        <p:spPr>
          <a:xfrm>
            <a:off x="6775704" y="5413248"/>
            <a:ext cx="548640" cy="585216"/>
          </a:xfrm>
          <a:prstGeom prst="rect">
            <a:avLst/>
          </a:prstGeom>
          <a:noFill/>
          <a:ln/>
        </p:spPr>
        <p:txBody>
          <a:bodyPr wrap="square" lIns="0" tIns="0" rIns="0" bIns="0" rtlCol="0" anchor="ctr"/>
          <a:lstStyle/>
          <a:p>
            <a:pPr indent="0" marL="0">
              <a:buNone/>
            </a:pPr>
            <a:r>
              <a:rPr lang="en-US" sz="2200" b="1" dirty="0">
                <a:solidFill>
                  <a:srgbClr val="0054F0"/>
                </a:solidFill>
                <a:latin typeface="Arial" pitchFamily="34" charset="0"/>
                <a:ea typeface="Arial" pitchFamily="34" charset="-122"/>
                <a:cs typeface="Arial" pitchFamily="34" charset="-120"/>
              </a:rPr>
              <a:t>05</a:t>
            </a:r>
            <a:endParaRPr lang="en-US" sz="2200" dirty="0"/>
          </a:p>
        </p:txBody>
      </p:sp>
      <p:sp>
        <p:nvSpPr>
          <p:cNvPr id="31" name="Text 29"/>
          <p:cNvSpPr/>
          <p:nvPr/>
        </p:nvSpPr>
        <p:spPr>
          <a:xfrm>
            <a:off x="7406640" y="5413248"/>
            <a:ext cx="2377440" cy="310896"/>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Leaderboard</a:t>
            </a:r>
            <a:endParaRPr lang="en-US" sz="1400" dirty="0"/>
          </a:p>
        </p:txBody>
      </p:sp>
      <p:sp>
        <p:nvSpPr>
          <p:cNvPr id="32" name="Text 30"/>
          <p:cNvSpPr/>
          <p:nvPr/>
        </p:nvSpPr>
        <p:spPr>
          <a:xfrm>
            <a:off x="7406640" y="5724144"/>
            <a:ext cx="2926080" cy="274320"/>
          </a:xfrm>
          <a:prstGeom prst="rect">
            <a:avLst/>
          </a:prstGeom>
          <a:noFill/>
          <a:ln/>
        </p:spPr>
        <p:txBody>
          <a:bodyPr wrap="square" lIns="0" tIns="0" rIns="0" bIns="0" rtlCol="0" anchor="ctr"/>
          <a:lstStyle/>
          <a:p>
            <a:pPr indent="0" marL="0">
              <a:buNone/>
            </a:pPr>
            <a:r>
              <a:rPr lang="en-US" sz="1100" dirty="0">
                <a:solidFill>
                  <a:srgbClr val="7A6B60"/>
                </a:solidFill>
                <a:latin typeface="Arial" pitchFamily="34" charset="0"/>
                <a:ea typeface="Arial" pitchFamily="34" charset="-122"/>
                <a:cs typeface="Arial" pitchFamily="34" charset="-120"/>
              </a:rPr>
              <a:t>Score, rank, retro</a:t>
            </a:r>
            <a:endParaRPr lang="en-US" sz="1100" dirty="0"/>
          </a:p>
        </p:txBody>
      </p:sp>
      <p:sp>
        <p:nvSpPr>
          <p:cNvPr id="33" name="Text 31"/>
          <p:cNvSpPr/>
          <p:nvPr/>
        </p:nvSpPr>
        <p:spPr>
          <a:xfrm>
            <a:off x="10469880" y="5413248"/>
            <a:ext cx="777240" cy="585216"/>
          </a:xfrm>
          <a:prstGeom prst="rect">
            <a:avLst/>
          </a:prstGeom>
          <a:noFill/>
          <a:ln/>
        </p:spPr>
        <p:txBody>
          <a:bodyPr wrap="square" lIns="0" tIns="0" rIns="0" bIns="0" rtlCol="0" anchor="ctr"/>
          <a:lstStyle/>
          <a:p>
            <a:pPr algn="r" indent="0" marL="0">
              <a:buNone/>
            </a:pPr>
            <a:r>
              <a:rPr lang="en-US" sz="1150" b="1" dirty="0">
                <a:solidFill>
                  <a:srgbClr val="7A6B60"/>
                </a:solidFill>
                <a:latin typeface="Arial" pitchFamily="34" charset="0"/>
                <a:ea typeface="Arial" pitchFamily="34" charset="-122"/>
                <a:cs typeface="Arial" pitchFamily="34" charset="-120"/>
              </a:rPr>
              <a:t>10 min</a:t>
            </a:r>
            <a:endParaRPr lang="en-US" sz="1150" dirty="0"/>
          </a:p>
        </p:txBody>
      </p:sp>
      <p:sp>
        <p:nvSpPr>
          <p:cNvPr id="34" name="Text 32"/>
          <p:cNvSpPr/>
          <p:nvPr/>
        </p:nvSpPr>
        <p:spPr>
          <a:xfrm>
            <a:off x="640080" y="6080760"/>
            <a:ext cx="5486400" cy="457200"/>
          </a:xfrm>
          <a:prstGeom prst="rect">
            <a:avLst/>
          </a:prstGeom>
          <a:noFill/>
          <a:ln/>
        </p:spPr>
        <p:txBody>
          <a:bodyPr wrap="square" lIns="0" tIns="0" rIns="0" bIns="0" rtlCol="0" anchor="ctr"/>
          <a:lstStyle/>
          <a:p>
            <a:pPr indent="0" marL="0">
              <a:buNone/>
            </a:pPr>
            <a:r>
              <a:rPr lang="en-US" sz="1300" i="1" dirty="0">
                <a:solidFill>
                  <a:srgbClr val="7A6B60"/>
                </a:solidFill>
                <a:latin typeface="Arial" pitchFamily="34" charset="0"/>
                <a:ea typeface="Arial" pitchFamily="34" charset="-122"/>
                <a:cs typeface="Arial" pitchFamily="34" charset="-120"/>
              </a:rPr>
              <a:t>Phases 2 to 4 are the workshop. Phases 1 and 5 are the bookends.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0D9"/>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3</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WHAT YOU WALK OUT WITH</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Five skills, each one measurable today</a:t>
            </a:r>
            <a:endParaRPr lang="en-US" sz="3600" dirty="0"/>
          </a:p>
        </p:txBody>
      </p:sp>
      <p:sp>
        <p:nvSpPr>
          <p:cNvPr id="5" name="Shape 3"/>
          <p:cNvSpPr/>
          <p:nvPr/>
        </p:nvSpPr>
        <p:spPr>
          <a:xfrm>
            <a:off x="284836" y="2011680"/>
            <a:ext cx="2148840" cy="3200400"/>
          </a:xfrm>
          <a:prstGeom prst="roundRect">
            <a:avLst>
              <a:gd name="adj" fmla="val 595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6" name="Shape 4"/>
          <p:cNvSpPr/>
          <p:nvPr/>
        </p:nvSpPr>
        <p:spPr>
          <a:xfrm>
            <a:off x="1048360" y="2331720"/>
            <a:ext cx="621792" cy="621792"/>
          </a:xfrm>
          <a:prstGeom prst="ellipse">
            <a:avLst/>
          </a:prstGeom>
          <a:solidFill>
            <a:srgbClr val="0054F0"/>
          </a:solidFill>
          <a:ln/>
        </p:spPr>
      </p:sp>
      <p:pic>
        <p:nvPicPr>
          <p:cNvPr id="7" name="Image 0" descr="/home/claude/assets/ic_layers_pampas.png">    </p:cNvPr>
          <p:cNvPicPr>
            <a:picLocks noChangeAspect="1"/>
          </p:cNvPicPr>
          <p:nvPr/>
        </p:nvPicPr>
        <p:blipFill>
          <a:blip r:embed="rId1"/>
          <a:stretch>
            <a:fillRect/>
          </a:stretch>
        </p:blipFill>
        <p:spPr>
          <a:xfrm>
            <a:off x="1210026" y="2493386"/>
            <a:ext cx="298460" cy="298460"/>
          </a:xfrm>
          <a:prstGeom prst="rect">
            <a:avLst/>
          </a:prstGeom>
        </p:spPr>
      </p:pic>
      <p:sp>
        <p:nvSpPr>
          <p:cNvPr id="8" name="Text 5"/>
          <p:cNvSpPr/>
          <p:nvPr/>
        </p:nvSpPr>
        <p:spPr>
          <a:xfrm>
            <a:off x="449428" y="3127248"/>
            <a:ext cx="1819656" cy="566928"/>
          </a:xfrm>
          <a:prstGeom prst="rect">
            <a:avLst/>
          </a:prstGeom>
          <a:noFill/>
          <a:ln/>
        </p:spPr>
        <p:txBody>
          <a:bodyPr wrap="square" lIns="0" tIns="0" rIns="0" bIns="0" rtlCol="0" anchor="ctr"/>
          <a:lstStyle/>
          <a:p>
            <a:pPr algn="ctr" indent="0" marL="0">
              <a:lnSpc>
                <a:spcPts val="1800"/>
              </a:lnSpc>
              <a:buNone/>
            </a:pPr>
            <a:r>
              <a:rPr lang="en-US" sz="1450" b="1" dirty="0">
                <a:solidFill>
                  <a:srgbClr val="331E11"/>
                </a:solidFill>
                <a:latin typeface="Arial" pitchFamily="34" charset="0"/>
                <a:ea typeface="Arial" pitchFamily="34" charset="-122"/>
                <a:cs typeface="Arial" pitchFamily="34" charset="-120"/>
              </a:rPr>
              <a:t>Skills design</a:t>
            </a:r>
            <a:endParaRPr lang="en-US" sz="1450" dirty="0"/>
          </a:p>
        </p:txBody>
      </p:sp>
      <p:sp>
        <p:nvSpPr>
          <p:cNvPr id="9" name="Text 6"/>
          <p:cNvSpPr/>
          <p:nvPr/>
        </p:nvSpPr>
        <p:spPr>
          <a:xfrm>
            <a:off x="486004" y="3749040"/>
            <a:ext cx="1746504" cy="1280160"/>
          </a:xfrm>
          <a:prstGeom prst="rect">
            <a:avLst/>
          </a:prstGeom>
          <a:noFill/>
          <a:ln/>
        </p:spPr>
        <p:txBody>
          <a:bodyPr wrap="square" lIns="0" tIns="0" rIns="0" bIns="0" rtlCol="0" anchor="ctr"/>
          <a:lstStyle/>
          <a:p>
            <a:pPr algn="ctr" indent="0" marL="0">
              <a:lnSpc>
                <a:spcPts val="1400"/>
              </a:lnSpc>
              <a:buNone/>
            </a:pPr>
            <a:r>
              <a:rPr lang="en-US" sz="1100" dirty="0">
                <a:solidFill>
                  <a:srgbClr val="7A6B60"/>
                </a:solidFill>
                <a:latin typeface="Arial" pitchFamily="34" charset="0"/>
                <a:ea typeface="Arial" pitchFamily="34" charset="-122"/>
                <a:cs typeface="Arial" pitchFamily="34" charset="-120"/>
              </a:rPr>
              <a:t>Scaffold a reusable skill instead of re-explaining the procedure every run.</a:t>
            </a:r>
            <a:endParaRPr lang="en-US" sz="1100" dirty="0"/>
          </a:p>
        </p:txBody>
      </p:sp>
      <p:sp>
        <p:nvSpPr>
          <p:cNvPr id="10" name="Shape 7"/>
          <p:cNvSpPr/>
          <p:nvPr/>
        </p:nvSpPr>
        <p:spPr>
          <a:xfrm>
            <a:off x="2653132" y="2011680"/>
            <a:ext cx="2148840" cy="3200400"/>
          </a:xfrm>
          <a:prstGeom prst="roundRect">
            <a:avLst>
              <a:gd name="adj" fmla="val 595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1" name="Shape 8"/>
          <p:cNvSpPr/>
          <p:nvPr/>
        </p:nvSpPr>
        <p:spPr>
          <a:xfrm>
            <a:off x="3416656" y="2331720"/>
            <a:ext cx="621792" cy="621792"/>
          </a:xfrm>
          <a:prstGeom prst="ellipse">
            <a:avLst/>
          </a:prstGeom>
          <a:solidFill>
            <a:srgbClr val="0054F0"/>
          </a:solidFill>
          <a:ln/>
        </p:spPr>
      </p:sp>
      <p:pic>
        <p:nvPicPr>
          <p:cNvPr id="12" name="Image 1" descr="/home/claude/assets/ic_filter_pampas.png">    </p:cNvPr>
          <p:cNvPicPr>
            <a:picLocks noChangeAspect="1"/>
          </p:cNvPicPr>
          <p:nvPr/>
        </p:nvPicPr>
        <p:blipFill>
          <a:blip r:embed="rId2"/>
          <a:stretch>
            <a:fillRect/>
          </a:stretch>
        </p:blipFill>
        <p:spPr>
          <a:xfrm>
            <a:off x="3578322" y="2493386"/>
            <a:ext cx="298460" cy="298460"/>
          </a:xfrm>
          <a:prstGeom prst="rect">
            <a:avLst/>
          </a:prstGeom>
        </p:spPr>
      </p:pic>
      <p:sp>
        <p:nvSpPr>
          <p:cNvPr id="13" name="Text 9"/>
          <p:cNvSpPr/>
          <p:nvPr/>
        </p:nvSpPr>
        <p:spPr>
          <a:xfrm>
            <a:off x="2817724" y="3127248"/>
            <a:ext cx="1819656" cy="566928"/>
          </a:xfrm>
          <a:prstGeom prst="rect">
            <a:avLst/>
          </a:prstGeom>
          <a:noFill/>
          <a:ln/>
        </p:spPr>
        <p:txBody>
          <a:bodyPr wrap="square" lIns="0" tIns="0" rIns="0" bIns="0" rtlCol="0" anchor="ctr"/>
          <a:lstStyle/>
          <a:p>
            <a:pPr algn="ctr" indent="0" marL="0">
              <a:lnSpc>
                <a:spcPts val="1800"/>
              </a:lnSpc>
              <a:buNone/>
            </a:pPr>
            <a:r>
              <a:rPr lang="en-US" sz="1450" b="1" dirty="0">
                <a:solidFill>
                  <a:srgbClr val="331E11"/>
                </a:solidFill>
                <a:latin typeface="Arial" pitchFamily="34" charset="0"/>
                <a:ea typeface="Arial" pitchFamily="34" charset="-122"/>
                <a:cs typeface="Arial" pitchFamily="34" charset="-120"/>
              </a:rPr>
              <a:t>Context engineering</a:t>
            </a:r>
            <a:endParaRPr lang="en-US" sz="1450" dirty="0"/>
          </a:p>
        </p:txBody>
      </p:sp>
      <p:sp>
        <p:nvSpPr>
          <p:cNvPr id="14" name="Text 10"/>
          <p:cNvSpPr/>
          <p:nvPr/>
        </p:nvSpPr>
        <p:spPr>
          <a:xfrm>
            <a:off x="2854300" y="3749040"/>
            <a:ext cx="1746504" cy="1280160"/>
          </a:xfrm>
          <a:prstGeom prst="rect">
            <a:avLst/>
          </a:prstGeom>
          <a:noFill/>
          <a:ln/>
        </p:spPr>
        <p:txBody>
          <a:bodyPr wrap="square" lIns="0" tIns="0" rIns="0" bIns="0" rtlCol="0" anchor="ctr"/>
          <a:lstStyle/>
          <a:p>
            <a:pPr algn="ctr" indent="0" marL="0">
              <a:lnSpc>
                <a:spcPts val="1400"/>
              </a:lnSpc>
              <a:buNone/>
            </a:pPr>
            <a:r>
              <a:rPr lang="en-US" sz="1100" dirty="0">
                <a:solidFill>
                  <a:srgbClr val="7A6B60"/>
                </a:solidFill>
                <a:latin typeface="Arial" pitchFamily="34" charset="0"/>
                <a:ea typeface="Arial" pitchFamily="34" charset="-122"/>
                <a:cs typeface="Arial" pitchFamily="34" charset="-120"/>
              </a:rPr>
              <a:t>Cut context roughly five times over without losing a correct decision.</a:t>
            </a:r>
            <a:endParaRPr lang="en-US" sz="1100" dirty="0"/>
          </a:p>
        </p:txBody>
      </p:sp>
      <p:sp>
        <p:nvSpPr>
          <p:cNvPr id="15" name="Shape 11"/>
          <p:cNvSpPr/>
          <p:nvPr/>
        </p:nvSpPr>
        <p:spPr>
          <a:xfrm>
            <a:off x="5021428" y="2011680"/>
            <a:ext cx="2148840" cy="3200400"/>
          </a:xfrm>
          <a:prstGeom prst="roundRect">
            <a:avLst>
              <a:gd name="adj" fmla="val 595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6" name="Shape 12"/>
          <p:cNvSpPr/>
          <p:nvPr/>
        </p:nvSpPr>
        <p:spPr>
          <a:xfrm>
            <a:off x="5784952" y="2331720"/>
            <a:ext cx="621792" cy="621792"/>
          </a:xfrm>
          <a:prstGeom prst="ellipse">
            <a:avLst/>
          </a:prstGeom>
          <a:solidFill>
            <a:srgbClr val="0054F0"/>
          </a:solidFill>
          <a:ln/>
        </p:spPr>
      </p:sp>
      <p:pic>
        <p:nvPicPr>
          <p:cNvPr id="17" name="Image 2" descr="/home/claude/assets/ic_split_pampas.png">    </p:cNvPr>
          <p:cNvPicPr>
            <a:picLocks noChangeAspect="1"/>
          </p:cNvPicPr>
          <p:nvPr/>
        </p:nvPicPr>
        <p:blipFill>
          <a:blip r:embed="rId3"/>
          <a:stretch>
            <a:fillRect/>
          </a:stretch>
        </p:blipFill>
        <p:spPr>
          <a:xfrm>
            <a:off x="5946618" y="2493386"/>
            <a:ext cx="298460" cy="298460"/>
          </a:xfrm>
          <a:prstGeom prst="rect">
            <a:avLst/>
          </a:prstGeom>
        </p:spPr>
      </p:pic>
      <p:sp>
        <p:nvSpPr>
          <p:cNvPr id="18" name="Text 13"/>
          <p:cNvSpPr/>
          <p:nvPr/>
        </p:nvSpPr>
        <p:spPr>
          <a:xfrm>
            <a:off x="5186020" y="3127248"/>
            <a:ext cx="1819656" cy="566928"/>
          </a:xfrm>
          <a:prstGeom prst="rect">
            <a:avLst/>
          </a:prstGeom>
          <a:noFill/>
          <a:ln/>
        </p:spPr>
        <p:txBody>
          <a:bodyPr wrap="square" lIns="0" tIns="0" rIns="0" bIns="0" rtlCol="0" anchor="ctr"/>
          <a:lstStyle/>
          <a:p>
            <a:pPr algn="ctr" indent="0" marL="0">
              <a:lnSpc>
                <a:spcPts val="1800"/>
              </a:lnSpc>
              <a:buNone/>
            </a:pPr>
            <a:r>
              <a:rPr lang="en-US" sz="1450" b="1" dirty="0">
                <a:solidFill>
                  <a:srgbClr val="331E11"/>
                </a:solidFill>
                <a:latin typeface="Arial" pitchFamily="34" charset="0"/>
                <a:ea typeface="Arial" pitchFamily="34" charset="-122"/>
                <a:cs typeface="Arial" pitchFamily="34" charset="-120"/>
              </a:rPr>
              <a:t>Handoff patterns</a:t>
            </a:r>
            <a:endParaRPr lang="en-US" sz="1450" dirty="0"/>
          </a:p>
        </p:txBody>
      </p:sp>
      <p:sp>
        <p:nvSpPr>
          <p:cNvPr id="19" name="Text 14"/>
          <p:cNvSpPr/>
          <p:nvPr/>
        </p:nvSpPr>
        <p:spPr>
          <a:xfrm>
            <a:off x="5222596" y="3749040"/>
            <a:ext cx="1746504" cy="1280160"/>
          </a:xfrm>
          <a:prstGeom prst="rect">
            <a:avLst/>
          </a:prstGeom>
          <a:noFill/>
          <a:ln/>
        </p:spPr>
        <p:txBody>
          <a:bodyPr wrap="square" lIns="0" tIns="0" rIns="0" bIns="0" rtlCol="0" anchor="ctr"/>
          <a:lstStyle/>
          <a:p>
            <a:pPr algn="ctr" indent="0" marL="0">
              <a:lnSpc>
                <a:spcPts val="1400"/>
              </a:lnSpc>
              <a:buNone/>
            </a:pPr>
            <a:r>
              <a:rPr lang="en-US" sz="1100" dirty="0">
                <a:solidFill>
                  <a:srgbClr val="7A6B60"/>
                </a:solidFill>
                <a:latin typeface="Arial" pitchFamily="34" charset="0"/>
                <a:ea typeface="Arial" pitchFamily="34" charset="-122"/>
                <a:cs typeface="Arial" pitchFamily="34" charset="-120"/>
              </a:rPr>
              <a:t>Pass typed facts between agents instead of dumping the whole conversation.</a:t>
            </a:r>
            <a:endParaRPr lang="en-US" sz="1100" dirty="0"/>
          </a:p>
        </p:txBody>
      </p:sp>
      <p:sp>
        <p:nvSpPr>
          <p:cNvPr id="20" name="Shape 15"/>
          <p:cNvSpPr/>
          <p:nvPr/>
        </p:nvSpPr>
        <p:spPr>
          <a:xfrm>
            <a:off x="7389724" y="2011680"/>
            <a:ext cx="2148840" cy="3200400"/>
          </a:xfrm>
          <a:prstGeom prst="roundRect">
            <a:avLst>
              <a:gd name="adj" fmla="val 595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21" name="Shape 16"/>
          <p:cNvSpPr/>
          <p:nvPr/>
        </p:nvSpPr>
        <p:spPr>
          <a:xfrm>
            <a:off x="8153248" y="2331720"/>
            <a:ext cx="621792" cy="621792"/>
          </a:xfrm>
          <a:prstGeom prst="ellipse">
            <a:avLst/>
          </a:prstGeom>
          <a:solidFill>
            <a:srgbClr val="0054F0"/>
          </a:solidFill>
          <a:ln/>
        </p:spPr>
      </p:sp>
      <p:pic>
        <p:nvPicPr>
          <p:cNvPr id="22" name="Image 3" descr="/home/claude/assets/ic_sliders_pampas.png">    </p:cNvPr>
          <p:cNvPicPr>
            <a:picLocks noChangeAspect="1"/>
          </p:cNvPicPr>
          <p:nvPr/>
        </p:nvPicPr>
        <p:blipFill>
          <a:blip r:embed="rId4"/>
          <a:stretch>
            <a:fillRect/>
          </a:stretch>
        </p:blipFill>
        <p:spPr>
          <a:xfrm>
            <a:off x="8314914" y="2493386"/>
            <a:ext cx="298460" cy="298460"/>
          </a:xfrm>
          <a:prstGeom prst="rect">
            <a:avLst/>
          </a:prstGeom>
        </p:spPr>
      </p:pic>
      <p:sp>
        <p:nvSpPr>
          <p:cNvPr id="23" name="Text 17"/>
          <p:cNvSpPr/>
          <p:nvPr/>
        </p:nvSpPr>
        <p:spPr>
          <a:xfrm>
            <a:off x="7554316" y="3127248"/>
            <a:ext cx="1819656" cy="566928"/>
          </a:xfrm>
          <a:prstGeom prst="rect">
            <a:avLst/>
          </a:prstGeom>
          <a:noFill/>
          <a:ln/>
        </p:spPr>
        <p:txBody>
          <a:bodyPr wrap="square" lIns="0" tIns="0" rIns="0" bIns="0" rtlCol="0" anchor="ctr"/>
          <a:lstStyle/>
          <a:p>
            <a:pPr algn="ctr" indent="0" marL="0">
              <a:lnSpc>
                <a:spcPts val="1800"/>
              </a:lnSpc>
              <a:buNone/>
            </a:pPr>
            <a:r>
              <a:rPr lang="en-US" sz="1450" b="1" dirty="0">
                <a:solidFill>
                  <a:srgbClr val="331E11"/>
                </a:solidFill>
                <a:latin typeface="Arial" pitchFamily="34" charset="0"/>
                <a:ea typeface="Arial" pitchFamily="34" charset="-122"/>
                <a:cs typeface="Arial" pitchFamily="34" charset="-120"/>
              </a:rPr>
              <a:t>Model routing</a:t>
            </a:r>
            <a:endParaRPr lang="en-US" sz="1450" dirty="0"/>
          </a:p>
        </p:txBody>
      </p:sp>
      <p:sp>
        <p:nvSpPr>
          <p:cNvPr id="24" name="Text 18"/>
          <p:cNvSpPr/>
          <p:nvPr/>
        </p:nvSpPr>
        <p:spPr>
          <a:xfrm>
            <a:off x="7590892" y="3749040"/>
            <a:ext cx="1746504" cy="1280160"/>
          </a:xfrm>
          <a:prstGeom prst="rect">
            <a:avLst/>
          </a:prstGeom>
          <a:noFill/>
          <a:ln/>
        </p:spPr>
        <p:txBody>
          <a:bodyPr wrap="square" lIns="0" tIns="0" rIns="0" bIns="0" rtlCol="0" anchor="ctr"/>
          <a:lstStyle/>
          <a:p>
            <a:pPr algn="ctr" indent="0" marL="0">
              <a:lnSpc>
                <a:spcPts val="1400"/>
              </a:lnSpc>
              <a:buNone/>
            </a:pPr>
            <a:r>
              <a:rPr lang="en-US" sz="1100" dirty="0">
                <a:solidFill>
                  <a:srgbClr val="7A6B60"/>
                </a:solidFill>
                <a:latin typeface="Arial" pitchFamily="34" charset="0"/>
                <a:ea typeface="Arial" pitchFamily="34" charset="-122"/>
                <a:cs typeface="Arial" pitchFamily="34" charset="-120"/>
              </a:rPr>
              <a:t>Send cheap decisions to cheap models and keep budget for the hard ones.</a:t>
            </a:r>
            <a:endParaRPr lang="en-US" sz="1100" dirty="0"/>
          </a:p>
        </p:txBody>
      </p:sp>
      <p:sp>
        <p:nvSpPr>
          <p:cNvPr id="25" name="Shape 19"/>
          <p:cNvSpPr/>
          <p:nvPr/>
        </p:nvSpPr>
        <p:spPr>
          <a:xfrm>
            <a:off x="9758020" y="2011680"/>
            <a:ext cx="2148840" cy="3200400"/>
          </a:xfrm>
          <a:prstGeom prst="roundRect">
            <a:avLst>
              <a:gd name="adj" fmla="val 5957"/>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26" name="Shape 20"/>
          <p:cNvSpPr/>
          <p:nvPr/>
        </p:nvSpPr>
        <p:spPr>
          <a:xfrm>
            <a:off x="10521544" y="2331720"/>
            <a:ext cx="621792" cy="621792"/>
          </a:xfrm>
          <a:prstGeom prst="ellipse">
            <a:avLst/>
          </a:prstGeom>
          <a:solidFill>
            <a:srgbClr val="0054F0"/>
          </a:solidFill>
          <a:ln/>
        </p:spPr>
      </p:sp>
      <p:pic>
        <p:nvPicPr>
          <p:cNvPr id="27" name="Image 4" descr="/home/claude/assets/ic_scale_pampas.png">    </p:cNvPr>
          <p:cNvPicPr>
            <a:picLocks noChangeAspect="1"/>
          </p:cNvPicPr>
          <p:nvPr/>
        </p:nvPicPr>
        <p:blipFill>
          <a:blip r:embed="rId5"/>
          <a:stretch>
            <a:fillRect/>
          </a:stretch>
        </p:blipFill>
        <p:spPr>
          <a:xfrm>
            <a:off x="10683210" y="2493386"/>
            <a:ext cx="298460" cy="298460"/>
          </a:xfrm>
          <a:prstGeom prst="rect">
            <a:avLst/>
          </a:prstGeom>
        </p:spPr>
      </p:pic>
      <p:sp>
        <p:nvSpPr>
          <p:cNvPr id="28" name="Text 21"/>
          <p:cNvSpPr/>
          <p:nvPr/>
        </p:nvSpPr>
        <p:spPr>
          <a:xfrm>
            <a:off x="9922612" y="3127248"/>
            <a:ext cx="1819656" cy="566928"/>
          </a:xfrm>
          <a:prstGeom prst="rect">
            <a:avLst/>
          </a:prstGeom>
          <a:noFill/>
          <a:ln/>
        </p:spPr>
        <p:txBody>
          <a:bodyPr wrap="square" lIns="0" tIns="0" rIns="0" bIns="0" rtlCol="0" anchor="ctr"/>
          <a:lstStyle/>
          <a:p>
            <a:pPr algn="ctr" indent="0" marL="0">
              <a:lnSpc>
                <a:spcPts val="1800"/>
              </a:lnSpc>
              <a:buNone/>
            </a:pPr>
            <a:r>
              <a:rPr lang="en-US" sz="1450" b="1" dirty="0">
                <a:solidFill>
                  <a:srgbClr val="331E11"/>
                </a:solidFill>
                <a:latin typeface="Arial" pitchFamily="34" charset="0"/>
                <a:ea typeface="Arial" pitchFamily="34" charset="-122"/>
                <a:cs typeface="Arial" pitchFamily="34" charset="-120"/>
              </a:rPr>
              <a:t>Evaluation</a:t>
            </a:r>
            <a:endParaRPr lang="en-US" sz="1450" dirty="0"/>
          </a:p>
        </p:txBody>
      </p:sp>
      <p:sp>
        <p:nvSpPr>
          <p:cNvPr id="29" name="Text 22"/>
          <p:cNvSpPr/>
          <p:nvPr/>
        </p:nvSpPr>
        <p:spPr>
          <a:xfrm>
            <a:off x="9959188" y="3749040"/>
            <a:ext cx="1746504" cy="1280160"/>
          </a:xfrm>
          <a:prstGeom prst="rect">
            <a:avLst/>
          </a:prstGeom>
          <a:noFill/>
          <a:ln/>
        </p:spPr>
        <p:txBody>
          <a:bodyPr wrap="square" lIns="0" tIns="0" rIns="0" bIns="0" rtlCol="0" anchor="ctr"/>
          <a:lstStyle/>
          <a:p>
            <a:pPr algn="ctr" indent="0" marL="0">
              <a:lnSpc>
                <a:spcPts val="1400"/>
              </a:lnSpc>
              <a:buNone/>
            </a:pPr>
            <a:r>
              <a:rPr lang="en-US" sz="1100" dirty="0">
                <a:solidFill>
                  <a:srgbClr val="7A6B60"/>
                </a:solidFill>
                <a:latin typeface="Arial" pitchFamily="34" charset="0"/>
                <a:ea typeface="Arial" pitchFamily="34" charset="-122"/>
                <a:cs typeface="Arial" pitchFamily="34" charset="-120"/>
              </a:rPr>
              <a:t>Build a quality gate and a scoring rubric you would trust in production.</a:t>
            </a:r>
            <a:endParaRPr lang="en-US" sz="1100" dirty="0"/>
          </a:p>
        </p:txBody>
      </p:sp>
      <p:sp>
        <p:nvSpPr>
          <p:cNvPr id="30" name="Text 23"/>
          <p:cNvSpPr/>
          <p:nvPr/>
        </p:nvSpPr>
        <p:spPr>
          <a:xfrm>
            <a:off x="640080" y="5577840"/>
            <a:ext cx="10881360" cy="457200"/>
          </a:xfrm>
          <a:prstGeom prst="rect">
            <a:avLst/>
          </a:prstGeom>
          <a:noFill/>
          <a:ln/>
        </p:spPr>
        <p:txBody>
          <a:bodyPr wrap="square" lIns="0" tIns="0" rIns="0" bIns="0" rtlCol="0" anchor="ctr"/>
          <a:lstStyle/>
          <a:p>
            <a:pPr indent="0" marL="0">
              <a:buNone/>
            </a:pPr>
            <a:r>
              <a:rPr lang="en-US" sz="1400" i="1" dirty="0">
                <a:solidFill>
                  <a:srgbClr val="7A6B60"/>
                </a:solidFill>
                <a:latin typeface="Arial" pitchFamily="34" charset="0"/>
                <a:ea typeface="Arial" pitchFamily="34" charset="-122"/>
                <a:cs typeface="Arial" pitchFamily="34" charset="-120"/>
              </a:rPr>
              <a:t>Every one of these shows up in the scoring formula. None of them are theory today.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4</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WHY WE RUN IT THIS WAY</a:t>
            </a:r>
            <a:endParaRPr lang="en-US" sz="1150" dirty="0"/>
          </a:p>
        </p:txBody>
      </p:sp>
      <p:sp>
        <p:nvSpPr>
          <p:cNvPr id="4" name="Text 2"/>
          <p:cNvSpPr/>
          <p:nvPr/>
        </p:nvSpPr>
        <p:spPr>
          <a:xfrm>
            <a:off x="640080" y="841248"/>
            <a:ext cx="685800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Context is a scarce resource, not free storage</a:t>
            </a:r>
            <a:endParaRPr lang="en-US" sz="3600" dirty="0"/>
          </a:p>
        </p:txBody>
      </p:sp>
      <p:sp>
        <p:nvSpPr>
          <p:cNvPr id="5" name="Shape 3"/>
          <p:cNvSpPr/>
          <p:nvPr/>
        </p:nvSpPr>
        <p:spPr>
          <a:xfrm>
            <a:off x="640080" y="2011680"/>
            <a:ext cx="566928" cy="566928"/>
          </a:xfrm>
          <a:prstGeom prst="ellipse">
            <a:avLst/>
          </a:prstGeom>
          <a:solidFill>
            <a:srgbClr val="0054F0"/>
          </a:solidFill>
          <a:ln/>
        </p:spPr>
      </p:sp>
      <p:pic>
        <p:nvPicPr>
          <p:cNvPr id="6" name="Image 0" descr="/home/claude/assets/ic_zap_pampas.png">    </p:cNvPr>
          <p:cNvPicPr>
            <a:picLocks noChangeAspect="1"/>
          </p:cNvPicPr>
          <p:nvPr/>
        </p:nvPicPr>
        <p:blipFill>
          <a:blip r:embed="rId1"/>
          <a:stretch>
            <a:fillRect/>
          </a:stretch>
        </p:blipFill>
        <p:spPr>
          <a:xfrm>
            <a:off x="787481" y="2159081"/>
            <a:ext cx="272125" cy="272125"/>
          </a:xfrm>
          <a:prstGeom prst="rect">
            <a:avLst/>
          </a:prstGeom>
        </p:spPr>
      </p:pic>
      <p:sp>
        <p:nvSpPr>
          <p:cNvPr id="7" name="Text 4"/>
          <p:cNvSpPr/>
          <p:nvPr/>
        </p:nvSpPr>
        <p:spPr>
          <a:xfrm>
            <a:off x="1444752" y="1993392"/>
            <a:ext cx="5120640" cy="365760"/>
          </a:xfrm>
          <a:prstGeom prst="rect">
            <a:avLst/>
          </a:prstGeom>
          <a:noFill/>
          <a:ln/>
        </p:spPr>
        <p:txBody>
          <a:bodyPr wrap="square" lIns="0" tIns="0" rIns="0" bIns="0" rtlCol="0" anchor="ctr"/>
          <a:lstStyle/>
          <a:p>
            <a:pPr indent="0" marL="0">
              <a:buNone/>
            </a:pPr>
            <a:r>
              <a:rPr lang="en-US" sz="1550" b="1" dirty="0">
                <a:solidFill>
                  <a:srgbClr val="331E11"/>
                </a:solidFill>
                <a:latin typeface="Arial" pitchFamily="34" charset="0"/>
                <a:ea typeface="Arial" pitchFamily="34" charset="-122"/>
                <a:cs typeface="Arial" pitchFamily="34" charset="-120"/>
              </a:rPr>
              <a:t>Every token costs money and latency</a:t>
            </a:r>
            <a:endParaRPr lang="en-US" sz="1550" dirty="0"/>
          </a:p>
        </p:txBody>
      </p:sp>
      <p:sp>
        <p:nvSpPr>
          <p:cNvPr id="8" name="Text 5"/>
          <p:cNvSpPr/>
          <p:nvPr/>
        </p:nvSpPr>
        <p:spPr>
          <a:xfrm>
            <a:off x="1444752" y="2377440"/>
            <a:ext cx="5120640" cy="640080"/>
          </a:xfrm>
          <a:prstGeom prst="rect">
            <a:avLst/>
          </a:prstGeom>
          <a:noFill/>
          <a:ln/>
        </p:spPr>
        <p:txBody>
          <a:bodyPr wrap="square" lIns="0" tIns="0" rIns="0" bIns="0" rtlCol="0" anchor="ctr"/>
          <a:lstStyle/>
          <a:p>
            <a:pPr indent="0" marL="0">
              <a:lnSpc>
                <a:spcPts val="1600"/>
              </a:lnSpc>
              <a:buNone/>
            </a:pPr>
            <a:r>
              <a:rPr lang="en-US" sz="1250" dirty="0">
                <a:solidFill>
                  <a:srgbClr val="7A6B60"/>
                </a:solidFill>
                <a:latin typeface="Arial" pitchFamily="34" charset="0"/>
                <a:ea typeface="Arial" pitchFamily="34" charset="-122"/>
                <a:cs typeface="Arial" pitchFamily="34" charset="-120"/>
              </a:rPr>
              <a:t>Not once — again on every subsequent call in the chain.</a:t>
            </a:r>
            <a:endParaRPr lang="en-US" sz="1250" dirty="0"/>
          </a:p>
        </p:txBody>
      </p:sp>
      <p:sp>
        <p:nvSpPr>
          <p:cNvPr id="9" name="Shape 6"/>
          <p:cNvSpPr/>
          <p:nvPr/>
        </p:nvSpPr>
        <p:spPr>
          <a:xfrm>
            <a:off x="640080" y="3246120"/>
            <a:ext cx="566928" cy="566928"/>
          </a:xfrm>
          <a:prstGeom prst="ellipse">
            <a:avLst/>
          </a:prstGeom>
          <a:solidFill>
            <a:srgbClr val="331E11"/>
          </a:solidFill>
          <a:ln/>
        </p:spPr>
      </p:sp>
      <p:pic>
        <p:nvPicPr>
          <p:cNvPr id="10" name="Image 1" descr="/home/claude/assets/ic_alert_pampas.png">    </p:cNvPr>
          <p:cNvPicPr>
            <a:picLocks noChangeAspect="1"/>
          </p:cNvPicPr>
          <p:nvPr/>
        </p:nvPicPr>
        <p:blipFill>
          <a:blip r:embed="rId2"/>
          <a:stretch>
            <a:fillRect/>
          </a:stretch>
        </p:blipFill>
        <p:spPr>
          <a:xfrm>
            <a:off x="787481" y="3393521"/>
            <a:ext cx="272125" cy="272125"/>
          </a:xfrm>
          <a:prstGeom prst="rect">
            <a:avLst/>
          </a:prstGeom>
        </p:spPr>
      </p:pic>
      <p:sp>
        <p:nvSpPr>
          <p:cNvPr id="11" name="Text 7"/>
          <p:cNvSpPr/>
          <p:nvPr/>
        </p:nvSpPr>
        <p:spPr>
          <a:xfrm>
            <a:off x="1444752" y="3227832"/>
            <a:ext cx="5120640" cy="365760"/>
          </a:xfrm>
          <a:prstGeom prst="rect">
            <a:avLst/>
          </a:prstGeom>
          <a:noFill/>
          <a:ln/>
        </p:spPr>
        <p:txBody>
          <a:bodyPr wrap="square" lIns="0" tIns="0" rIns="0" bIns="0" rtlCol="0" anchor="ctr"/>
          <a:lstStyle/>
          <a:p>
            <a:pPr indent="0" marL="0">
              <a:buNone/>
            </a:pPr>
            <a:r>
              <a:rPr lang="en-US" sz="1550" b="1" dirty="0">
                <a:solidFill>
                  <a:srgbClr val="331E11"/>
                </a:solidFill>
                <a:latin typeface="Arial" pitchFamily="34" charset="0"/>
                <a:ea typeface="Arial" pitchFamily="34" charset="-122"/>
                <a:cs typeface="Arial" pitchFamily="34" charset="-120"/>
              </a:rPr>
              <a:t>Irrelevant context degrades accuracy</a:t>
            </a:r>
            <a:endParaRPr lang="en-US" sz="1550" dirty="0"/>
          </a:p>
        </p:txBody>
      </p:sp>
      <p:sp>
        <p:nvSpPr>
          <p:cNvPr id="12" name="Text 8"/>
          <p:cNvSpPr/>
          <p:nvPr/>
        </p:nvSpPr>
        <p:spPr>
          <a:xfrm>
            <a:off x="1444752" y="3611880"/>
            <a:ext cx="5120640" cy="640080"/>
          </a:xfrm>
          <a:prstGeom prst="rect">
            <a:avLst/>
          </a:prstGeom>
          <a:noFill/>
          <a:ln/>
        </p:spPr>
        <p:txBody>
          <a:bodyPr wrap="square" lIns="0" tIns="0" rIns="0" bIns="0" rtlCol="0" anchor="ctr"/>
          <a:lstStyle/>
          <a:p>
            <a:pPr indent="0" marL="0">
              <a:lnSpc>
                <a:spcPts val="1600"/>
              </a:lnSpc>
              <a:buNone/>
            </a:pPr>
            <a:r>
              <a:rPr lang="en-US" sz="1250" dirty="0">
                <a:solidFill>
                  <a:srgbClr val="7A6B60"/>
                </a:solidFill>
                <a:latin typeface="Arial" pitchFamily="34" charset="0"/>
                <a:ea typeface="Arial" pitchFamily="34" charset="-122"/>
                <a:cs typeface="Arial" pitchFamily="34" charset="-120"/>
              </a:rPr>
              <a:t>This is the part people miss. Noise does not just cost. It misleads.</a:t>
            </a:r>
            <a:endParaRPr lang="en-US" sz="1250" dirty="0"/>
          </a:p>
        </p:txBody>
      </p:sp>
      <p:sp>
        <p:nvSpPr>
          <p:cNvPr id="13" name="Shape 9"/>
          <p:cNvSpPr/>
          <p:nvPr/>
        </p:nvSpPr>
        <p:spPr>
          <a:xfrm>
            <a:off x="640080" y="4480560"/>
            <a:ext cx="566928" cy="566928"/>
          </a:xfrm>
          <a:prstGeom prst="ellipse">
            <a:avLst/>
          </a:prstGeom>
          <a:solidFill>
            <a:srgbClr val="0054F0"/>
          </a:solidFill>
          <a:ln/>
        </p:spPr>
      </p:sp>
      <p:pic>
        <p:nvPicPr>
          <p:cNvPr id="14" name="Image 2" descr="/home/claude/assets/ic_trend_pampas.png">    </p:cNvPr>
          <p:cNvPicPr>
            <a:picLocks noChangeAspect="1"/>
          </p:cNvPicPr>
          <p:nvPr/>
        </p:nvPicPr>
        <p:blipFill>
          <a:blip r:embed="rId3"/>
          <a:stretch>
            <a:fillRect/>
          </a:stretch>
        </p:blipFill>
        <p:spPr>
          <a:xfrm>
            <a:off x="787481" y="4627961"/>
            <a:ext cx="272125" cy="272125"/>
          </a:xfrm>
          <a:prstGeom prst="rect">
            <a:avLst/>
          </a:prstGeom>
        </p:spPr>
      </p:pic>
      <p:sp>
        <p:nvSpPr>
          <p:cNvPr id="15" name="Text 10"/>
          <p:cNvSpPr/>
          <p:nvPr/>
        </p:nvSpPr>
        <p:spPr>
          <a:xfrm>
            <a:off x="1444752" y="4462272"/>
            <a:ext cx="5120640" cy="365760"/>
          </a:xfrm>
          <a:prstGeom prst="rect">
            <a:avLst/>
          </a:prstGeom>
          <a:noFill/>
          <a:ln/>
        </p:spPr>
        <p:txBody>
          <a:bodyPr wrap="square" lIns="0" tIns="0" rIns="0" bIns="0" rtlCol="0" anchor="ctr"/>
          <a:lstStyle/>
          <a:p>
            <a:pPr indent="0" marL="0">
              <a:buNone/>
            </a:pPr>
            <a:r>
              <a:rPr lang="en-US" sz="1550" b="1" dirty="0">
                <a:solidFill>
                  <a:srgbClr val="331E11"/>
                </a:solidFill>
                <a:latin typeface="Arial" pitchFamily="34" charset="0"/>
                <a:ea typeface="Arial" pitchFamily="34" charset="-122"/>
                <a:cs typeface="Arial" pitchFamily="34" charset="-120"/>
              </a:rPr>
              <a:t>The V1 to V4 progression makes it measurable</a:t>
            </a:r>
            <a:endParaRPr lang="en-US" sz="1550" dirty="0"/>
          </a:p>
        </p:txBody>
      </p:sp>
      <p:sp>
        <p:nvSpPr>
          <p:cNvPr id="16" name="Text 11"/>
          <p:cNvSpPr/>
          <p:nvPr/>
        </p:nvSpPr>
        <p:spPr>
          <a:xfrm>
            <a:off x="1444752" y="4846320"/>
            <a:ext cx="5120640" cy="640080"/>
          </a:xfrm>
          <a:prstGeom prst="rect">
            <a:avLst/>
          </a:prstGeom>
          <a:noFill/>
          <a:ln/>
        </p:spPr>
        <p:txBody>
          <a:bodyPr wrap="square" lIns="0" tIns="0" rIns="0" bIns="0" rtlCol="0" anchor="ctr"/>
          <a:lstStyle/>
          <a:p>
            <a:pPr indent="0" marL="0">
              <a:lnSpc>
                <a:spcPts val="1600"/>
              </a:lnSpc>
              <a:buNone/>
            </a:pPr>
            <a:r>
              <a:rPr lang="en-US" sz="1250" dirty="0">
                <a:solidFill>
                  <a:srgbClr val="7A6B60"/>
                </a:solidFill>
                <a:latin typeface="Arial" pitchFamily="34" charset="0"/>
                <a:ea typeface="Arial" pitchFamily="34" charset="-122"/>
                <a:cs typeface="Arial" pitchFamily="34" charset="-120"/>
              </a:rPr>
              <a:t>You will not be arguing about this by the end. You will have the numbers.</a:t>
            </a:r>
            <a:endParaRPr lang="en-US" sz="1250" dirty="0"/>
          </a:p>
        </p:txBody>
      </p:sp>
      <p:sp>
        <p:nvSpPr>
          <p:cNvPr id="17" name="Shape 12"/>
          <p:cNvSpPr/>
          <p:nvPr/>
        </p:nvSpPr>
        <p:spPr>
          <a:xfrm>
            <a:off x="6537960" y="1828800"/>
            <a:ext cx="5010912" cy="4023360"/>
          </a:xfrm>
          <a:prstGeom prst="roundRect">
            <a:avLst>
              <a:gd name="adj" fmla="val 3182"/>
            </a:avLst>
          </a:prstGeom>
          <a:solidFill>
            <a:srgbClr val="331E11"/>
          </a:solidFill>
          <a:ln/>
        </p:spPr>
      </p:sp>
      <p:sp>
        <p:nvSpPr>
          <p:cNvPr id="18" name="Text 13"/>
          <p:cNvSpPr/>
          <p:nvPr/>
        </p:nvSpPr>
        <p:spPr>
          <a:xfrm>
            <a:off x="6949440" y="2194560"/>
            <a:ext cx="4206240" cy="914400"/>
          </a:xfrm>
          <a:prstGeom prst="rect">
            <a:avLst/>
          </a:prstGeom>
          <a:noFill/>
          <a:ln/>
        </p:spPr>
        <p:txBody>
          <a:bodyPr wrap="square" lIns="0" tIns="0" rIns="0" bIns="0" rtlCol="0" anchor="ctr"/>
          <a:lstStyle/>
          <a:p>
            <a:pPr indent="0" marL="0">
              <a:lnSpc>
                <a:spcPts val="3000"/>
              </a:lnSpc>
              <a:buNone/>
            </a:pPr>
            <a:r>
              <a:rPr lang="en-US" sz="2400" b="1" dirty="0">
                <a:solidFill>
                  <a:srgbClr val="FAF9F7"/>
                </a:solidFill>
                <a:latin typeface="Arial" pitchFamily="34" charset="0"/>
                <a:ea typeface="Arial" pitchFamily="34" charset="-122"/>
                <a:cs typeface="Arial" pitchFamily="34" charset="-120"/>
              </a:rPr>
              <a:t>The instinct we are</a:t>
            </a:r>
            <a:endParaRPr lang="en-US" sz="2400" dirty="0"/>
          </a:p>
          <a:p>
            <a:pPr indent="0" marL="0">
              <a:lnSpc>
                <a:spcPts val="3000"/>
              </a:lnSpc>
              <a:buNone/>
            </a:pPr>
            <a:r>
              <a:rPr lang="en-US" sz="2400" b="1" dirty="0">
                <a:solidFill>
                  <a:srgbClr val="FAF9F7"/>
                </a:solidFill>
                <a:latin typeface="Arial" pitchFamily="34" charset="0"/>
                <a:ea typeface="Arial" pitchFamily="34" charset="-122"/>
                <a:cs typeface="Arial" pitchFamily="34" charset="-120"/>
              </a:rPr>
              <a:t>breaking today</a:t>
            </a:r>
            <a:endParaRPr lang="en-US" sz="2400" dirty="0"/>
          </a:p>
        </p:txBody>
      </p:sp>
      <p:sp>
        <p:nvSpPr>
          <p:cNvPr id="19" name="Text 14"/>
          <p:cNvSpPr/>
          <p:nvPr/>
        </p:nvSpPr>
        <p:spPr>
          <a:xfrm>
            <a:off x="6949440" y="3246120"/>
            <a:ext cx="4206240" cy="914400"/>
          </a:xfrm>
          <a:prstGeom prst="rect">
            <a:avLst/>
          </a:prstGeom>
          <a:noFill/>
          <a:ln/>
        </p:spPr>
        <p:txBody>
          <a:bodyPr wrap="square" lIns="0" tIns="0" rIns="0" bIns="0" rtlCol="0" anchor="ctr"/>
          <a:lstStyle/>
          <a:p>
            <a:pPr indent="0" marL="0">
              <a:lnSpc>
                <a:spcPts val="2200"/>
              </a:lnSpc>
              <a:buNone/>
            </a:pPr>
            <a:r>
              <a:rPr lang="en-US" sz="1500" i="1" dirty="0">
                <a:solidFill>
                  <a:srgbClr val="E8E0D9"/>
                </a:solidFill>
                <a:latin typeface="Arial" pitchFamily="34" charset="0"/>
                <a:ea typeface="Arial" pitchFamily="34" charset="-122"/>
                <a:cs typeface="Arial" pitchFamily="34" charset="-120"/>
              </a:rPr>
              <a:t>"Give the model everything, it will figure out what matters."</a:t>
            </a:r>
            <a:endParaRPr lang="en-US" sz="1500" dirty="0"/>
          </a:p>
        </p:txBody>
      </p:sp>
      <p:sp>
        <p:nvSpPr>
          <p:cNvPr id="20" name="Shape 15"/>
          <p:cNvSpPr/>
          <p:nvPr/>
        </p:nvSpPr>
        <p:spPr>
          <a:xfrm>
            <a:off x="6949440" y="4251960"/>
            <a:ext cx="1005840" cy="32004"/>
          </a:xfrm>
          <a:prstGeom prst="rect">
            <a:avLst/>
          </a:prstGeom>
          <a:solidFill>
            <a:srgbClr val="0054F0"/>
          </a:solidFill>
          <a:ln/>
        </p:spPr>
      </p:sp>
      <p:sp>
        <p:nvSpPr>
          <p:cNvPr id="21" name="Text 16"/>
          <p:cNvSpPr/>
          <p:nvPr/>
        </p:nvSpPr>
        <p:spPr>
          <a:xfrm>
            <a:off x="6949440" y="4480560"/>
            <a:ext cx="4206240" cy="1097280"/>
          </a:xfrm>
          <a:prstGeom prst="rect">
            <a:avLst/>
          </a:prstGeom>
          <a:noFill/>
          <a:ln/>
        </p:spPr>
        <p:txBody>
          <a:bodyPr wrap="square" lIns="0" tIns="0" rIns="0" bIns="0" rtlCol="0" anchor="ctr"/>
          <a:lstStyle/>
          <a:p>
            <a:pPr indent="0" marL="0">
              <a:lnSpc>
                <a:spcPts val="1900"/>
              </a:lnSpc>
              <a:buNone/>
            </a:pPr>
            <a:r>
              <a:rPr lang="en-US" sz="1300" dirty="0">
                <a:solidFill>
                  <a:srgbClr val="D6E3FF"/>
                </a:solidFill>
                <a:latin typeface="Arial" pitchFamily="34" charset="0"/>
                <a:ea typeface="Arial" pitchFamily="34" charset="-122"/>
                <a:cs typeface="Arial" pitchFamily="34" charset="-120"/>
              </a:rPr>
              <a:t>It will not. It will find a plausible thread through whatever you gave it — including the wrong 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0D9"/>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5</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WHY WE RUN IT THIS WAY</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Progressive disclosure and handoff discipline</a:t>
            </a:r>
            <a:endParaRPr lang="en-US" sz="3600" dirty="0"/>
          </a:p>
        </p:txBody>
      </p:sp>
      <p:sp>
        <p:nvSpPr>
          <p:cNvPr id="5" name="Shape 3"/>
          <p:cNvSpPr/>
          <p:nvPr/>
        </p:nvSpPr>
        <p:spPr>
          <a:xfrm>
            <a:off x="640080" y="1965960"/>
            <a:ext cx="3520440" cy="3017520"/>
          </a:xfrm>
          <a:prstGeom prst="roundRect">
            <a:avLst>
              <a:gd name="adj" fmla="val 4242"/>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6" name="Shape 4"/>
          <p:cNvSpPr/>
          <p:nvPr/>
        </p:nvSpPr>
        <p:spPr>
          <a:xfrm>
            <a:off x="1024128" y="2286000"/>
            <a:ext cx="603504" cy="603504"/>
          </a:xfrm>
          <a:prstGeom prst="ellipse">
            <a:avLst/>
          </a:prstGeom>
          <a:solidFill>
            <a:srgbClr val="0054F0"/>
          </a:solidFill>
          <a:ln/>
        </p:spPr>
      </p:sp>
      <p:pic>
        <p:nvPicPr>
          <p:cNvPr id="7" name="Image 0" descr="/home/claude/assets/ic_search_pampas.png">    </p:cNvPr>
          <p:cNvPicPr>
            <a:picLocks noChangeAspect="1"/>
          </p:cNvPicPr>
          <p:nvPr/>
        </p:nvPicPr>
        <p:blipFill>
          <a:blip r:embed="rId1"/>
          <a:stretch>
            <a:fillRect/>
          </a:stretch>
        </p:blipFill>
        <p:spPr>
          <a:xfrm>
            <a:off x="1181039" y="2442911"/>
            <a:ext cx="289682" cy="289682"/>
          </a:xfrm>
          <a:prstGeom prst="rect">
            <a:avLst/>
          </a:prstGeom>
        </p:spPr>
      </p:pic>
      <p:sp>
        <p:nvSpPr>
          <p:cNvPr id="8" name="Text 5"/>
          <p:cNvSpPr/>
          <p:nvPr/>
        </p:nvSpPr>
        <p:spPr>
          <a:xfrm>
            <a:off x="1024128" y="3063240"/>
            <a:ext cx="2752344" cy="384048"/>
          </a:xfrm>
          <a:prstGeom prst="rect">
            <a:avLst/>
          </a:prstGeom>
          <a:noFill/>
          <a:ln/>
        </p:spPr>
        <p:txBody>
          <a:bodyPr wrap="square" lIns="0" tIns="0" rIns="0" bIns="0" rtlCol="0" anchor="ctr"/>
          <a:lstStyle/>
          <a:p>
            <a:pPr indent="0" marL="0">
              <a:buNone/>
            </a:pPr>
            <a:r>
              <a:rPr lang="en-US" sz="1700" b="1" dirty="0">
                <a:solidFill>
                  <a:srgbClr val="331E11"/>
                </a:solidFill>
                <a:latin typeface="Arial" pitchFamily="34" charset="0"/>
                <a:ea typeface="Arial" pitchFamily="34" charset="-122"/>
                <a:cs typeface="Arial" pitchFamily="34" charset="-120"/>
              </a:rPr>
              <a:t>Retrieve on demand</a:t>
            </a:r>
            <a:endParaRPr lang="en-US" sz="1700" dirty="0"/>
          </a:p>
        </p:txBody>
      </p:sp>
      <p:sp>
        <p:nvSpPr>
          <p:cNvPr id="9" name="Text 6"/>
          <p:cNvSpPr/>
          <p:nvPr/>
        </p:nvSpPr>
        <p:spPr>
          <a:xfrm>
            <a:off x="1024128" y="3520440"/>
            <a:ext cx="2752344" cy="1188720"/>
          </a:xfrm>
          <a:prstGeom prst="rect">
            <a:avLst/>
          </a:prstGeom>
          <a:noFill/>
          <a:ln/>
        </p:spPr>
        <p:txBody>
          <a:bodyPr wrap="square" lIns="0" tIns="0" rIns="0" bIns="0" rtlCol="0" anchor="ctr"/>
          <a:lstStyle/>
          <a:p>
            <a:pPr indent="0" marL="0">
              <a:lnSpc>
                <a:spcPts val="1700"/>
              </a:lnSpc>
              <a:buNone/>
            </a:pPr>
            <a:r>
              <a:rPr lang="en-US" sz="1250" dirty="0">
                <a:solidFill>
                  <a:srgbClr val="7A6B60"/>
                </a:solidFill>
                <a:latin typeface="Arial" pitchFamily="34" charset="0"/>
                <a:ea typeface="Arial" pitchFamily="34" charset="-122"/>
                <a:cs typeface="Arial" pitchFamily="34" charset="-120"/>
              </a:rPr>
              <a:t>Only what is needed, only when it is needed. Not the whole knowledge base at step one.</a:t>
            </a:r>
            <a:endParaRPr lang="en-US" sz="1250" dirty="0"/>
          </a:p>
        </p:txBody>
      </p:sp>
      <p:sp>
        <p:nvSpPr>
          <p:cNvPr id="10" name="Shape 7"/>
          <p:cNvSpPr/>
          <p:nvPr/>
        </p:nvSpPr>
        <p:spPr>
          <a:xfrm>
            <a:off x="4480560" y="1965960"/>
            <a:ext cx="3520440" cy="3017520"/>
          </a:xfrm>
          <a:prstGeom prst="roundRect">
            <a:avLst>
              <a:gd name="adj" fmla="val 4242"/>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1" name="Shape 8"/>
          <p:cNvSpPr/>
          <p:nvPr/>
        </p:nvSpPr>
        <p:spPr>
          <a:xfrm>
            <a:off x="4864608" y="2286000"/>
            <a:ext cx="603504" cy="603504"/>
          </a:xfrm>
          <a:prstGeom prst="ellipse">
            <a:avLst/>
          </a:prstGeom>
          <a:solidFill>
            <a:srgbClr val="0054F0"/>
          </a:solidFill>
          <a:ln/>
        </p:spPr>
      </p:sp>
      <p:pic>
        <p:nvPicPr>
          <p:cNvPr id="12" name="Image 1" descr="/home/claude/assets/ic_minimize_pampas.png">    </p:cNvPr>
          <p:cNvPicPr>
            <a:picLocks noChangeAspect="1"/>
          </p:cNvPicPr>
          <p:nvPr/>
        </p:nvPicPr>
        <p:blipFill>
          <a:blip r:embed="rId2"/>
          <a:stretch>
            <a:fillRect/>
          </a:stretch>
        </p:blipFill>
        <p:spPr>
          <a:xfrm>
            <a:off x="5021519" y="2442911"/>
            <a:ext cx="289682" cy="289682"/>
          </a:xfrm>
          <a:prstGeom prst="rect">
            <a:avLst/>
          </a:prstGeom>
        </p:spPr>
      </p:pic>
      <p:sp>
        <p:nvSpPr>
          <p:cNvPr id="13" name="Text 9"/>
          <p:cNvSpPr/>
          <p:nvPr/>
        </p:nvSpPr>
        <p:spPr>
          <a:xfrm>
            <a:off x="4864608" y="3063240"/>
            <a:ext cx="2752344" cy="384048"/>
          </a:xfrm>
          <a:prstGeom prst="rect">
            <a:avLst/>
          </a:prstGeom>
          <a:noFill/>
          <a:ln/>
        </p:spPr>
        <p:txBody>
          <a:bodyPr wrap="square" lIns="0" tIns="0" rIns="0" bIns="0" rtlCol="0" anchor="ctr"/>
          <a:lstStyle/>
          <a:p>
            <a:pPr indent="0" marL="0">
              <a:buNone/>
            </a:pPr>
            <a:r>
              <a:rPr lang="en-US" sz="1700" b="1" dirty="0">
                <a:solidFill>
                  <a:srgbClr val="331E11"/>
                </a:solidFill>
                <a:latin typeface="Arial" pitchFamily="34" charset="0"/>
                <a:ea typeface="Arial" pitchFamily="34" charset="-122"/>
                <a:cs typeface="Arial" pitchFamily="34" charset="-120"/>
              </a:rPr>
              <a:t>Hand off typed facts</a:t>
            </a:r>
            <a:endParaRPr lang="en-US" sz="1700" dirty="0"/>
          </a:p>
        </p:txBody>
      </p:sp>
      <p:sp>
        <p:nvSpPr>
          <p:cNvPr id="14" name="Text 10"/>
          <p:cNvSpPr/>
          <p:nvPr/>
        </p:nvSpPr>
        <p:spPr>
          <a:xfrm>
            <a:off x="4864608" y="3520440"/>
            <a:ext cx="2752344" cy="1188720"/>
          </a:xfrm>
          <a:prstGeom prst="rect">
            <a:avLst/>
          </a:prstGeom>
          <a:noFill/>
          <a:ln/>
        </p:spPr>
        <p:txBody>
          <a:bodyPr wrap="square" lIns="0" tIns="0" rIns="0" bIns="0" rtlCol="0" anchor="ctr"/>
          <a:lstStyle/>
          <a:p>
            <a:pPr indent="0" marL="0">
              <a:lnSpc>
                <a:spcPts val="1700"/>
              </a:lnSpc>
              <a:buNone/>
            </a:pPr>
            <a:r>
              <a:rPr lang="en-US" sz="1250" dirty="0">
                <a:solidFill>
                  <a:srgbClr val="7A6B60"/>
                </a:solidFill>
                <a:latin typeface="Arial" pitchFamily="34" charset="0"/>
                <a:ea typeface="Arial" pitchFamily="34" charset="-122"/>
                <a:cs typeface="Arial" pitchFamily="34" charset="-120"/>
              </a:rPr>
              <a:t>A subagent needs the decision-relevant fields, not the conversation that produced them.</a:t>
            </a:r>
            <a:endParaRPr lang="en-US" sz="1250" dirty="0"/>
          </a:p>
        </p:txBody>
      </p:sp>
      <p:sp>
        <p:nvSpPr>
          <p:cNvPr id="15" name="Shape 11"/>
          <p:cNvSpPr/>
          <p:nvPr/>
        </p:nvSpPr>
        <p:spPr>
          <a:xfrm>
            <a:off x="8321040" y="1965960"/>
            <a:ext cx="3520440" cy="3017520"/>
          </a:xfrm>
          <a:prstGeom prst="roundRect">
            <a:avLst>
              <a:gd name="adj" fmla="val 4242"/>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6" name="Shape 12"/>
          <p:cNvSpPr/>
          <p:nvPr/>
        </p:nvSpPr>
        <p:spPr>
          <a:xfrm>
            <a:off x="8705088" y="2286000"/>
            <a:ext cx="603504" cy="603504"/>
          </a:xfrm>
          <a:prstGeom prst="ellipse">
            <a:avLst/>
          </a:prstGeom>
          <a:solidFill>
            <a:srgbClr val="0054F0"/>
          </a:solidFill>
          <a:ln/>
        </p:spPr>
      </p:sp>
      <p:pic>
        <p:nvPicPr>
          <p:cNvPr id="17" name="Image 2" descr="/home/claude/assets/ic_sliders_pampas.png">    </p:cNvPr>
          <p:cNvPicPr>
            <a:picLocks noChangeAspect="1"/>
          </p:cNvPicPr>
          <p:nvPr/>
        </p:nvPicPr>
        <p:blipFill>
          <a:blip r:embed="rId3"/>
          <a:stretch>
            <a:fillRect/>
          </a:stretch>
        </p:blipFill>
        <p:spPr>
          <a:xfrm>
            <a:off x="8861999" y="2442911"/>
            <a:ext cx="289682" cy="289682"/>
          </a:xfrm>
          <a:prstGeom prst="rect">
            <a:avLst/>
          </a:prstGeom>
        </p:spPr>
      </p:pic>
      <p:sp>
        <p:nvSpPr>
          <p:cNvPr id="18" name="Text 13"/>
          <p:cNvSpPr/>
          <p:nvPr/>
        </p:nvSpPr>
        <p:spPr>
          <a:xfrm>
            <a:off x="8705088" y="3063240"/>
            <a:ext cx="2752344" cy="384048"/>
          </a:xfrm>
          <a:prstGeom prst="rect">
            <a:avLst/>
          </a:prstGeom>
          <a:noFill/>
          <a:ln/>
        </p:spPr>
        <p:txBody>
          <a:bodyPr wrap="square" lIns="0" tIns="0" rIns="0" bIns="0" rtlCol="0" anchor="ctr"/>
          <a:lstStyle/>
          <a:p>
            <a:pPr indent="0" marL="0">
              <a:buNone/>
            </a:pPr>
            <a:r>
              <a:rPr lang="en-US" sz="1700" b="1" dirty="0">
                <a:solidFill>
                  <a:srgbClr val="331E11"/>
                </a:solidFill>
                <a:latin typeface="Arial" pitchFamily="34" charset="0"/>
                <a:ea typeface="Arial" pitchFamily="34" charset="-122"/>
                <a:cs typeface="Arial" pitchFamily="34" charset="-120"/>
              </a:rPr>
              <a:t>Route by difficulty</a:t>
            </a:r>
            <a:endParaRPr lang="en-US" sz="1700" dirty="0"/>
          </a:p>
        </p:txBody>
      </p:sp>
      <p:sp>
        <p:nvSpPr>
          <p:cNvPr id="19" name="Text 14"/>
          <p:cNvSpPr/>
          <p:nvPr/>
        </p:nvSpPr>
        <p:spPr>
          <a:xfrm>
            <a:off x="8705088" y="3520440"/>
            <a:ext cx="2752344" cy="1188720"/>
          </a:xfrm>
          <a:prstGeom prst="rect">
            <a:avLst/>
          </a:prstGeom>
          <a:noFill/>
          <a:ln/>
        </p:spPr>
        <p:txBody>
          <a:bodyPr wrap="square" lIns="0" tIns="0" rIns="0" bIns="0" rtlCol="0" anchor="ctr"/>
          <a:lstStyle/>
          <a:p>
            <a:pPr indent="0" marL="0">
              <a:lnSpc>
                <a:spcPts val="1700"/>
              </a:lnSpc>
              <a:buNone/>
            </a:pPr>
            <a:r>
              <a:rPr lang="en-US" sz="1250" dirty="0">
                <a:solidFill>
                  <a:srgbClr val="7A6B60"/>
                </a:solidFill>
                <a:latin typeface="Arial" pitchFamily="34" charset="0"/>
                <a:ea typeface="Arial" pitchFamily="34" charset="-122"/>
                <a:cs typeface="Arial" pitchFamily="34" charset="-120"/>
              </a:rPr>
              <a:t>Cheap models on cheap decisions frees the budget for the cases that are genuinely hard.</a:t>
            </a:r>
            <a:endParaRPr lang="en-US" sz="1250" dirty="0"/>
          </a:p>
        </p:txBody>
      </p:sp>
      <p:sp>
        <p:nvSpPr>
          <p:cNvPr id="20" name="Shape 15"/>
          <p:cNvSpPr/>
          <p:nvPr/>
        </p:nvSpPr>
        <p:spPr>
          <a:xfrm>
            <a:off x="640080" y="5257800"/>
            <a:ext cx="10911535" cy="868680"/>
          </a:xfrm>
          <a:prstGeom prst="roundRect">
            <a:avLst>
              <a:gd name="adj" fmla="val 14737"/>
            </a:avLst>
          </a:prstGeom>
          <a:solidFill>
            <a:srgbClr val="331E11"/>
          </a:solidFill>
          <a:ln/>
        </p:spPr>
      </p:sp>
      <p:sp>
        <p:nvSpPr>
          <p:cNvPr id="21" name="Text 16"/>
          <p:cNvSpPr/>
          <p:nvPr/>
        </p:nvSpPr>
        <p:spPr>
          <a:xfrm>
            <a:off x="640080" y="5257800"/>
            <a:ext cx="10911535" cy="868680"/>
          </a:xfrm>
          <a:prstGeom prst="rect">
            <a:avLst/>
          </a:prstGeom>
          <a:noFill/>
          <a:ln/>
        </p:spPr>
        <p:txBody>
          <a:bodyPr wrap="square" lIns="0" tIns="0" rIns="0" bIns="0" rtlCol="0" anchor="ctr"/>
          <a:lstStyle/>
          <a:p>
            <a:pPr algn="ctr" indent="0" marL="0">
              <a:buNone/>
            </a:pPr>
            <a:r>
              <a:rPr lang="en-US" sz="1500" b="1" dirty="0">
                <a:solidFill>
                  <a:srgbClr val="FAF9F7"/>
                </a:solidFill>
                <a:latin typeface="Arial" pitchFamily="34" charset="0"/>
                <a:ea typeface="Arial" pitchFamily="34" charset="-122"/>
                <a:cs typeface="Arial" pitchFamily="34" charset="-120"/>
              </a:rPr>
              <a:t>Each of the three maps to one rebuild: V2 retrieves less, V3 hands off less, V4 routes cheaper.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31E11"/>
        </a:solidFill>
      </p:bgPr>
    </p:bg>
    <p:spTree>
      <p:nvGrpSpPr>
        <p:cNvPr id="1" name=""/>
        <p:cNvGrpSpPr/>
        <p:nvPr/>
      </p:nvGrpSpPr>
      <p:grpSpPr>
        <a:xfrm>
          <a:off x="0" y="0"/>
          <a:ext cx="0" cy="0"/>
          <a:chOff x="0" y="0"/>
          <a:chExt cx="0" cy="0"/>
        </a:xfrm>
      </p:grpSpPr>
      <p:pic>
        <p:nvPicPr>
          <p:cNvPr id="2" name="Image 0" descr="/home/claude/assets/contours.png">    </p:cNvPr>
          <p:cNvPicPr>
            <a:picLocks noChangeAspect="1"/>
          </p:cNvPicPr>
          <p:nvPr/>
        </p:nvPicPr>
        <p:blipFill>
          <a:blip r:embed="rId1">
            <a:alphaModFix amt="55000"/>
          </a:blip>
          <a:stretch>
            <a:fillRect/>
          </a:stretch>
        </p:blipFill>
        <p:spPr>
          <a:xfrm>
            <a:off x="0" y="2011680"/>
            <a:ext cx="12191695" cy="4846320"/>
          </a:xfrm>
          <a:prstGeom prst="rect">
            <a:avLst/>
          </a:prstGeom>
        </p:spPr>
      </p:pic>
      <p:sp>
        <p:nvSpPr>
          <p:cNvPr id="3" name="Text 0"/>
          <p:cNvSpPr/>
          <p:nvPr/>
        </p:nvSpPr>
        <p:spPr>
          <a:xfrm>
            <a:off x="640080" y="1965960"/>
            <a:ext cx="2743200" cy="1463040"/>
          </a:xfrm>
          <a:prstGeom prst="rect">
            <a:avLst/>
          </a:prstGeom>
          <a:noFill/>
          <a:ln/>
        </p:spPr>
        <p:txBody>
          <a:bodyPr wrap="square" lIns="0" tIns="0" rIns="0" bIns="0" rtlCol="0" anchor="ctr"/>
          <a:lstStyle/>
          <a:p>
            <a:pPr indent="0" marL="0">
              <a:buNone/>
            </a:pPr>
            <a:r>
              <a:rPr lang="en-US" sz="8800" b="1" dirty="0">
                <a:solidFill>
                  <a:srgbClr val="0054F0"/>
                </a:solidFill>
                <a:latin typeface="Arial" pitchFamily="34" charset="0"/>
                <a:ea typeface="Arial" pitchFamily="34" charset="-122"/>
                <a:cs typeface="Arial" pitchFamily="34" charset="-120"/>
              </a:rPr>
              <a:t>01</a:t>
            </a:r>
            <a:endParaRPr lang="en-US" sz="8800" dirty="0"/>
          </a:p>
        </p:txBody>
      </p:sp>
      <p:sp>
        <p:nvSpPr>
          <p:cNvPr id="4" name="Text 1"/>
          <p:cNvSpPr/>
          <p:nvPr/>
        </p:nvSpPr>
        <p:spPr>
          <a:xfrm>
            <a:off x="2788920" y="2148840"/>
            <a:ext cx="7772400" cy="822960"/>
          </a:xfrm>
          <a:prstGeom prst="rect">
            <a:avLst/>
          </a:prstGeom>
          <a:noFill/>
          <a:ln/>
        </p:spPr>
        <p:txBody>
          <a:bodyPr wrap="square" lIns="0" tIns="0" rIns="0" bIns="0" rtlCol="0" anchor="ctr"/>
          <a:lstStyle/>
          <a:p>
            <a:pPr indent="0" marL="0">
              <a:buNone/>
            </a:pPr>
            <a:r>
              <a:rPr lang="en-US" sz="4000" b="1" dirty="0">
                <a:solidFill>
                  <a:srgbClr val="FAF9F7"/>
                </a:solidFill>
                <a:latin typeface="Arial" pitchFamily="34" charset="0"/>
                <a:ea typeface="Arial" pitchFamily="34" charset="-122"/>
                <a:cs typeface="Arial" pitchFamily="34" charset="-120"/>
              </a:rPr>
              <a:t>The case</a:t>
            </a:r>
            <a:endParaRPr lang="en-US" sz="4000" dirty="0"/>
          </a:p>
        </p:txBody>
      </p:sp>
      <p:sp>
        <p:nvSpPr>
          <p:cNvPr id="5" name="Text 2"/>
          <p:cNvSpPr/>
          <p:nvPr/>
        </p:nvSpPr>
        <p:spPr>
          <a:xfrm>
            <a:off x="2852928" y="3017520"/>
            <a:ext cx="7772400" cy="457200"/>
          </a:xfrm>
          <a:prstGeom prst="rect">
            <a:avLst/>
          </a:prstGeom>
          <a:noFill/>
          <a:ln/>
        </p:spPr>
        <p:txBody>
          <a:bodyPr wrap="square" lIns="0" tIns="0" rIns="0" bIns="0" rtlCol="0" anchor="ctr"/>
          <a:lstStyle/>
          <a:p>
            <a:pPr indent="0" marL="0">
              <a:buNone/>
            </a:pPr>
            <a:r>
              <a:rPr lang="en-US" sz="1500" dirty="0">
                <a:solidFill>
                  <a:srgbClr val="E8E0D9"/>
                </a:solidFill>
                <a:latin typeface="Arial" pitchFamily="34" charset="0"/>
                <a:ea typeface="Arial" pitchFamily="34" charset="-122"/>
                <a:cs typeface="Arial" pitchFamily="34" charset="-120"/>
              </a:rPr>
              <a:t>NordicBike AB, ten support cases, and four ways to get them wrong.</a:t>
            </a:r>
            <a:endParaRPr lang="en-US" sz="1500" dirty="0"/>
          </a:p>
        </p:txBody>
      </p:sp>
      <p:sp>
        <p:nvSpPr>
          <p:cNvPr id="6" name="Shape 3"/>
          <p:cNvSpPr/>
          <p:nvPr/>
        </p:nvSpPr>
        <p:spPr>
          <a:xfrm>
            <a:off x="10088575" y="2286000"/>
            <a:ext cx="1051560" cy="1051560"/>
          </a:xfrm>
          <a:prstGeom prst="ellipse">
            <a:avLst/>
          </a:prstGeom>
          <a:solidFill>
            <a:srgbClr val="0054F0"/>
          </a:solidFill>
          <a:ln/>
        </p:spPr>
      </p:sp>
      <p:pic>
        <p:nvPicPr>
          <p:cNvPr id="7" name="Image 1" descr="/home/claude/assets/ic_pkg_pampas.png">    </p:cNvPr>
          <p:cNvPicPr>
            <a:picLocks noChangeAspect="1"/>
          </p:cNvPicPr>
          <p:nvPr/>
        </p:nvPicPr>
        <p:blipFill>
          <a:blip r:embed="rId2"/>
          <a:stretch>
            <a:fillRect/>
          </a:stretch>
        </p:blipFill>
        <p:spPr>
          <a:xfrm>
            <a:off x="10361981" y="2559406"/>
            <a:ext cx="504749" cy="5047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7</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THE CLIENT</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NordicBike AB</a:t>
            </a:r>
            <a:endParaRPr lang="en-US" sz="3600" dirty="0"/>
          </a:p>
        </p:txBody>
      </p:sp>
      <p:sp>
        <p:nvSpPr>
          <p:cNvPr id="5" name="Shape 3"/>
          <p:cNvSpPr/>
          <p:nvPr/>
        </p:nvSpPr>
        <p:spPr>
          <a:xfrm>
            <a:off x="640080" y="2057400"/>
            <a:ext cx="548640" cy="548640"/>
          </a:xfrm>
          <a:prstGeom prst="ellipse">
            <a:avLst/>
          </a:prstGeom>
          <a:solidFill>
            <a:srgbClr val="0054F0"/>
          </a:solidFill>
          <a:ln/>
        </p:spPr>
      </p:sp>
      <p:pic>
        <p:nvPicPr>
          <p:cNvPr id="6" name="Image 0" descr="/home/claude/assets/ic_clock_pampas.png">    </p:cNvPr>
          <p:cNvPicPr>
            <a:picLocks noChangeAspect="1"/>
          </p:cNvPicPr>
          <p:nvPr/>
        </p:nvPicPr>
        <p:blipFill>
          <a:blip r:embed="rId1"/>
          <a:stretch>
            <a:fillRect/>
          </a:stretch>
        </p:blipFill>
        <p:spPr>
          <a:xfrm>
            <a:off x="782726" y="2200046"/>
            <a:ext cx="263347" cy="263347"/>
          </a:xfrm>
          <a:prstGeom prst="rect">
            <a:avLst/>
          </a:prstGeom>
        </p:spPr>
      </p:pic>
      <p:sp>
        <p:nvSpPr>
          <p:cNvPr id="7" name="Text 4"/>
          <p:cNvSpPr/>
          <p:nvPr/>
        </p:nvSpPr>
        <p:spPr>
          <a:xfrm>
            <a:off x="1426464" y="2039112"/>
            <a:ext cx="4754880" cy="347472"/>
          </a:xfrm>
          <a:prstGeom prst="rect">
            <a:avLst/>
          </a:prstGeom>
          <a:noFill/>
          <a:ln/>
        </p:spPr>
        <p:txBody>
          <a:bodyPr wrap="square" lIns="0" tIns="0" rIns="0" bIns="0" rtlCol="0" anchor="ctr"/>
          <a:lstStyle/>
          <a:p>
            <a:pPr indent="0" marL="0">
              <a:buNone/>
            </a:pPr>
            <a:r>
              <a:rPr lang="en-US" sz="1600" b="1" dirty="0">
                <a:solidFill>
                  <a:srgbClr val="331E11"/>
                </a:solidFill>
                <a:latin typeface="Arial" pitchFamily="34" charset="0"/>
                <a:ea typeface="Arial" pitchFamily="34" charset="-122"/>
                <a:cs typeface="Arial" pitchFamily="34" charset="-120"/>
              </a:rPr>
              <a:t>Founded 2019</a:t>
            </a:r>
            <a:endParaRPr lang="en-US" sz="1600" dirty="0"/>
          </a:p>
        </p:txBody>
      </p:sp>
      <p:sp>
        <p:nvSpPr>
          <p:cNvPr id="8" name="Text 5"/>
          <p:cNvSpPr/>
          <p:nvPr/>
        </p:nvSpPr>
        <p:spPr>
          <a:xfrm>
            <a:off x="1426464" y="2404872"/>
            <a:ext cx="4846320" cy="603504"/>
          </a:xfrm>
          <a:prstGeom prst="rect">
            <a:avLst/>
          </a:prstGeom>
          <a:noFill/>
          <a:ln/>
        </p:spPr>
        <p:txBody>
          <a:bodyPr wrap="square" lIns="0" tIns="0" rIns="0" bIns="0" rtlCol="0" anchor="ctr"/>
          <a:lstStyle/>
          <a:p>
            <a:pPr indent="0" marL="0">
              <a:lnSpc>
                <a:spcPts val="1600"/>
              </a:lnSpc>
              <a:buNone/>
            </a:pPr>
            <a:r>
              <a:rPr lang="en-US" sz="1250" dirty="0">
                <a:solidFill>
                  <a:srgbClr val="7A6B60"/>
                </a:solidFill>
                <a:latin typeface="Arial" pitchFamily="34" charset="0"/>
                <a:ea typeface="Arial" pitchFamily="34" charset="-122"/>
                <a:cs typeface="Arial" pitchFamily="34" charset="-120"/>
              </a:rPr>
              <a:t>Young enough that policies have already been rewritten once.</a:t>
            </a:r>
            <a:endParaRPr lang="en-US" sz="1250" dirty="0"/>
          </a:p>
        </p:txBody>
      </p:sp>
      <p:sp>
        <p:nvSpPr>
          <p:cNvPr id="9" name="Shape 6"/>
          <p:cNvSpPr/>
          <p:nvPr/>
        </p:nvSpPr>
        <p:spPr>
          <a:xfrm>
            <a:off x="640080" y="3246120"/>
            <a:ext cx="548640" cy="548640"/>
          </a:xfrm>
          <a:prstGeom prst="ellipse">
            <a:avLst/>
          </a:prstGeom>
          <a:solidFill>
            <a:srgbClr val="0054F0"/>
          </a:solidFill>
          <a:ln/>
        </p:spPr>
      </p:sp>
      <p:pic>
        <p:nvPicPr>
          <p:cNvPr id="10" name="Image 1" descr="/home/claude/assets/ic_users_pampas.png">    </p:cNvPr>
          <p:cNvPicPr>
            <a:picLocks noChangeAspect="1"/>
          </p:cNvPicPr>
          <p:nvPr/>
        </p:nvPicPr>
        <p:blipFill>
          <a:blip r:embed="rId2"/>
          <a:stretch>
            <a:fillRect/>
          </a:stretch>
        </p:blipFill>
        <p:spPr>
          <a:xfrm>
            <a:off x="782726" y="3388766"/>
            <a:ext cx="263347" cy="263347"/>
          </a:xfrm>
          <a:prstGeom prst="rect">
            <a:avLst/>
          </a:prstGeom>
        </p:spPr>
      </p:pic>
      <p:sp>
        <p:nvSpPr>
          <p:cNvPr id="11" name="Text 7"/>
          <p:cNvSpPr/>
          <p:nvPr/>
        </p:nvSpPr>
        <p:spPr>
          <a:xfrm>
            <a:off x="1426464" y="3227832"/>
            <a:ext cx="4754880" cy="347472"/>
          </a:xfrm>
          <a:prstGeom prst="rect">
            <a:avLst/>
          </a:prstGeom>
          <a:noFill/>
          <a:ln/>
        </p:spPr>
        <p:txBody>
          <a:bodyPr wrap="square" lIns="0" tIns="0" rIns="0" bIns="0" rtlCol="0" anchor="ctr"/>
          <a:lstStyle/>
          <a:p>
            <a:pPr indent="0" marL="0">
              <a:buNone/>
            </a:pPr>
            <a:r>
              <a:rPr lang="en-US" sz="1600" b="1" dirty="0">
                <a:solidFill>
                  <a:srgbClr val="331E11"/>
                </a:solidFill>
                <a:latin typeface="Arial" pitchFamily="34" charset="0"/>
                <a:ea typeface="Arial" pitchFamily="34" charset="-122"/>
                <a:cs typeface="Arial" pitchFamily="34" charset="-120"/>
              </a:rPr>
              <a:t>~85 employees</a:t>
            </a:r>
            <a:endParaRPr lang="en-US" sz="1600" dirty="0"/>
          </a:p>
        </p:txBody>
      </p:sp>
      <p:sp>
        <p:nvSpPr>
          <p:cNvPr id="12" name="Text 8"/>
          <p:cNvSpPr/>
          <p:nvPr/>
        </p:nvSpPr>
        <p:spPr>
          <a:xfrm>
            <a:off x="1426464" y="3593592"/>
            <a:ext cx="4846320" cy="603504"/>
          </a:xfrm>
          <a:prstGeom prst="rect">
            <a:avLst/>
          </a:prstGeom>
          <a:noFill/>
          <a:ln/>
        </p:spPr>
        <p:txBody>
          <a:bodyPr wrap="square" lIns="0" tIns="0" rIns="0" bIns="0" rtlCol="0" anchor="ctr"/>
          <a:lstStyle/>
          <a:p>
            <a:pPr indent="0" marL="0">
              <a:lnSpc>
                <a:spcPts val="1600"/>
              </a:lnSpc>
              <a:buNone/>
            </a:pPr>
            <a:r>
              <a:rPr lang="en-US" sz="1250" dirty="0">
                <a:solidFill>
                  <a:srgbClr val="7A6B60"/>
                </a:solidFill>
                <a:latin typeface="Arial" pitchFamily="34" charset="0"/>
                <a:ea typeface="Arial" pitchFamily="34" charset="-122"/>
                <a:cs typeface="Arial" pitchFamily="34" charset="-120"/>
              </a:rPr>
              <a:t>Small support team. No capacity to absorb a bad automation.</a:t>
            </a:r>
            <a:endParaRPr lang="en-US" sz="1250" dirty="0"/>
          </a:p>
        </p:txBody>
      </p:sp>
      <p:sp>
        <p:nvSpPr>
          <p:cNvPr id="13" name="Shape 9"/>
          <p:cNvSpPr/>
          <p:nvPr/>
        </p:nvSpPr>
        <p:spPr>
          <a:xfrm>
            <a:off x="640080" y="4434840"/>
            <a:ext cx="548640" cy="548640"/>
          </a:xfrm>
          <a:prstGeom prst="ellipse">
            <a:avLst/>
          </a:prstGeom>
          <a:solidFill>
            <a:srgbClr val="0054F0"/>
          </a:solidFill>
          <a:ln/>
        </p:spPr>
      </p:sp>
      <p:pic>
        <p:nvPicPr>
          <p:cNvPr id="14" name="Image 2" descr="/home/claude/assets/ic_mappin_pampas.png">    </p:cNvPr>
          <p:cNvPicPr>
            <a:picLocks noChangeAspect="1"/>
          </p:cNvPicPr>
          <p:nvPr/>
        </p:nvPicPr>
        <p:blipFill>
          <a:blip r:embed="rId3"/>
          <a:stretch>
            <a:fillRect/>
          </a:stretch>
        </p:blipFill>
        <p:spPr>
          <a:xfrm>
            <a:off x="782726" y="4577486"/>
            <a:ext cx="263347" cy="263347"/>
          </a:xfrm>
          <a:prstGeom prst="rect">
            <a:avLst/>
          </a:prstGeom>
        </p:spPr>
      </p:pic>
      <p:sp>
        <p:nvSpPr>
          <p:cNvPr id="15" name="Text 10"/>
          <p:cNvSpPr/>
          <p:nvPr/>
        </p:nvSpPr>
        <p:spPr>
          <a:xfrm>
            <a:off x="1426464" y="4416552"/>
            <a:ext cx="4754880" cy="347472"/>
          </a:xfrm>
          <a:prstGeom prst="rect">
            <a:avLst/>
          </a:prstGeom>
          <a:noFill/>
          <a:ln/>
        </p:spPr>
        <p:txBody>
          <a:bodyPr wrap="square" lIns="0" tIns="0" rIns="0" bIns="0" rtlCol="0" anchor="ctr"/>
          <a:lstStyle/>
          <a:p>
            <a:pPr indent="0" marL="0">
              <a:buNone/>
            </a:pPr>
            <a:r>
              <a:rPr lang="en-US" sz="1600" b="1" dirty="0">
                <a:solidFill>
                  <a:srgbClr val="331E11"/>
                </a:solidFill>
                <a:latin typeface="Arial" pitchFamily="34" charset="0"/>
                <a:ea typeface="Arial" pitchFamily="34" charset="-122"/>
                <a:cs typeface="Arial" pitchFamily="34" charset="-120"/>
              </a:rPr>
              <a:t>Stockholm HQ</a:t>
            </a:r>
            <a:endParaRPr lang="en-US" sz="1600" dirty="0"/>
          </a:p>
        </p:txBody>
      </p:sp>
      <p:sp>
        <p:nvSpPr>
          <p:cNvPr id="16" name="Text 11"/>
          <p:cNvSpPr/>
          <p:nvPr/>
        </p:nvSpPr>
        <p:spPr>
          <a:xfrm>
            <a:off x="1426464" y="4782312"/>
            <a:ext cx="4846320" cy="603504"/>
          </a:xfrm>
          <a:prstGeom prst="rect">
            <a:avLst/>
          </a:prstGeom>
          <a:noFill/>
          <a:ln/>
        </p:spPr>
        <p:txBody>
          <a:bodyPr wrap="square" lIns="0" tIns="0" rIns="0" bIns="0" rtlCol="0" anchor="ctr"/>
          <a:lstStyle/>
          <a:p>
            <a:pPr indent="0" marL="0">
              <a:lnSpc>
                <a:spcPts val="1600"/>
              </a:lnSpc>
              <a:buNone/>
            </a:pPr>
            <a:r>
              <a:rPr lang="en-US" sz="1250" dirty="0">
                <a:solidFill>
                  <a:srgbClr val="7A6B60"/>
                </a:solidFill>
                <a:latin typeface="Arial" pitchFamily="34" charset="0"/>
                <a:ea typeface="Arial" pitchFamily="34" charset="-122"/>
                <a:cs typeface="Arial" pitchFamily="34" charset="-120"/>
              </a:rPr>
              <a:t>Online store plus service centres in Stockholm, Gothenburg and Malmö.</a:t>
            </a:r>
            <a:endParaRPr lang="en-US" sz="1250" dirty="0"/>
          </a:p>
        </p:txBody>
      </p:sp>
      <p:sp>
        <p:nvSpPr>
          <p:cNvPr id="17" name="Shape 12"/>
          <p:cNvSpPr/>
          <p:nvPr/>
        </p:nvSpPr>
        <p:spPr>
          <a:xfrm>
            <a:off x="6537960" y="1920240"/>
            <a:ext cx="5010912" cy="3840480"/>
          </a:xfrm>
          <a:prstGeom prst="roundRect">
            <a:avLst>
              <a:gd name="adj" fmla="val 3333"/>
            </a:avLst>
          </a:prstGeom>
          <a:solidFill>
            <a:srgbClr val="331E11"/>
          </a:solidFill>
          <a:ln/>
        </p:spPr>
      </p:sp>
      <p:sp>
        <p:nvSpPr>
          <p:cNvPr id="18" name="Text 13"/>
          <p:cNvSpPr/>
          <p:nvPr/>
        </p:nvSpPr>
        <p:spPr>
          <a:xfrm>
            <a:off x="6949440" y="2240280"/>
            <a:ext cx="4206240" cy="365760"/>
          </a:xfrm>
          <a:prstGeom prst="rect">
            <a:avLst/>
          </a:prstGeom>
          <a:noFill/>
          <a:ln/>
        </p:spPr>
        <p:txBody>
          <a:bodyPr wrap="square" lIns="0" tIns="0" rIns="0" bIns="0" rtlCol="0" anchor="ctr"/>
          <a:lstStyle/>
          <a:p>
            <a:pPr indent="0" marL="0">
              <a:buNone/>
            </a:pPr>
            <a:r>
              <a:rPr lang="en-US" sz="1700" b="1" dirty="0">
                <a:solidFill>
                  <a:srgbClr val="D6E3FF"/>
                </a:solidFill>
                <a:latin typeface="Arial" pitchFamily="34" charset="0"/>
                <a:ea typeface="Arial" pitchFamily="34" charset="-122"/>
                <a:cs typeface="Arial" pitchFamily="34" charset="-120"/>
              </a:rPr>
              <a:t>Your brief</a:t>
            </a:r>
            <a:endParaRPr lang="en-US" sz="1700" dirty="0"/>
          </a:p>
        </p:txBody>
      </p:sp>
      <p:sp>
        <p:nvSpPr>
          <p:cNvPr id="19" name="Text 14"/>
          <p:cNvSpPr/>
          <p:nvPr/>
        </p:nvSpPr>
        <p:spPr>
          <a:xfrm>
            <a:off x="6949440" y="2743200"/>
            <a:ext cx="4206240" cy="1737360"/>
          </a:xfrm>
          <a:prstGeom prst="rect">
            <a:avLst/>
          </a:prstGeom>
          <a:noFill/>
          <a:ln/>
        </p:spPr>
        <p:txBody>
          <a:bodyPr wrap="square" lIns="0" tIns="0" rIns="0" bIns="0" rtlCol="0" anchor="ctr"/>
          <a:lstStyle/>
          <a:p>
            <a:pPr indent="0" marL="0">
              <a:lnSpc>
                <a:spcPts val="2100"/>
              </a:lnSpc>
              <a:buNone/>
            </a:pPr>
            <a:r>
              <a:rPr lang="en-US" sz="1400" dirty="0">
                <a:solidFill>
                  <a:srgbClr val="E8E0D9"/>
                </a:solidFill>
                <a:latin typeface="Arial" pitchFamily="34" charset="0"/>
                <a:ea typeface="Arial" pitchFamily="34" charset="-122"/>
                <a:cs typeface="Arial" pitchFamily="34" charset="-120"/>
              </a:rPr>
              <a:t>Build the support agent that answers warranty, returns and shipping questions — correctly enough that a support lead would let it near a customer, and cheaply enough that finance would let it run.</a:t>
            </a:r>
            <a:endParaRPr lang="en-US" sz="1400" dirty="0"/>
          </a:p>
        </p:txBody>
      </p:sp>
      <p:sp>
        <p:nvSpPr>
          <p:cNvPr id="20" name="Shape 15"/>
          <p:cNvSpPr/>
          <p:nvPr/>
        </p:nvSpPr>
        <p:spPr>
          <a:xfrm>
            <a:off x="6949440" y="4572000"/>
            <a:ext cx="1005840" cy="32004"/>
          </a:xfrm>
          <a:prstGeom prst="rect">
            <a:avLst/>
          </a:prstGeom>
          <a:solidFill>
            <a:srgbClr val="0054F0"/>
          </a:solidFill>
          <a:ln/>
        </p:spPr>
      </p:sp>
      <p:sp>
        <p:nvSpPr>
          <p:cNvPr id="21" name="Text 16"/>
          <p:cNvSpPr/>
          <p:nvPr/>
        </p:nvSpPr>
        <p:spPr>
          <a:xfrm>
            <a:off x="6949440" y="4800600"/>
            <a:ext cx="4206240" cy="731520"/>
          </a:xfrm>
          <a:prstGeom prst="rect">
            <a:avLst/>
          </a:prstGeom>
          <a:noFill/>
          <a:ln/>
        </p:spPr>
        <p:txBody>
          <a:bodyPr wrap="square" lIns="0" tIns="0" rIns="0" bIns="0" rtlCol="0" anchor="ctr"/>
          <a:lstStyle/>
          <a:p>
            <a:pPr indent="0" marL="0">
              <a:lnSpc>
                <a:spcPts val="1700"/>
              </a:lnSpc>
              <a:buNone/>
            </a:pPr>
            <a:r>
              <a:rPr lang="en-US" sz="1250" i="1" dirty="0">
                <a:solidFill>
                  <a:srgbClr val="D6E3FF"/>
                </a:solidFill>
                <a:latin typeface="Arial" pitchFamily="34" charset="0"/>
                <a:ea typeface="Arial" pitchFamily="34" charset="-122"/>
                <a:cs typeface="Arial" pitchFamily="34" charset="-120"/>
              </a:rPr>
              <a:t>Both constraints are real. Only satisfying one of them is failure.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0D9"/>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8</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WHAT YOU ARE SUPPORTING</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Three bikes, two batteries, ten cases</a:t>
            </a:r>
            <a:endParaRPr lang="en-US" sz="3600" dirty="0"/>
          </a:p>
        </p:txBody>
      </p:sp>
      <p:sp>
        <p:nvSpPr>
          <p:cNvPr id="5" name="Shape 3"/>
          <p:cNvSpPr/>
          <p:nvPr/>
        </p:nvSpPr>
        <p:spPr>
          <a:xfrm>
            <a:off x="640080" y="1965960"/>
            <a:ext cx="2304288" cy="1600200"/>
          </a:xfrm>
          <a:prstGeom prst="roundRect">
            <a:avLst>
              <a:gd name="adj" fmla="val 8000"/>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6" name="Text 4"/>
          <p:cNvSpPr/>
          <p:nvPr/>
        </p:nvSpPr>
        <p:spPr>
          <a:xfrm>
            <a:off x="896112" y="2176272"/>
            <a:ext cx="1828800" cy="274320"/>
          </a:xfrm>
          <a:prstGeom prst="rect">
            <a:avLst/>
          </a:prstGeom>
          <a:noFill/>
          <a:ln/>
        </p:spPr>
        <p:txBody>
          <a:bodyPr wrap="square" lIns="0" tIns="0" rIns="0" bIns="0" rtlCol="0" anchor="ctr"/>
          <a:lstStyle/>
          <a:p>
            <a:pPr indent="0" marL="0">
              <a:buNone/>
            </a:pPr>
            <a:r>
              <a:rPr lang="en-US" sz="1050" b="1" dirty="0">
                <a:solidFill>
                  <a:srgbClr val="0054F0"/>
                </a:solidFill>
                <a:latin typeface="Courier New" pitchFamily="34" charset="0"/>
                <a:ea typeface="Courier New" pitchFamily="34" charset="-122"/>
                <a:cs typeface="Courier New" pitchFamily="34" charset="-120"/>
              </a:rPr>
              <a:t>AX3</a:t>
            </a:r>
            <a:endParaRPr lang="en-US" sz="1050" dirty="0"/>
          </a:p>
        </p:txBody>
      </p:sp>
      <p:sp>
        <p:nvSpPr>
          <p:cNvPr id="7" name="Text 5"/>
          <p:cNvSpPr/>
          <p:nvPr/>
        </p:nvSpPr>
        <p:spPr>
          <a:xfrm>
            <a:off x="896112" y="2487168"/>
            <a:ext cx="1828800" cy="365760"/>
          </a:xfrm>
          <a:prstGeom prst="rect">
            <a:avLst/>
          </a:prstGeom>
          <a:noFill/>
          <a:ln/>
        </p:spPr>
        <p:txBody>
          <a:bodyPr wrap="square" lIns="0" tIns="0" rIns="0" bIns="0" rtlCol="0" anchor="ctr"/>
          <a:lstStyle/>
          <a:p>
            <a:pPr indent="0" marL="0">
              <a:buNone/>
            </a:pPr>
            <a:r>
              <a:rPr lang="en-US" sz="1500" b="1" dirty="0">
                <a:solidFill>
                  <a:srgbClr val="331E11"/>
                </a:solidFill>
                <a:latin typeface="Arial" pitchFamily="34" charset="0"/>
                <a:ea typeface="Arial" pitchFamily="34" charset="-122"/>
                <a:cs typeface="Arial" pitchFamily="34" charset="-120"/>
              </a:rPr>
              <a:t>Aurora X3</a:t>
            </a:r>
            <a:endParaRPr lang="en-US" sz="1500" dirty="0"/>
          </a:p>
        </p:txBody>
      </p:sp>
      <p:sp>
        <p:nvSpPr>
          <p:cNvPr id="8" name="Text 6"/>
          <p:cNvSpPr/>
          <p:nvPr/>
        </p:nvSpPr>
        <p:spPr>
          <a:xfrm>
            <a:off x="896112" y="2889504"/>
            <a:ext cx="1828800" cy="365760"/>
          </a:xfrm>
          <a:prstGeom prst="rect">
            <a:avLst/>
          </a:prstGeom>
          <a:noFill/>
          <a:ln/>
        </p:spPr>
        <p:txBody>
          <a:bodyPr wrap="square" lIns="0" tIns="0" rIns="0" bIns="0" rtlCol="0" anchor="ctr"/>
          <a:lstStyle/>
          <a:p>
            <a:pPr indent="0" marL="0">
              <a:buNone/>
            </a:pPr>
            <a:r>
              <a:rPr lang="en-US" sz="1300" dirty="0">
                <a:solidFill>
                  <a:srgbClr val="7A6B60"/>
                </a:solidFill>
                <a:latin typeface="Arial" pitchFamily="34" charset="0"/>
                <a:ea typeface="Arial" pitchFamily="34" charset="-122"/>
                <a:cs typeface="Arial" pitchFamily="34" charset="-120"/>
              </a:rPr>
              <a:t>34,900 SEK</a:t>
            </a:r>
            <a:endParaRPr lang="en-US" sz="1300" dirty="0"/>
          </a:p>
        </p:txBody>
      </p:sp>
      <p:sp>
        <p:nvSpPr>
          <p:cNvPr id="9" name="Shape 7"/>
          <p:cNvSpPr/>
          <p:nvPr/>
        </p:nvSpPr>
        <p:spPr>
          <a:xfrm>
            <a:off x="3127248" y="1965960"/>
            <a:ext cx="2304288" cy="1600200"/>
          </a:xfrm>
          <a:prstGeom prst="roundRect">
            <a:avLst>
              <a:gd name="adj" fmla="val 8000"/>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0" name="Text 8"/>
          <p:cNvSpPr/>
          <p:nvPr/>
        </p:nvSpPr>
        <p:spPr>
          <a:xfrm>
            <a:off x="3383280" y="2176272"/>
            <a:ext cx="1828800" cy="274320"/>
          </a:xfrm>
          <a:prstGeom prst="rect">
            <a:avLst/>
          </a:prstGeom>
          <a:noFill/>
          <a:ln/>
        </p:spPr>
        <p:txBody>
          <a:bodyPr wrap="square" lIns="0" tIns="0" rIns="0" bIns="0" rtlCol="0" anchor="ctr"/>
          <a:lstStyle/>
          <a:p>
            <a:pPr indent="0" marL="0">
              <a:buNone/>
            </a:pPr>
            <a:r>
              <a:rPr lang="en-US" sz="1050" b="1" dirty="0">
                <a:solidFill>
                  <a:srgbClr val="0054F0"/>
                </a:solidFill>
                <a:latin typeface="Courier New" pitchFamily="34" charset="0"/>
                <a:ea typeface="Courier New" pitchFamily="34" charset="-122"/>
                <a:cs typeface="Courier New" pitchFamily="34" charset="-120"/>
              </a:rPr>
              <a:t>FJC</a:t>
            </a:r>
            <a:endParaRPr lang="en-US" sz="1050" dirty="0"/>
          </a:p>
        </p:txBody>
      </p:sp>
      <p:sp>
        <p:nvSpPr>
          <p:cNvPr id="11" name="Text 9"/>
          <p:cNvSpPr/>
          <p:nvPr/>
        </p:nvSpPr>
        <p:spPr>
          <a:xfrm>
            <a:off x="3383280" y="2487168"/>
            <a:ext cx="1828800" cy="365760"/>
          </a:xfrm>
          <a:prstGeom prst="rect">
            <a:avLst/>
          </a:prstGeom>
          <a:noFill/>
          <a:ln/>
        </p:spPr>
        <p:txBody>
          <a:bodyPr wrap="square" lIns="0" tIns="0" rIns="0" bIns="0" rtlCol="0" anchor="ctr"/>
          <a:lstStyle/>
          <a:p>
            <a:pPr indent="0" marL="0">
              <a:buNone/>
            </a:pPr>
            <a:r>
              <a:rPr lang="en-US" sz="1500" b="1" dirty="0">
                <a:solidFill>
                  <a:srgbClr val="331E11"/>
                </a:solidFill>
                <a:latin typeface="Arial" pitchFamily="34" charset="0"/>
                <a:ea typeface="Arial" pitchFamily="34" charset="-122"/>
                <a:cs typeface="Arial" pitchFamily="34" charset="-120"/>
              </a:rPr>
              <a:t>Fjord Cargo</a:t>
            </a:r>
            <a:endParaRPr lang="en-US" sz="1500" dirty="0"/>
          </a:p>
        </p:txBody>
      </p:sp>
      <p:sp>
        <p:nvSpPr>
          <p:cNvPr id="12" name="Text 10"/>
          <p:cNvSpPr/>
          <p:nvPr/>
        </p:nvSpPr>
        <p:spPr>
          <a:xfrm>
            <a:off x="3383280" y="2889504"/>
            <a:ext cx="1828800" cy="365760"/>
          </a:xfrm>
          <a:prstGeom prst="rect">
            <a:avLst/>
          </a:prstGeom>
          <a:noFill/>
          <a:ln/>
        </p:spPr>
        <p:txBody>
          <a:bodyPr wrap="square" lIns="0" tIns="0" rIns="0" bIns="0" rtlCol="0" anchor="ctr"/>
          <a:lstStyle/>
          <a:p>
            <a:pPr indent="0" marL="0">
              <a:buNone/>
            </a:pPr>
            <a:r>
              <a:rPr lang="en-US" sz="1300" dirty="0">
                <a:solidFill>
                  <a:srgbClr val="7A6B60"/>
                </a:solidFill>
                <a:latin typeface="Arial" pitchFamily="34" charset="0"/>
                <a:ea typeface="Arial" pitchFamily="34" charset="-122"/>
                <a:cs typeface="Arial" pitchFamily="34" charset="-120"/>
              </a:rPr>
              <a:t>44,900 SEK</a:t>
            </a:r>
            <a:endParaRPr lang="en-US" sz="1300" dirty="0"/>
          </a:p>
        </p:txBody>
      </p:sp>
      <p:sp>
        <p:nvSpPr>
          <p:cNvPr id="13" name="Shape 11"/>
          <p:cNvSpPr/>
          <p:nvPr/>
        </p:nvSpPr>
        <p:spPr>
          <a:xfrm>
            <a:off x="5614416" y="1965960"/>
            <a:ext cx="2304288" cy="1600200"/>
          </a:xfrm>
          <a:prstGeom prst="roundRect">
            <a:avLst>
              <a:gd name="adj" fmla="val 8000"/>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4" name="Text 12"/>
          <p:cNvSpPr/>
          <p:nvPr/>
        </p:nvSpPr>
        <p:spPr>
          <a:xfrm>
            <a:off x="5870448" y="2176272"/>
            <a:ext cx="1828800" cy="274320"/>
          </a:xfrm>
          <a:prstGeom prst="rect">
            <a:avLst/>
          </a:prstGeom>
          <a:noFill/>
          <a:ln/>
        </p:spPr>
        <p:txBody>
          <a:bodyPr wrap="square" lIns="0" tIns="0" rIns="0" bIns="0" rtlCol="0" anchor="ctr"/>
          <a:lstStyle/>
          <a:p>
            <a:pPr indent="0" marL="0">
              <a:buNone/>
            </a:pPr>
            <a:r>
              <a:rPr lang="en-US" sz="1050" b="1" dirty="0">
                <a:solidFill>
                  <a:srgbClr val="0054F0"/>
                </a:solidFill>
                <a:latin typeface="Courier New" pitchFamily="34" charset="0"/>
                <a:ea typeface="Courier New" pitchFamily="34" charset="-122"/>
                <a:cs typeface="Courier New" pitchFamily="34" charset="-120"/>
              </a:rPr>
              <a:t>VPR</a:t>
            </a:r>
            <a:endParaRPr lang="en-US" sz="1050" dirty="0"/>
          </a:p>
        </p:txBody>
      </p:sp>
      <p:sp>
        <p:nvSpPr>
          <p:cNvPr id="15" name="Text 13"/>
          <p:cNvSpPr/>
          <p:nvPr/>
        </p:nvSpPr>
        <p:spPr>
          <a:xfrm>
            <a:off x="5870448" y="2487168"/>
            <a:ext cx="1828800" cy="365760"/>
          </a:xfrm>
          <a:prstGeom prst="rect">
            <a:avLst/>
          </a:prstGeom>
          <a:noFill/>
          <a:ln/>
        </p:spPr>
        <p:txBody>
          <a:bodyPr wrap="square" lIns="0" tIns="0" rIns="0" bIns="0" rtlCol="0" anchor="ctr"/>
          <a:lstStyle/>
          <a:p>
            <a:pPr indent="0" marL="0">
              <a:buNone/>
            </a:pPr>
            <a:r>
              <a:rPr lang="en-US" sz="1500" b="1" dirty="0">
                <a:solidFill>
                  <a:srgbClr val="331E11"/>
                </a:solidFill>
                <a:latin typeface="Arial" pitchFamily="34" charset="0"/>
                <a:ea typeface="Arial" pitchFamily="34" charset="-122"/>
                <a:cs typeface="Arial" pitchFamily="34" charset="-120"/>
              </a:rPr>
              <a:t>Vinter Pro</a:t>
            </a:r>
            <a:endParaRPr lang="en-US" sz="1500" dirty="0"/>
          </a:p>
        </p:txBody>
      </p:sp>
      <p:sp>
        <p:nvSpPr>
          <p:cNvPr id="16" name="Text 14"/>
          <p:cNvSpPr/>
          <p:nvPr/>
        </p:nvSpPr>
        <p:spPr>
          <a:xfrm>
            <a:off x="5870448" y="2889504"/>
            <a:ext cx="1828800" cy="365760"/>
          </a:xfrm>
          <a:prstGeom prst="rect">
            <a:avLst/>
          </a:prstGeom>
          <a:noFill/>
          <a:ln/>
        </p:spPr>
        <p:txBody>
          <a:bodyPr wrap="square" lIns="0" tIns="0" rIns="0" bIns="0" rtlCol="0" anchor="ctr"/>
          <a:lstStyle/>
          <a:p>
            <a:pPr indent="0" marL="0">
              <a:buNone/>
            </a:pPr>
            <a:r>
              <a:rPr lang="en-US" sz="1300" dirty="0">
                <a:solidFill>
                  <a:srgbClr val="7A6B60"/>
                </a:solidFill>
                <a:latin typeface="Arial" pitchFamily="34" charset="0"/>
                <a:ea typeface="Arial" pitchFamily="34" charset="-122"/>
                <a:cs typeface="Arial" pitchFamily="34" charset="-120"/>
              </a:rPr>
              <a:t>37,900 SEK</a:t>
            </a:r>
            <a:endParaRPr lang="en-US" sz="1300" dirty="0"/>
          </a:p>
        </p:txBody>
      </p:sp>
      <p:sp>
        <p:nvSpPr>
          <p:cNvPr id="17" name="Shape 15"/>
          <p:cNvSpPr/>
          <p:nvPr/>
        </p:nvSpPr>
        <p:spPr>
          <a:xfrm>
            <a:off x="640080" y="3749040"/>
            <a:ext cx="7095744" cy="1234440"/>
          </a:xfrm>
          <a:prstGeom prst="roundRect">
            <a:avLst>
              <a:gd name="adj" fmla="val 10370"/>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8" name="Shape 16"/>
          <p:cNvSpPr/>
          <p:nvPr/>
        </p:nvSpPr>
        <p:spPr>
          <a:xfrm>
            <a:off x="932688" y="4041648"/>
            <a:ext cx="548640" cy="548640"/>
          </a:xfrm>
          <a:prstGeom prst="ellipse">
            <a:avLst/>
          </a:prstGeom>
          <a:solidFill>
            <a:srgbClr val="0054F0"/>
          </a:solidFill>
          <a:ln/>
        </p:spPr>
      </p:sp>
      <p:pic>
        <p:nvPicPr>
          <p:cNvPr id="19" name="Image 0" descr="/home/claude/assets/ic_box_pampas.png">    </p:cNvPr>
          <p:cNvPicPr>
            <a:picLocks noChangeAspect="1"/>
          </p:cNvPicPr>
          <p:nvPr/>
        </p:nvPicPr>
        <p:blipFill>
          <a:blip r:embed="rId1"/>
          <a:stretch>
            <a:fillRect/>
          </a:stretch>
        </p:blipFill>
        <p:spPr>
          <a:xfrm>
            <a:off x="1075334" y="4184294"/>
            <a:ext cx="263347" cy="263347"/>
          </a:xfrm>
          <a:prstGeom prst="rect">
            <a:avLst/>
          </a:prstGeom>
        </p:spPr>
      </p:pic>
      <p:sp>
        <p:nvSpPr>
          <p:cNvPr id="20" name="Text 17"/>
          <p:cNvSpPr/>
          <p:nvPr/>
        </p:nvSpPr>
        <p:spPr>
          <a:xfrm>
            <a:off x="1645920" y="3749040"/>
            <a:ext cx="5852160" cy="1234440"/>
          </a:xfrm>
          <a:prstGeom prst="rect">
            <a:avLst/>
          </a:prstGeom>
          <a:noFill/>
          <a:ln/>
        </p:spPr>
        <p:txBody>
          <a:bodyPr wrap="square" lIns="0" tIns="0" rIns="0" bIns="0" rtlCol="0" anchor="ctr"/>
          <a:lstStyle/>
          <a:p>
            <a:pPr indent="0" marL="0">
              <a:buNone/>
            </a:pPr>
            <a:r>
              <a:rPr lang="en-US" sz="1500" b="1" dirty="0">
                <a:solidFill>
                  <a:srgbClr val="331E11"/>
                </a:solidFill>
                <a:latin typeface="Arial" pitchFamily="34" charset="0"/>
                <a:ea typeface="Arial" pitchFamily="34" charset="-122"/>
                <a:cs typeface="Arial" pitchFamily="34" charset="-120"/>
              </a:rPr>
              <a:t>PowerPack 720  ·  PowerPack 900  ·  Accessories</a:t>
            </a:r>
            <a:endParaRPr lang="en-US" sz="1500" dirty="0"/>
          </a:p>
        </p:txBody>
      </p:sp>
      <p:sp>
        <p:nvSpPr>
          <p:cNvPr id="21" name="Text 18"/>
          <p:cNvSpPr/>
          <p:nvPr/>
        </p:nvSpPr>
        <p:spPr>
          <a:xfrm>
            <a:off x="640080" y="5166360"/>
            <a:ext cx="7095744" cy="731520"/>
          </a:xfrm>
          <a:prstGeom prst="rect">
            <a:avLst/>
          </a:prstGeom>
          <a:noFill/>
          <a:ln/>
        </p:spPr>
        <p:txBody>
          <a:bodyPr wrap="square" lIns="0" tIns="0" rIns="0" bIns="0" rtlCol="0" anchor="ctr"/>
          <a:lstStyle/>
          <a:p>
            <a:pPr indent="0" marL="0">
              <a:lnSpc>
                <a:spcPts val="1700"/>
              </a:lnSpc>
              <a:buNone/>
            </a:pPr>
            <a:r>
              <a:rPr lang="en-US" sz="1250" i="1" dirty="0">
                <a:solidFill>
                  <a:srgbClr val="7A6B60"/>
                </a:solidFill>
                <a:latin typeface="Arial" pitchFamily="34" charset="0"/>
                <a:ea typeface="Arial" pitchFamily="34" charset="-122"/>
                <a:cs typeface="Arial" pitchFamily="34" charset="-120"/>
              </a:rPr>
              <a:t>Two battery variants matter more than they look. Several cases turn on which pack is fitted and when it was bought.</a:t>
            </a:r>
            <a:endParaRPr lang="en-US" sz="1250" dirty="0"/>
          </a:p>
        </p:txBody>
      </p:sp>
      <p:sp>
        <p:nvSpPr>
          <p:cNvPr id="22" name="Shape 19"/>
          <p:cNvSpPr/>
          <p:nvPr/>
        </p:nvSpPr>
        <p:spPr>
          <a:xfrm>
            <a:off x="8275320" y="1965960"/>
            <a:ext cx="3273552" cy="3931920"/>
          </a:xfrm>
          <a:prstGeom prst="roundRect">
            <a:avLst>
              <a:gd name="adj" fmla="val 3911"/>
            </a:avLst>
          </a:prstGeom>
          <a:solidFill>
            <a:srgbClr val="331E11"/>
          </a:solidFill>
          <a:ln/>
        </p:spPr>
      </p:sp>
      <p:sp>
        <p:nvSpPr>
          <p:cNvPr id="23" name="Text 20"/>
          <p:cNvSpPr/>
          <p:nvPr/>
        </p:nvSpPr>
        <p:spPr>
          <a:xfrm>
            <a:off x="8641080" y="2194560"/>
            <a:ext cx="2560320" cy="914400"/>
          </a:xfrm>
          <a:prstGeom prst="rect">
            <a:avLst/>
          </a:prstGeom>
          <a:noFill/>
          <a:ln/>
        </p:spPr>
        <p:txBody>
          <a:bodyPr wrap="square" lIns="0" tIns="0" rIns="0" bIns="0" rtlCol="0" anchor="ctr"/>
          <a:lstStyle/>
          <a:p>
            <a:pPr indent="0" marL="0">
              <a:buNone/>
            </a:pPr>
            <a:r>
              <a:rPr lang="en-US" sz="5400" b="1" dirty="0">
                <a:solidFill>
                  <a:srgbClr val="0054F0"/>
                </a:solidFill>
                <a:latin typeface="Arial" pitchFamily="34" charset="0"/>
                <a:ea typeface="Arial" pitchFamily="34" charset="-122"/>
                <a:cs typeface="Arial" pitchFamily="34" charset="-120"/>
              </a:rPr>
              <a:t>10</a:t>
            </a:r>
            <a:endParaRPr lang="en-US" sz="5400" dirty="0"/>
          </a:p>
        </p:txBody>
      </p:sp>
      <p:sp>
        <p:nvSpPr>
          <p:cNvPr id="24" name="Text 21"/>
          <p:cNvSpPr/>
          <p:nvPr/>
        </p:nvSpPr>
        <p:spPr>
          <a:xfrm>
            <a:off x="8641080" y="3108960"/>
            <a:ext cx="2560320" cy="320040"/>
          </a:xfrm>
          <a:prstGeom prst="rect">
            <a:avLst/>
          </a:prstGeom>
          <a:noFill/>
          <a:ln/>
        </p:spPr>
        <p:txBody>
          <a:bodyPr wrap="square" lIns="0" tIns="0" rIns="0" bIns="0" rtlCol="0" anchor="ctr"/>
          <a:lstStyle/>
          <a:p>
            <a:pPr indent="0" marL="0">
              <a:buNone/>
            </a:pPr>
            <a:r>
              <a:rPr lang="en-US" sz="1500" b="1" dirty="0">
                <a:solidFill>
                  <a:srgbClr val="FAF9F7"/>
                </a:solidFill>
                <a:latin typeface="Arial" pitchFamily="34" charset="0"/>
                <a:ea typeface="Arial" pitchFamily="34" charset="-122"/>
                <a:cs typeface="Arial" pitchFamily="34" charset="-120"/>
              </a:rPr>
              <a:t>support cases</a:t>
            </a:r>
            <a:endParaRPr lang="en-US" sz="1500" dirty="0"/>
          </a:p>
        </p:txBody>
      </p:sp>
      <p:sp>
        <p:nvSpPr>
          <p:cNvPr id="25" name="Shape 22"/>
          <p:cNvSpPr/>
          <p:nvPr/>
        </p:nvSpPr>
        <p:spPr>
          <a:xfrm>
            <a:off x="8641080" y="3611880"/>
            <a:ext cx="914400" cy="32004"/>
          </a:xfrm>
          <a:prstGeom prst="rect">
            <a:avLst/>
          </a:prstGeom>
          <a:solidFill>
            <a:srgbClr val="0054F0"/>
          </a:solidFill>
          <a:ln/>
        </p:spPr>
      </p:sp>
      <p:sp>
        <p:nvSpPr>
          <p:cNvPr id="26" name="Text 23"/>
          <p:cNvSpPr/>
          <p:nvPr/>
        </p:nvSpPr>
        <p:spPr>
          <a:xfrm>
            <a:off x="8641080" y="3840480"/>
            <a:ext cx="2560320" cy="640080"/>
          </a:xfrm>
          <a:prstGeom prst="rect">
            <a:avLst/>
          </a:prstGeom>
          <a:noFill/>
          <a:ln/>
        </p:spPr>
        <p:txBody>
          <a:bodyPr wrap="square" lIns="0" tIns="0" rIns="0" bIns="0" rtlCol="0" anchor="ctr"/>
          <a:lstStyle/>
          <a:p>
            <a:pPr indent="0" marL="0">
              <a:buNone/>
            </a:pPr>
            <a:r>
              <a:rPr lang="en-US" sz="4000" b="1" dirty="0">
                <a:solidFill>
                  <a:srgbClr val="0054F0"/>
                </a:solidFill>
                <a:latin typeface="Arial" pitchFamily="34" charset="0"/>
                <a:ea typeface="Arial" pitchFamily="34" charset="-122"/>
                <a:cs typeface="Arial" pitchFamily="34" charset="-120"/>
              </a:rPr>
              <a:t>4</a:t>
            </a:r>
            <a:endParaRPr lang="en-US" sz="4000" dirty="0"/>
          </a:p>
        </p:txBody>
      </p:sp>
      <p:sp>
        <p:nvSpPr>
          <p:cNvPr id="27" name="Text 24"/>
          <p:cNvSpPr/>
          <p:nvPr/>
        </p:nvSpPr>
        <p:spPr>
          <a:xfrm>
            <a:off x="8641080" y="4526280"/>
            <a:ext cx="2560320" cy="822960"/>
          </a:xfrm>
          <a:prstGeom prst="rect">
            <a:avLst/>
          </a:prstGeom>
          <a:noFill/>
          <a:ln/>
        </p:spPr>
        <p:txBody>
          <a:bodyPr wrap="square" lIns="0" tIns="0" rIns="0" bIns="0" rtlCol="0" anchor="ctr"/>
          <a:lstStyle/>
          <a:p>
            <a:pPr indent="0" marL="0">
              <a:lnSpc>
                <a:spcPts val="1700"/>
              </a:lnSpc>
              <a:buNone/>
            </a:pPr>
            <a:r>
              <a:rPr lang="en-US" sz="1250" dirty="0">
                <a:solidFill>
                  <a:srgbClr val="E8E0D9"/>
                </a:solidFill>
                <a:latin typeface="Arial" pitchFamily="34" charset="0"/>
                <a:ea typeface="Arial" pitchFamily="34" charset="-122"/>
                <a:cs typeface="Arial" pitchFamily="34" charset="-120"/>
              </a:rPr>
              <a:t>adversarial archetypes,</a:t>
            </a:r>
            <a:endParaRPr lang="en-US" sz="1250" dirty="0"/>
          </a:p>
          <a:p>
            <a:pPr indent="0" marL="0">
              <a:lnSpc>
                <a:spcPts val="1700"/>
              </a:lnSpc>
              <a:buNone/>
            </a:pPr>
            <a:r>
              <a:rPr lang="en-US" sz="1250" dirty="0">
                <a:solidFill>
                  <a:srgbClr val="E8E0D9"/>
                </a:solidFill>
                <a:latin typeface="Arial" pitchFamily="34" charset="0"/>
                <a:ea typeface="Arial" pitchFamily="34" charset="-122"/>
                <a:cs typeface="Arial" pitchFamily="34" charset="-120"/>
              </a:rPr>
              <a:t>each appearing at least once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9</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HOW THE CASES FIGHT BACK</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Four adversarial archetypes</a:t>
            </a:r>
            <a:endParaRPr lang="en-US" sz="3600" dirty="0"/>
          </a:p>
        </p:txBody>
      </p:sp>
      <p:sp>
        <p:nvSpPr>
          <p:cNvPr id="5" name="Shape 3"/>
          <p:cNvSpPr/>
          <p:nvPr/>
        </p:nvSpPr>
        <p:spPr>
          <a:xfrm>
            <a:off x="640080" y="1874520"/>
            <a:ext cx="2624328" cy="3703320"/>
          </a:xfrm>
          <a:prstGeom prst="roundRect">
            <a:avLst>
              <a:gd name="adj" fmla="val 487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6" name="Shape 4"/>
          <p:cNvSpPr/>
          <p:nvPr/>
        </p:nvSpPr>
        <p:spPr>
          <a:xfrm>
            <a:off x="960120" y="2148840"/>
            <a:ext cx="566928" cy="566928"/>
          </a:xfrm>
          <a:prstGeom prst="roundRect">
            <a:avLst>
              <a:gd name="adj" fmla="val 22581"/>
            </a:avLst>
          </a:prstGeom>
          <a:solidFill>
            <a:srgbClr val="0054F0"/>
          </a:solidFill>
          <a:ln/>
        </p:spPr>
      </p:sp>
      <p:sp>
        <p:nvSpPr>
          <p:cNvPr id="7" name="Text 5"/>
          <p:cNvSpPr/>
          <p:nvPr/>
        </p:nvSpPr>
        <p:spPr>
          <a:xfrm>
            <a:off x="960120" y="214884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a:t>
            </a:r>
            <a:endParaRPr lang="en-US" sz="2200" dirty="0"/>
          </a:p>
        </p:txBody>
      </p:sp>
      <p:sp>
        <p:nvSpPr>
          <p:cNvPr id="8" name="Text 6"/>
          <p:cNvSpPr/>
          <p:nvPr/>
        </p:nvSpPr>
        <p:spPr>
          <a:xfrm>
            <a:off x="1645920" y="2148840"/>
            <a:ext cx="1298448" cy="566928"/>
          </a:xfrm>
          <a:prstGeom prst="rect">
            <a:avLst/>
          </a:prstGeom>
          <a:noFill/>
          <a:ln/>
        </p:spPr>
        <p:txBody>
          <a:bodyPr wrap="square" lIns="0" tIns="0" rIns="0" bIns="0" rtlCol="0" anchor="ctr"/>
          <a:lstStyle/>
          <a:p>
            <a:pPr indent="0" marL="0">
              <a:buNone/>
            </a:pPr>
            <a:r>
              <a:rPr lang="en-US" sz="1100" b="1" dirty="0">
                <a:solidFill>
                  <a:srgbClr val="7A6B60"/>
                </a:solidFill>
                <a:latin typeface="Arial" pitchFamily="34" charset="0"/>
                <a:ea typeface="Arial" pitchFamily="34" charset="-122"/>
                <a:cs typeface="Arial" pitchFamily="34" charset="-120"/>
              </a:rPr>
              <a:t>Cases 1, 2</a:t>
            </a:r>
            <a:endParaRPr lang="en-US" sz="1100" dirty="0"/>
          </a:p>
        </p:txBody>
      </p:sp>
      <p:sp>
        <p:nvSpPr>
          <p:cNvPr id="9" name="Text 7"/>
          <p:cNvSpPr/>
          <p:nvPr/>
        </p:nvSpPr>
        <p:spPr>
          <a:xfrm>
            <a:off x="960120" y="2852928"/>
            <a:ext cx="1984248" cy="822960"/>
          </a:xfrm>
          <a:prstGeom prst="rect">
            <a:avLst/>
          </a:prstGeom>
          <a:noFill/>
          <a:ln/>
        </p:spPr>
        <p:txBody>
          <a:bodyPr wrap="square" lIns="0" tIns="0" rIns="0" bIns="0" rtlCol="0" anchor="ctr"/>
          <a:lstStyle/>
          <a:p>
            <a:pPr indent="0" marL="0">
              <a:lnSpc>
                <a:spcPts val="1900"/>
              </a:lnSpc>
              <a:buNone/>
            </a:pPr>
            <a:r>
              <a:rPr lang="en-US" sz="1500" b="1" dirty="0">
                <a:solidFill>
                  <a:srgbClr val="331E11"/>
                </a:solidFill>
                <a:latin typeface="Arial" pitchFamily="34" charset="0"/>
                <a:ea typeface="Arial" pitchFamily="34" charset="-122"/>
                <a:cs typeface="Arial" pitchFamily="34" charset="-120"/>
              </a:rPr>
              <a:t>Symptom–Cause Confusion</a:t>
            </a:r>
            <a:endParaRPr lang="en-US" sz="1500" dirty="0"/>
          </a:p>
        </p:txBody>
      </p:sp>
      <p:sp>
        <p:nvSpPr>
          <p:cNvPr id="10" name="Text 8"/>
          <p:cNvSpPr/>
          <p:nvPr/>
        </p:nvSpPr>
        <p:spPr>
          <a:xfrm>
            <a:off x="960120" y="3749040"/>
            <a:ext cx="1984248" cy="14173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Two customers report the same symptom. The root causes differ, and so does the outcome.</a:t>
            </a:r>
            <a:endParaRPr lang="en-US" sz="1150" dirty="0"/>
          </a:p>
        </p:txBody>
      </p:sp>
      <p:sp>
        <p:nvSpPr>
          <p:cNvPr id="11" name="Shape 9"/>
          <p:cNvSpPr/>
          <p:nvPr/>
        </p:nvSpPr>
        <p:spPr>
          <a:xfrm>
            <a:off x="3520440" y="1874520"/>
            <a:ext cx="2624328" cy="3703320"/>
          </a:xfrm>
          <a:prstGeom prst="roundRect">
            <a:avLst>
              <a:gd name="adj" fmla="val 487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2" name="Shape 10"/>
          <p:cNvSpPr/>
          <p:nvPr/>
        </p:nvSpPr>
        <p:spPr>
          <a:xfrm>
            <a:off x="3840480" y="2148840"/>
            <a:ext cx="566928" cy="566928"/>
          </a:xfrm>
          <a:prstGeom prst="roundRect">
            <a:avLst>
              <a:gd name="adj" fmla="val 22581"/>
            </a:avLst>
          </a:prstGeom>
          <a:solidFill>
            <a:srgbClr val="0054F0"/>
          </a:solidFill>
          <a:ln/>
        </p:spPr>
      </p:sp>
      <p:sp>
        <p:nvSpPr>
          <p:cNvPr id="13" name="Text 11"/>
          <p:cNvSpPr/>
          <p:nvPr/>
        </p:nvSpPr>
        <p:spPr>
          <a:xfrm>
            <a:off x="3840480" y="214884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B</a:t>
            </a:r>
            <a:endParaRPr lang="en-US" sz="2200" dirty="0"/>
          </a:p>
        </p:txBody>
      </p:sp>
      <p:sp>
        <p:nvSpPr>
          <p:cNvPr id="14" name="Text 12"/>
          <p:cNvSpPr/>
          <p:nvPr/>
        </p:nvSpPr>
        <p:spPr>
          <a:xfrm>
            <a:off x="4526280" y="2148840"/>
            <a:ext cx="1298448" cy="566928"/>
          </a:xfrm>
          <a:prstGeom prst="rect">
            <a:avLst/>
          </a:prstGeom>
          <a:noFill/>
          <a:ln/>
        </p:spPr>
        <p:txBody>
          <a:bodyPr wrap="square" lIns="0" tIns="0" rIns="0" bIns="0" rtlCol="0" anchor="ctr"/>
          <a:lstStyle/>
          <a:p>
            <a:pPr indent="0" marL="0">
              <a:buNone/>
            </a:pPr>
            <a:r>
              <a:rPr lang="en-US" sz="1100" b="1" dirty="0">
                <a:solidFill>
                  <a:srgbClr val="7A6B60"/>
                </a:solidFill>
                <a:latin typeface="Arial" pitchFamily="34" charset="0"/>
                <a:ea typeface="Arial" pitchFamily="34" charset="-122"/>
                <a:cs typeface="Arial" pitchFamily="34" charset="-120"/>
              </a:rPr>
              <a:t>Case 5</a:t>
            </a:r>
            <a:endParaRPr lang="en-US" sz="1100" dirty="0"/>
          </a:p>
        </p:txBody>
      </p:sp>
      <p:sp>
        <p:nvSpPr>
          <p:cNvPr id="15" name="Text 13"/>
          <p:cNvSpPr/>
          <p:nvPr/>
        </p:nvSpPr>
        <p:spPr>
          <a:xfrm>
            <a:off x="3840480" y="2852928"/>
            <a:ext cx="1984248" cy="822960"/>
          </a:xfrm>
          <a:prstGeom prst="rect">
            <a:avLst/>
          </a:prstGeom>
          <a:noFill/>
          <a:ln/>
        </p:spPr>
        <p:txBody>
          <a:bodyPr wrap="square" lIns="0" tIns="0" rIns="0" bIns="0" rtlCol="0" anchor="ctr"/>
          <a:lstStyle/>
          <a:p>
            <a:pPr indent="0" marL="0">
              <a:lnSpc>
                <a:spcPts val="1900"/>
              </a:lnSpc>
              <a:buNone/>
            </a:pPr>
            <a:r>
              <a:rPr lang="en-US" sz="1500" b="1" dirty="0">
                <a:solidFill>
                  <a:srgbClr val="331E11"/>
                </a:solidFill>
                <a:latin typeface="Arial" pitchFamily="34" charset="0"/>
                <a:ea typeface="Arial" pitchFamily="34" charset="-122"/>
                <a:cs typeface="Arial" pitchFamily="34" charset="-120"/>
              </a:rPr>
              <a:t>Superseded / Grandfathered Policy</a:t>
            </a:r>
            <a:endParaRPr lang="en-US" sz="1500" dirty="0"/>
          </a:p>
        </p:txBody>
      </p:sp>
      <p:sp>
        <p:nvSpPr>
          <p:cNvPr id="16" name="Text 14"/>
          <p:cNvSpPr/>
          <p:nvPr/>
        </p:nvSpPr>
        <p:spPr>
          <a:xfrm>
            <a:off x="3840480" y="3749040"/>
            <a:ext cx="1984248" cy="14173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The current policy is not the policy that applied when they bought. The newest document is the wrong one.</a:t>
            </a:r>
            <a:endParaRPr lang="en-US" sz="1150" dirty="0"/>
          </a:p>
        </p:txBody>
      </p:sp>
      <p:sp>
        <p:nvSpPr>
          <p:cNvPr id="17" name="Shape 15"/>
          <p:cNvSpPr/>
          <p:nvPr/>
        </p:nvSpPr>
        <p:spPr>
          <a:xfrm>
            <a:off x="6400800" y="1874520"/>
            <a:ext cx="2624328" cy="3703320"/>
          </a:xfrm>
          <a:prstGeom prst="roundRect">
            <a:avLst>
              <a:gd name="adj" fmla="val 487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8" name="Shape 16"/>
          <p:cNvSpPr/>
          <p:nvPr/>
        </p:nvSpPr>
        <p:spPr>
          <a:xfrm>
            <a:off x="6720840" y="2148840"/>
            <a:ext cx="566928" cy="566928"/>
          </a:xfrm>
          <a:prstGeom prst="roundRect">
            <a:avLst>
              <a:gd name="adj" fmla="val 22581"/>
            </a:avLst>
          </a:prstGeom>
          <a:solidFill>
            <a:srgbClr val="0054F0"/>
          </a:solidFill>
          <a:ln/>
        </p:spPr>
      </p:sp>
      <p:sp>
        <p:nvSpPr>
          <p:cNvPr id="19" name="Text 17"/>
          <p:cNvSpPr/>
          <p:nvPr/>
        </p:nvSpPr>
        <p:spPr>
          <a:xfrm>
            <a:off x="6720840" y="214884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t>
            </a:r>
            <a:endParaRPr lang="en-US" sz="2200" dirty="0"/>
          </a:p>
        </p:txBody>
      </p:sp>
      <p:sp>
        <p:nvSpPr>
          <p:cNvPr id="20" name="Text 18"/>
          <p:cNvSpPr/>
          <p:nvPr/>
        </p:nvSpPr>
        <p:spPr>
          <a:xfrm>
            <a:off x="7406640" y="2148840"/>
            <a:ext cx="1298448" cy="566928"/>
          </a:xfrm>
          <a:prstGeom prst="rect">
            <a:avLst/>
          </a:prstGeom>
          <a:noFill/>
          <a:ln/>
        </p:spPr>
        <p:txBody>
          <a:bodyPr wrap="square" lIns="0" tIns="0" rIns="0" bIns="0" rtlCol="0" anchor="ctr"/>
          <a:lstStyle/>
          <a:p>
            <a:pPr indent="0" marL="0">
              <a:buNone/>
            </a:pPr>
            <a:r>
              <a:rPr lang="en-US" sz="1100" b="1" dirty="0">
                <a:solidFill>
                  <a:srgbClr val="7A6B60"/>
                </a:solidFill>
                <a:latin typeface="Arial" pitchFamily="34" charset="0"/>
                <a:ea typeface="Arial" pitchFamily="34" charset="-122"/>
                <a:cs typeface="Arial" pitchFamily="34" charset="-120"/>
              </a:rPr>
              <a:t>Cases 6, 9</a:t>
            </a:r>
            <a:endParaRPr lang="en-US" sz="1100" dirty="0"/>
          </a:p>
        </p:txBody>
      </p:sp>
      <p:sp>
        <p:nvSpPr>
          <p:cNvPr id="21" name="Text 19"/>
          <p:cNvSpPr/>
          <p:nvPr/>
        </p:nvSpPr>
        <p:spPr>
          <a:xfrm>
            <a:off x="6720840" y="2852928"/>
            <a:ext cx="1984248" cy="822960"/>
          </a:xfrm>
          <a:prstGeom prst="rect">
            <a:avLst/>
          </a:prstGeom>
          <a:noFill/>
          <a:ln/>
        </p:spPr>
        <p:txBody>
          <a:bodyPr wrap="square" lIns="0" tIns="0" rIns="0" bIns="0" rtlCol="0" anchor="ctr"/>
          <a:lstStyle/>
          <a:p>
            <a:pPr indent="0" marL="0">
              <a:lnSpc>
                <a:spcPts val="1900"/>
              </a:lnSpc>
              <a:buNone/>
            </a:pPr>
            <a:r>
              <a:rPr lang="en-US" sz="1500" b="1" dirty="0">
                <a:solidFill>
                  <a:srgbClr val="331E11"/>
                </a:solidFill>
                <a:latin typeface="Arial" pitchFamily="34" charset="0"/>
                <a:ea typeface="Arial" pitchFamily="34" charset="-122"/>
                <a:cs typeface="Arial" pitchFamily="34" charset="-120"/>
              </a:rPr>
              <a:t>Out-of-Scope Escalation</a:t>
            </a:r>
            <a:endParaRPr lang="en-US" sz="1500" dirty="0"/>
          </a:p>
        </p:txBody>
      </p:sp>
      <p:sp>
        <p:nvSpPr>
          <p:cNvPr id="22" name="Text 20"/>
          <p:cNvSpPr/>
          <p:nvPr/>
        </p:nvSpPr>
        <p:spPr>
          <a:xfrm>
            <a:off x="6720840" y="3749040"/>
            <a:ext cx="1984248" cy="14173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The right answer is to not answer. It must be recognised and handed on, not resolved.</a:t>
            </a:r>
            <a:endParaRPr lang="en-US" sz="1150" dirty="0"/>
          </a:p>
        </p:txBody>
      </p:sp>
      <p:sp>
        <p:nvSpPr>
          <p:cNvPr id="23" name="Shape 21"/>
          <p:cNvSpPr/>
          <p:nvPr/>
        </p:nvSpPr>
        <p:spPr>
          <a:xfrm>
            <a:off x="9281160" y="1874520"/>
            <a:ext cx="2624328" cy="3703320"/>
          </a:xfrm>
          <a:prstGeom prst="roundRect">
            <a:avLst>
              <a:gd name="adj" fmla="val 487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24" name="Shape 22"/>
          <p:cNvSpPr/>
          <p:nvPr/>
        </p:nvSpPr>
        <p:spPr>
          <a:xfrm>
            <a:off x="9601200" y="2148840"/>
            <a:ext cx="566928" cy="566928"/>
          </a:xfrm>
          <a:prstGeom prst="roundRect">
            <a:avLst>
              <a:gd name="adj" fmla="val 22581"/>
            </a:avLst>
          </a:prstGeom>
          <a:solidFill>
            <a:srgbClr val="0054F0"/>
          </a:solidFill>
          <a:ln/>
        </p:spPr>
      </p:sp>
      <p:sp>
        <p:nvSpPr>
          <p:cNvPr id="25" name="Text 23"/>
          <p:cNvSpPr/>
          <p:nvPr/>
        </p:nvSpPr>
        <p:spPr>
          <a:xfrm>
            <a:off x="9601200" y="214884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D</a:t>
            </a:r>
            <a:endParaRPr lang="en-US" sz="2200" dirty="0"/>
          </a:p>
        </p:txBody>
      </p:sp>
      <p:sp>
        <p:nvSpPr>
          <p:cNvPr id="26" name="Text 24"/>
          <p:cNvSpPr/>
          <p:nvPr/>
        </p:nvSpPr>
        <p:spPr>
          <a:xfrm>
            <a:off x="10287000" y="2148840"/>
            <a:ext cx="1298448" cy="566928"/>
          </a:xfrm>
          <a:prstGeom prst="rect">
            <a:avLst/>
          </a:prstGeom>
          <a:noFill/>
          <a:ln/>
        </p:spPr>
        <p:txBody>
          <a:bodyPr wrap="square" lIns="0" tIns="0" rIns="0" bIns="0" rtlCol="0" anchor="ctr"/>
          <a:lstStyle/>
          <a:p>
            <a:pPr indent="0" marL="0">
              <a:buNone/>
            </a:pPr>
            <a:r>
              <a:rPr lang="en-US" sz="1100" b="1" dirty="0">
                <a:solidFill>
                  <a:srgbClr val="7A6B60"/>
                </a:solidFill>
                <a:latin typeface="Arial" pitchFamily="34" charset="0"/>
                <a:ea typeface="Arial" pitchFamily="34" charset="-122"/>
                <a:cs typeface="Arial" pitchFamily="34" charset="-120"/>
              </a:rPr>
              <a:t>Cases 7, 8</a:t>
            </a:r>
            <a:endParaRPr lang="en-US" sz="1100" dirty="0"/>
          </a:p>
        </p:txBody>
      </p:sp>
      <p:sp>
        <p:nvSpPr>
          <p:cNvPr id="27" name="Text 25"/>
          <p:cNvSpPr/>
          <p:nvPr/>
        </p:nvSpPr>
        <p:spPr>
          <a:xfrm>
            <a:off x="9601200" y="2852928"/>
            <a:ext cx="1984248" cy="822960"/>
          </a:xfrm>
          <a:prstGeom prst="rect">
            <a:avLst/>
          </a:prstGeom>
          <a:noFill/>
          <a:ln/>
        </p:spPr>
        <p:txBody>
          <a:bodyPr wrap="square" lIns="0" tIns="0" rIns="0" bIns="0" rtlCol="0" anchor="ctr"/>
          <a:lstStyle/>
          <a:p>
            <a:pPr indent="0" marL="0">
              <a:lnSpc>
                <a:spcPts val="1900"/>
              </a:lnSpc>
              <a:buNone/>
            </a:pPr>
            <a:r>
              <a:rPr lang="en-US" sz="1500" b="1" dirty="0">
                <a:solidFill>
                  <a:srgbClr val="331E11"/>
                </a:solidFill>
                <a:latin typeface="Arial" pitchFamily="34" charset="0"/>
                <a:ea typeface="Arial" pitchFamily="34" charset="-122"/>
                <a:cs typeface="Arial" pitchFamily="34" charset="-120"/>
              </a:rPr>
              <a:t>Incomplete / Ambiguous Information</a:t>
            </a:r>
            <a:endParaRPr lang="en-US" sz="1500" dirty="0"/>
          </a:p>
        </p:txBody>
      </p:sp>
      <p:sp>
        <p:nvSpPr>
          <p:cNvPr id="28" name="Text 26"/>
          <p:cNvSpPr/>
          <p:nvPr/>
        </p:nvSpPr>
        <p:spPr>
          <a:xfrm>
            <a:off x="9601200" y="3749040"/>
            <a:ext cx="1984248" cy="14173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The case file is missing a fact the decision depends on. Asking beats guessing.</a:t>
            </a:r>
            <a:endParaRPr lang="en-US" sz="1150" dirty="0"/>
          </a:p>
        </p:txBody>
      </p:sp>
      <p:sp>
        <p:nvSpPr>
          <p:cNvPr id="29" name="Text 27"/>
          <p:cNvSpPr/>
          <p:nvPr/>
        </p:nvSpPr>
        <p:spPr>
          <a:xfrm>
            <a:off x="640080" y="5806440"/>
            <a:ext cx="10881360" cy="457200"/>
          </a:xfrm>
          <a:prstGeom prst="rect">
            <a:avLst/>
          </a:prstGeom>
          <a:noFill/>
          <a:ln/>
        </p:spPr>
        <p:txBody>
          <a:bodyPr wrap="square" lIns="0" tIns="0" rIns="0" bIns="0" rtlCol="0" anchor="ctr"/>
          <a:lstStyle/>
          <a:p>
            <a:pPr indent="0" marL="0">
              <a:buNone/>
            </a:pPr>
            <a:r>
              <a:rPr lang="en-US" sz="1400" i="1" dirty="0">
                <a:solidFill>
                  <a:srgbClr val="7A6B60"/>
                </a:solidFill>
                <a:latin typeface="Arial" pitchFamily="34" charset="0"/>
                <a:ea typeface="Arial" pitchFamily="34" charset="-122"/>
                <a:cs typeface="Arial" pitchFamily="34" charset="-120"/>
              </a:rPr>
              <a:t>A critical failure on any archetype costs 10 points. There are only 100 available.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E0D9"/>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10</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ARCHETYPE A, IN FULL</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Anna and Erik: same fault, opposite outcomes</a:t>
            </a:r>
            <a:endParaRPr lang="en-US" sz="3600" dirty="0"/>
          </a:p>
        </p:txBody>
      </p:sp>
      <p:sp>
        <p:nvSpPr>
          <p:cNvPr id="5" name="Text 3"/>
          <p:cNvSpPr/>
          <p:nvPr/>
        </p:nvSpPr>
        <p:spPr>
          <a:xfrm>
            <a:off x="640080" y="1920240"/>
            <a:ext cx="10698480" cy="685800"/>
          </a:xfrm>
          <a:prstGeom prst="rect">
            <a:avLst/>
          </a:prstGeom>
          <a:noFill/>
          <a:ln/>
        </p:spPr>
        <p:txBody>
          <a:bodyPr wrap="square" lIns="0" tIns="0" rIns="0" bIns="0" rtlCol="0" anchor="ctr"/>
          <a:lstStyle/>
          <a:p>
            <a:pPr indent="0" marL="0">
              <a:lnSpc>
                <a:spcPts val="2300"/>
              </a:lnSpc>
              <a:buNone/>
            </a:pPr>
            <a:r>
              <a:rPr lang="en-US" sz="1500" dirty="0">
                <a:solidFill>
                  <a:srgbClr val="331E11"/>
                </a:solidFill>
                <a:latin typeface="Arial" pitchFamily="34" charset="0"/>
                <a:ea typeface="Arial" pitchFamily="34" charset="-122"/>
                <a:cs typeface="Arial" pitchFamily="34" charset="-120"/>
              </a:rPr>
              <a:t>Same product, same production batch, same reported symptom, same week. One is covered and one is not — and nothing in the symptom text tells you which.</a:t>
            </a:r>
            <a:endParaRPr lang="en-US" sz="1500" dirty="0"/>
          </a:p>
        </p:txBody>
      </p:sp>
      <p:sp>
        <p:nvSpPr>
          <p:cNvPr id="6" name="Shape 4"/>
          <p:cNvSpPr/>
          <p:nvPr/>
        </p:nvSpPr>
        <p:spPr>
          <a:xfrm>
            <a:off x="640080" y="2788920"/>
            <a:ext cx="5257800" cy="2788920"/>
          </a:xfrm>
          <a:prstGeom prst="roundRect">
            <a:avLst>
              <a:gd name="adj" fmla="val 4590"/>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7" name="Text 5"/>
          <p:cNvSpPr/>
          <p:nvPr/>
        </p:nvSpPr>
        <p:spPr>
          <a:xfrm>
            <a:off x="1024128" y="3017520"/>
            <a:ext cx="2926080" cy="365760"/>
          </a:xfrm>
          <a:prstGeom prst="rect">
            <a:avLst/>
          </a:prstGeom>
          <a:noFill/>
          <a:ln/>
        </p:spPr>
        <p:txBody>
          <a:bodyPr wrap="square" lIns="0" tIns="0" rIns="0" bIns="0" rtlCol="0" anchor="ctr"/>
          <a:lstStyle/>
          <a:p>
            <a:pPr indent="0" marL="0">
              <a:buNone/>
            </a:pPr>
            <a:r>
              <a:rPr lang="en-US" sz="1700" b="1" dirty="0">
                <a:solidFill>
                  <a:srgbClr val="331E11"/>
                </a:solidFill>
                <a:latin typeface="Arial" pitchFamily="34" charset="0"/>
                <a:ea typeface="Arial" pitchFamily="34" charset="-122"/>
                <a:cs typeface="Arial" pitchFamily="34" charset="-120"/>
              </a:rPr>
              <a:t>Anna Karlsson</a:t>
            </a:r>
            <a:endParaRPr lang="en-US" sz="1700" dirty="0"/>
          </a:p>
        </p:txBody>
      </p:sp>
      <p:sp>
        <p:nvSpPr>
          <p:cNvPr id="8" name="Shape 6"/>
          <p:cNvSpPr/>
          <p:nvPr/>
        </p:nvSpPr>
        <p:spPr>
          <a:xfrm>
            <a:off x="4023360" y="3017520"/>
            <a:ext cx="1508760" cy="365760"/>
          </a:xfrm>
          <a:prstGeom prst="roundRect">
            <a:avLst>
              <a:gd name="adj" fmla="val 50000"/>
            </a:avLst>
          </a:prstGeom>
          <a:solidFill>
            <a:srgbClr val="0054F0"/>
          </a:solidFill>
          <a:ln/>
        </p:spPr>
      </p:sp>
      <p:sp>
        <p:nvSpPr>
          <p:cNvPr id="9" name="Text 7"/>
          <p:cNvSpPr/>
          <p:nvPr/>
        </p:nvSpPr>
        <p:spPr>
          <a:xfrm>
            <a:off x="4023360" y="3017520"/>
            <a:ext cx="1508760" cy="365760"/>
          </a:xfrm>
          <a:prstGeom prst="rect">
            <a:avLst/>
          </a:prstGeom>
          <a:noFill/>
          <a:ln/>
        </p:spPr>
        <p:txBody>
          <a:bodyPr wrap="square" lIns="0" tIns="0" rIns="0" bIns="0" rtlCol="0" anchor="ctr"/>
          <a:lstStyle/>
          <a:p>
            <a:pPr algn="ctr" indent="0" marL="0">
              <a:buNone/>
            </a:pPr>
            <a:r>
              <a:rPr lang="en-US" sz="1050" b="1" spc="80" kern="0" dirty="0">
                <a:solidFill>
                  <a:srgbClr val="FFFFFF"/>
                </a:solidFill>
                <a:latin typeface="Arial" pitchFamily="34" charset="0"/>
                <a:ea typeface="Arial" pitchFamily="34" charset="-122"/>
                <a:cs typeface="Arial" pitchFamily="34" charset="-120"/>
              </a:rPr>
              <a:t>ELIGIBLE</a:t>
            </a:r>
            <a:endParaRPr lang="en-US" sz="1050" dirty="0"/>
          </a:p>
        </p:txBody>
      </p:sp>
      <p:sp>
        <p:nvSpPr>
          <p:cNvPr id="10" name="Text 8"/>
          <p:cNvSpPr/>
          <p:nvPr/>
        </p:nvSpPr>
        <p:spPr>
          <a:xfrm>
            <a:off x="1024128" y="3566160"/>
            <a:ext cx="1051560" cy="365760"/>
          </a:xfrm>
          <a:prstGeom prst="rect">
            <a:avLst/>
          </a:prstGeom>
          <a:noFill/>
          <a:ln/>
        </p:spPr>
        <p:txBody>
          <a:bodyPr wrap="square" lIns="0" tIns="0" rIns="0" bIns="0" rtlCol="0" anchor="ctr"/>
          <a:lstStyle/>
          <a:p>
            <a:pPr indent="0" marL="0">
              <a:buNone/>
            </a:pPr>
            <a:r>
              <a:rPr lang="en-US" sz="900" b="1" spc="80" kern="0" dirty="0">
                <a:solidFill>
                  <a:srgbClr val="0054F0"/>
                </a:solidFill>
                <a:latin typeface="Arial" pitchFamily="34" charset="0"/>
                <a:ea typeface="Arial" pitchFamily="34" charset="-122"/>
                <a:cs typeface="Arial" pitchFamily="34" charset="-120"/>
              </a:rPr>
              <a:t>BATCH</a:t>
            </a:r>
            <a:endParaRPr lang="en-US" sz="900" dirty="0"/>
          </a:p>
        </p:txBody>
      </p:sp>
      <p:sp>
        <p:nvSpPr>
          <p:cNvPr id="11" name="Text 9"/>
          <p:cNvSpPr/>
          <p:nvPr/>
        </p:nvSpPr>
        <p:spPr>
          <a:xfrm>
            <a:off x="2121408" y="3566160"/>
            <a:ext cx="3383280" cy="365760"/>
          </a:xfrm>
          <a:prstGeom prst="rect">
            <a:avLst/>
          </a:prstGeom>
          <a:noFill/>
          <a:ln/>
        </p:spPr>
        <p:txBody>
          <a:bodyPr wrap="square" lIns="0" tIns="0" rIns="0" bIns="0" rtlCol="0" anchor="ctr"/>
          <a:lstStyle/>
          <a:p>
            <a:pPr indent="0" marL="0">
              <a:buNone/>
            </a:pPr>
            <a:r>
              <a:rPr lang="en-US" sz="1200" dirty="0">
                <a:solidFill>
                  <a:srgbClr val="7A6B60"/>
                </a:solidFill>
                <a:latin typeface="Arial" pitchFamily="34" charset="0"/>
                <a:ea typeface="Arial" pitchFamily="34" charset="-122"/>
                <a:cs typeface="Arial" pitchFamily="34" charset="-120"/>
              </a:rPr>
              <a:t>AX3-25A</a:t>
            </a:r>
            <a:endParaRPr lang="en-US" sz="1200" dirty="0"/>
          </a:p>
        </p:txBody>
      </p:sp>
      <p:sp>
        <p:nvSpPr>
          <p:cNvPr id="12" name="Text 10"/>
          <p:cNvSpPr/>
          <p:nvPr/>
        </p:nvSpPr>
        <p:spPr>
          <a:xfrm>
            <a:off x="1024128" y="4041648"/>
            <a:ext cx="1051560" cy="365760"/>
          </a:xfrm>
          <a:prstGeom prst="rect">
            <a:avLst/>
          </a:prstGeom>
          <a:noFill/>
          <a:ln/>
        </p:spPr>
        <p:txBody>
          <a:bodyPr wrap="square" lIns="0" tIns="0" rIns="0" bIns="0" rtlCol="0" anchor="ctr"/>
          <a:lstStyle/>
          <a:p>
            <a:pPr indent="0" marL="0">
              <a:buNone/>
            </a:pPr>
            <a:r>
              <a:rPr lang="en-US" sz="900" b="1" spc="80" kern="0" dirty="0">
                <a:solidFill>
                  <a:srgbClr val="0054F0"/>
                </a:solidFill>
                <a:latin typeface="Arial" pitchFamily="34" charset="0"/>
                <a:ea typeface="Arial" pitchFamily="34" charset="-122"/>
                <a:cs typeface="Arial" pitchFamily="34" charset="-120"/>
              </a:rPr>
              <a:t>SYMPTOM</a:t>
            </a:r>
            <a:endParaRPr lang="en-US" sz="900" dirty="0"/>
          </a:p>
        </p:txBody>
      </p:sp>
      <p:sp>
        <p:nvSpPr>
          <p:cNvPr id="13" name="Text 11"/>
          <p:cNvSpPr/>
          <p:nvPr/>
        </p:nvSpPr>
        <p:spPr>
          <a:xfrm>
            <a:off x="2121408" y="4041648"/>
            <a:ext cx="3383280" cy="365760"/>
          </a:xfrm>
          <a:prstGeom prst="rect">
            <a:avLst/>
          </a:prstGeom>
          <a:noFill/>
          <a:ln/>
        </p:spPr>
        <p:txBody>
          <a:bodyPr wrap="square" lIns="0" tIns="0" rIns="0" bIns="0" rtlCol="0" anchor="ctr"/>
          <a:lstStyle/>
          <a:p>
            <a:pPr indent="0" marL="0">
              <a:buNone/>
            </a:pPr>
            <a:r>
              <a:rPr lang="en-US" sz="1200" dirty="0">
                <a:solidFill>
                  <a:srgbClr val="7A6B60"/>
                </a:solidFill>
                <a:latin typeface="Arial" pitchFamily="34" charset="0"/>
                <a:ea typeface="Arial" pitchFamily="34" charset="-122"/>
                <a:cs typeface="Arial" pitchFamily="34" charset="-120"/>
              </a:rPr>
              <a:t>Intermittent power loss</a:t>
            </a:r>
            <a:endParaRPr lang="en-US" sz="1200" dirty="0"/>
          </a:p>
        </p:txBody>
      </p:sp>
      <p:sp>
        <p:nvSpPr>
          <p:cNvPr id="14" name="Text 12"/>
          <p:cNvSpPr/>
          <p:nvPr/>
        </p:nvSpPr>
        <p:spPr>
          <a:xfrm>
            <a:off x="1024128" y="4517136"/>
            <a:ext cx="1051560" cy="365760"/>
          </a:xfrm>
          <a:prstGeom prst="rect">
            <a:avLst/>
          </a:prstGeom>
          <a:noFill/>
          <a:ln/>
        </p:spPr>
        <p:txBody>
          <a:bodyPr wrap="square" lIns="0" tIns="0" rIns="0" bIns="0" rtlCol="0" anchor="ctr"/>
          <a:lstStyle/>
          <a:p>
            <a:pPr indent="0" marL="0">
              <a:buNone/>
            </a:pPr>
            <a:r>
              <a:rPr lang="en-US" sz="900" b="1" spc="80" kern="0" dirty="0">
                <a:solidFill>
                  <a:srgbClr val="0054F0"/>
                </a:solidFill>
                <a:latin typeface="Arial" pitchFamily="34" charset="0"/>
                <a:ea typeface="Arial" pitchFamily="34" charset="-122"/>
                <a:cs typeface="Arial" pitchFamily="34" charset="-120"/>
              </a:rPr>
              <a:t>ROOT CAUSE</a:t>
            </a:r>
            <a:endParaRPr lang="en-US" sz="900" dirty="0"/>
          </a:p>
        </p:txBody>
      </p:sp>
      <p:sp>
        <p:nvSpPr>
          <p:cNvPr id="15" name="Text 13"/>
          <p:cNvSpPr/>
          <p:nvPr/>
        </p:nvSpPr>
        <p:spPr>
          <a:xfrm>
            <a:off x="2121408" y="4517136"/>
            <a:ext cx="3383280" cy="365760"/>
          </a:xfrm>
          <a:prstGeom prst="rect">
            <a:avLst/>
          </a:prstGeom>
          <a:noFill/>
          <a:ln/>
        </p:spPr>
        <p:txBody>
          <a:bodyPr wrap="square" lIns="0" tIns="0" rIns="0" bIns="0" rtlCol="0" anchor="ctr"/>
          <a:lstStyle/>
          <a:p>
            <a:pPr indent="0" marL="0">
              <a:buNone/>
            </a:pPr>
            <a:r>
              <a:rPr lang="en-US" sz="1200" dirty="0">
                <a:solidFill>
                  <a:srgbClr val="7A6B60"/>
                </a:solidFill>
                <a:latin typeface="Arial" pitchFamily="34" charset="0"/>
                <a:ea typeface="Arial" pitchFamily="34" charset="-122"/>
                <a:cs typeface="Arial" pitchFamily="34" charset="-120"/>
              </a:rPr>
              <a:t>No water exposure; garage-stored</a:t>
            </a:r>
            <a:endParaRPr lang="en-US" sz="1200" dirty="0"/>
          </a:p>
        </p:txBody>
      </p:sp>
      <p:sp>
        <p:nvSpPr>
          <p:cNvPr id="16" name="Text 14"/>
          <p:cNvSpPr/>
          <p:nvPr/>
        </p:nvSpPr>
        <p:spPr>
          <a:xfrm>
            <a:off x="1024128" y="4992624"/>
            <a:ext cx="1051560" cy="365760"/>
          </a:xfrm>
          <a:prstGeom prst="rect">
            <a:avLst/>
          </a:prstGeom>
          <a:noFill/>
          <a:ln/>
        </p:spPr>
        <p:txBody>
          <a:bodyPr wrap="square" lIns="0" tIns="0" rIns="0" bIns="0" rtlCol="0" anchor="ctr"/>
          <a:lstStyle/>
          <a:p>
            <a:pPr indent="0" marL="0">
              <a:buNone/>
            </a:pPr>
            <a:r>
              <a:rPr lang="en-US" sz="900" b="1" spc="80" kern="0" dirty="0">
                <a:solidFill>
                  <a:srgbClr val="0054F0"/>
                </a:solidFill>
                <a:latin typeface="Arial" pitchFamily="34" charset="0"/>
                <a:ea typeface="Arial" pitchFamily="34" charset="-122"/>
                <a:cs typeface="Arial" pitchFamily="34" charset="-120"/>
              </a:rPr>
              <a:t>DECISION</a:t>
            </a:r>
            <a:endParaRPr lang="en-US" sz="900" dirty="0"/>
          </a:p>
        </p:txBody>
      </p:sp>
      <p:sp>
        <p:nvSpPr>
          <p:cNvPr id="17" name="Text 15"/>
          <p:cNvSpPr/>
          <p:nvPr/>
        </p:nvSpPr>
        <p:spPr>
          <a:xfrm>
            <a:off x="2121408" y="4992624"/>
            <a:ext cx="3383280" cy="365760"/>
          </a:xfrm>
          <a:prstGeom prst="rect">
            <a:avLst/>
          </a:prstGeom>
          <a:noFill/>
          <a:ln/>
        </p:spPr>
        <p:txBody>
          <a:bodyPr wrap="square" lIns="0" tIns="0" rIns="0" bIns="0" rtlCol="0" anchor="ctr"/>
          <a:lstStyle/>
          <a:p>
            <a:pPr indent="0" marL="0">
              <a:buNone/>
            </a:pPr>
            <a:r>
              <a:rPr lang="en-US" sz="1200" b="1" dirty="0">
                <a:solidFill>
                  <a:srgbClr val="331E11"/>
                </a:solidFill>
                <a:latin typeface="Arial" pitchFamily="34" charset="0"/>
                <a:ea typeface="Arial" pitchFamily="34" charset="-122"/>
                <a:cs typeface="Arial" pitchFamily="34" charset="-120"/>
              </a:rPr>
              <a:t>warranty.md § Section 5</a:t>
            </a:r>
            <a:endParaRPr lang="en-US" sz="1200" dirty="0"/>
          </a:p>
        </p:txBody>
      </p:sp>
      <p:sp>
        <p:nvSpPr>
          <p:cNvPr id="18" name="Shape 16"/>
          <p:cNvSpPr/>
          <p:nvPr/>
        </p:nvSpPr>
        <p:spPr>
          <a:xfrm>
            <a:off x="6263640" y="2788920"/>
            <a:ext cx="5257800" cy="2788920"/>
          </a:xfrm>
          <a:prstGeom prst="roundRect">
            <a:avLst>
              <a:gd name="adj" fmla="val 4590"/>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9" name="Text 17"/>
          <p:cNvSpPr/>
          <p:nvPr/>
        </p:nvSpPr>
        <p:spPr>
          <a:xfrm>
            <a:off x="6647688" y="3017520"/>
            <a:ext cx="2926080" cy="365760"/>
          </a:xfrm>
          <a:prstGeom prst="rect">
            <a:avLst/>
          </a:prstGeom>
          <a:noFill/>
          <a:ln/>
        </p:spPr>
        <p:txBody>
          <a:bodyPr wrap="square" lIns="0" tIns="0" rIns="0" bIns="0" rtlCol="0" anchor="ctr"/>
          <a:lstStyle/>
          <a:p>
            <a:pPr indent="0" marL="0">
              <a:buNone/>
            </a:pPr>
            <a:r>
              <a:rPr lang="en-US" sz="1700" b="1" dirty="0">
                <a:solidFill>
                  <a:srgbClr val="331E11"/>
                </a:solidFill>
                <a:latin typeface="Arial" pitchFamily="34" charset="0"/>
                <a:ea typeface="Arial" pitchFamily="34" charset="-122"/>
                <a:cs typeface="Arial" pitchFamily="34" charset="-120"/>
              </a:rPr>
              <a:t>Erik Svensson</a:t>
            </a:r>
            <a:endParaRPr lang="en-US" sz="1700" dirty="0"/>
          </a:p>
        </p:txBody>
      </p:sp>
      <p:sp>
        <p:nvSpPr>
          <p:cNvPr id="20" name="Shape 18"/>
          <p:cNvSpPr/>
          <p:nvPr/>
        </p:nvSpPr>
        <p:spPr>
          <a:xfrm>
            <a:off x="9646920" y="3017520"/>
            <a:ext cx="1508760" cy="365760"/>
          </a:xfrm>
          <a:prstGeom prst="roundRect">
            <a:avLst>
              <a:gd name="adj" fmla="val 50000"/>
            </a:avLst>
          </a:prstGeom>
          <a:solidFill>
            <a:srgbClr val="331E11"/>
          </a:solidFill>
          <a:ln/>
        </p:spPr>
      </p:sp>
      <p:sp>
        <p:nvSpPr>
          <p:cNvPr id="21" name="Text 19"/>
          <p:cNvSpPr/>
          <p:nvPr/>
        </p:nvSpPr>
        <p:spPr>
          <a:xfrm>
            <a:off x="9646920" y="3017520"/>
            <a:ext cx="1508760" cy="365760"/>
          </a:xfrm>
          <a:prstGeom prst="rect">
            <a:avLst/>
          </a:prstGeom>
          <a:noFill/>
          <a:ln/>
        </p:spPr>
        <p:txBody>
          <a:bodyPr wrap="square" lIns="0" tIns="0" rIns="0" bIns="0" rtlCol="0" anchor="ctr"/>
          <a:lstStyle/>
          <a:p>
            <a:pPr algn="ctr" indent="0" marL="0">
              <a:buNone/>
            </a:pPr>
            <a:r>
              <a:rPr lang="en-US" sz="1050" b="1" spc="80" kern="0" dirty="0">
                <a:solidFill>
                  <a:srgbClr val="FFFFFF"/>
                </a:solidFill>
                <a:latin typeface="Arial" pitchFamily="34" charset="0"/>
                <a:ea typeface="Arial" pitchFamily="34" charset="-122"/>
                <a:cs typeface="Arial" pitchFamily="34" charset="-120"/>
              </a:rPr>
              <a:t>NOT ELIGIBLE</a:t>
            </a:r>
            <a:endParaRPr lang="en-US" sz="1050" dirty="0"/>
          </a:p>
        </p:txBody>
      </p:sp>
      <p:sp>
        <p:nvSpPr>
          <p:cNvPr id="22" name="Text 20"/>
          <p:cNvSpPr/>
          <p:nvPr/>
        </p:nvSpPr>
        <p:spPr>
          <a:xfrm>
            <a:off x="6647688" y="3566160"/>
            <a:ext cx="1051560" cy="365760"/>
          </a:xfrm>
          <a:prstGeom prst="rect">
            <a:avLst/>
          </a:prstGeom>
          <a:noFill/>
          <a:ln/>
        </p:spPr>
        <p:txBody>
          <a:bodyPr wrap="square" lIns="0" tIns="0" rIns="0" bIns="0" rtlCol="0" anchor="ctr"/>
          <a:lstStyle/>
          <a:p>
            <a:pPr indent="0" marL="0">
              <a:buNone/>
            </a:pPr>
            <a:r>
              <a:rPr lang="en-US" sz="900" b="1" spc="80" kern="0" dirty="0">
                <a:solidFill>
                  <a:srgbClr val="0054F0"/>
                </a:solidFill>
                <a:latin typeface="Arial" pitchFamily="34" charset="0"/>
                <a:ea typeface="Arial" pitchFamily="34" charset="-122"/>
                <a:cs typeface="Arial" pitchFamily="34" charset="-120"/>
              </a:rPr>
              <a:t>BATCH</a:t>
            </a:r>
            <a:endParaRPr lang="en-US" sz="900" dirty="0"/>
          </a:p>
        </p:txBody>
      </p:sp>
      <p:sp>
        <p:nvSpPr>
          <p:cNvPr id="23" name="Text 21"/>
          <p:cNvSpPr/>
          <p:nvPr/>
        </p:nvSpPr>
        <p:spPr>
          <a:xfrm>
            <a:off x="7744968" y="3566160"/>
            <a:ext cx="3383280" cy="365760"/>
          </a:xfrm>
          <a:prstGeom prst="rect">
            <a:avLst/>
          </a:prstGeom>
          <a:noFill/>
          <a:ln/>
        </p:spPr>
        <p:txBody>
          <a:bodyPr wrap="square" lIns="0" tIns="0" rIns="0" bIns="0" rtlCol="0" anchor="ctr"/>
          <a:lstStyle/>
          <a:p>
            <a:pPr indent="0" marL="0">
              <a:buNone/>
            </a:pPr>
            <a:r>
              <a:rPr lang="en-US" sz="1200" dirty="0">
                <a:solidFill>
                  <a:srgbClr val="7A6B60"/>
                </a:solidFill>
                <a:latin typeface="Arial" pitchFamily="34" charset="0"/>
                <a:ea typeface="Arial" pitchFamily="34" charset="-122"/>
                <a:cs typeface="Arial" pitchFamily="34" charset="-120"/>
              </a:rPr>
              <a:t>AX3-25A</a:t>
            </a:r>
            <a:endParaRPr lang="en-US" sz="1200" dirty="0"/>
          </a:p>
        </p:txBody>
      </p:sp>
      <p:sp>
        <p:nvSpPr>
          <p:cNvPr id="24" name="Text 22"/>
          <p:cNvSpPr/>
          <p:nvPr/>
        </p:nvSpPr>
        <p:spPr>
          <a:xfrm>
            <a:off x="6647688" y="4041648"/>
            <a:ext cx="1051560" cy="365760"/>
          </a:xfrm>
          <a:prstGeom prst="rect">
            <a:avLst/>
          </a:prstGeom>
          <a:noFill/>
          <a:ln/>
        </p:spPr>
        <p:txBody>
          <a:bodyPr wrap="square" lIns="0" tIns="0" rIns="0" bIns="0" rtlCol="0" anchor="ctr"/>
          <a:lstStyle/>
          <a:p>
            <a:pPr indent="0" marL="0">
              <a:buNone/>
            </a:pPr>
            <a:r>
              <a:rPr lang="en-US" sz="900" b="1" spc="80" kern="0" dirty="0">
                <a:solidFill>
                  <a:srgbClr val="0054F0"/>
                </a:solidFill>
                <a:latin typeface="Arial" pitchFamily="34" charset="0"/>
                <a:ea typeface="Arial" pitchFamily="34" charset="-122"/>
                <a:cs typeface="Arial" pitchFamily="34" charset="-120"/>
              </a:rPr>
              <a:t>SYMPTOM</a:t>
            </a:r>
            <a:endParaRPr lang="en-US" sz="900" dirty="0"/>
          </a:p>
        </p:txBody>
      </p:sp>
      <p:sp>
        <p:nvSpPr>
          <p:cNvPr id="25" name="Text 23"/>
          <p:cNvSpPr/>
          <p:nvPr/>
        </p:nvSpPr>
        <p:spPr>
          <a:xfrm>
            <a:off x="7744968" y="4041648"/>
            <a:ext cx="3383280" cy="365760"/>
          </a:xfrm>
          <a:prstGeom prst="rect">
            <a:avLst/>
          </a:prstGeom>
          <a:noFill/>
          <a:ln/>
        </p:spPr>
        <p:txBody>
          <a:bodyPr wrap="square" lIns="0" tIns="0" rIns="0" bIns="0" rtlCol="0" anchor="ctr"/>
          <a:lstStyle/>
          <a:p>
            <a:pPr indent="0" marL="0">
              <a:buNone/>
            </a:pPr>
            <a:r>
              <a:rPr lang="en-US" sz="1200" dirty="0">
                <a:solidFill>
                  <a:srgbClr val="7A6B60"/>
                </a:solidFill>
                <a:latin typeface="Arial" pitchFamily="34" charset="0"/>
                <a:ea typeface="Arial" pitchFamily="34" charset="-122"/>
                <a:cs typeface="Arial" pitchFamily="34" charset="-120"/>
              </a:rPr>
              <a:t>Intermittent power loss</a:t>
            </a:r>
            <a:endParaRPr lang="en-US" sz="1200" dirty="0"/>
          </a:p>
        </p:txBody>
      </p:sp>
      <p:sp>
        <p:nvSpPr>
          <p:cNvPr id="26" name="Text 24"/>
          <p:cNvSpPr/>
          <p:nvPr/>
        </p:nvSpPr>
        <p:spPr>
          <a:xfrm>
            <a:off x="6647688" y="4517136"/>
            <a:ext cx="1051560" cy="365760"/>
          </a:xfrm>
          <a:prstGeom prst="rect">
            <a:avLst/>
          </a:prstGeom>
          <a:noFill/>
          <a:ln/>
        </p:spPr>
        <p:txBody>
          <a:bodyPr wrap="square" lIns="0" tIns="0" rIns="0" bIns="0" rtlCol="0" anchor="ctr"/>
          <a:lstStyle/>
          <a:p>
            <a:pPr indent="0" marL="0">
              <a:buNone/>
            </a:pPr>
            <a:r>
              <a:rPr lang="en-US" sz="900" b="1" spc="80" kern="0" dirty="0">
                <a:solidFill>
                  <a:srgbClr val="0054F0"/>
                </a:solidFill>
                <a:latin typeface="Arial" pitchFamily="34" charset="0"/>
                <a:ea typeface="Arial" pitchFamily="34" charset="-122"/>
                <a:cs typeface="Arial" pitchFamily="34" charset="-120"/>
              </a:rPr>
              <a:t>ROOT CAUSE</a:t>
            </a:r>
            <a:endParaRPr lang="en-US" sz="900" dirty="0"/>
          </a:p>
        </p:txBody>
      </p:sp>
      <p:sp>
        <p:nvSpPr>
          <p:cNvPr id="27" name="Text 25"/>
          <p:cNvSpPr/>
          <p:nvPr/>
        </p:nvSpPr>
        <p:spPr>
          <a:xfrm>
            <a:off x="7744968" y="4517136"/>
            <a:ext cx="3383280" cy="365760"/>
          </a:xfrm>
          <a:prstGeom prst="rect">
            <a:avLst/>
          </a:prstGeom>
          <a:noFill/>
          <a:ln/>
        </p:spPr>
        <p:txBody>
          <a:bodyPr wrap="square" lIns="0" tIns="0" rIns="0" bIns="0" rtlCol="0" anchor="ctr"/>
          <a:lstStyle/>
          <a:p>
            <a:pPr indent="0" marL="0">
              <a:buNone/>
            </a:pPr>
            <a:r>
              <a:rPr lang="en-US" sz="1200" dirty="0">
                <a:solidFill>
                  <a:srgbClr val="7A6B60"/>
                </a:solidFill>
                <a:latin typeface="Arial" pitchFamily="34" charset="0"/>
                <a:ea typeface="Arial" pitchFamily="34" charset="-122"/>
                <a:cs typeface="Arial" pitchFamily="34" charset="-120"/>
              </a:rPr>
              <a:t>Pressure-washed near battery compartment</a:t>
            </a:r>
            <a:endParaRPr lang="en-US" sz="1200" dirty="0"/>
          </a:p>
        </p:txBody>
      </p:sp>
      <p:sp>
        <p:nvSpPr>
          <p:cNvPr id="28" name="Text 26"/>
          <p:cNvSpPr/>
          <p:nvPr/>
        </p:nvSpPr>
        <p:spPr>
          <a:xfrm>
            <a:off x="6647688" y="4992624"/>
            <a:ext cx="1051560" cy="365760"/>
          </a:xfrm>
          <a:prstGeom prst="rect">
            <a:avLst/>
          </a:prstGeom>
          <a:noFill/>
          <a:ln/>
        </p:spPr>
        <p:txBody>
          <a:bodyPr wrap="square" lIns="0" tIns="0" rIns="0" bIns="0" rtlCol="0" anchor="ctr"/>
          <a:lstStyle/>
          <a:p>
            <a:pPr indent="0" marL="0">
              <a:buNone/>
            </a:pPr>
            <a:r>
              <a:rPr lang="en-US" sz="900" b="1" spc="80" kern="0" dirty="0">
                <a:solidFill>
                  <a:srgbClr val="0054F0"/>
                </a:solidFill>
                <a:latin typeface="Arial" pitchFamily="34" charset="0"/>
                <a:ea typeface="Arial" pitchFamily="34" charset="-122"/>
                <a:cs typeface="Arial" pitchFamily="34" charset="-120"/>
              </a:rPr>
              <a:t>DECISION</a:t>
            </a:r>
            <a:endParaRPr lang="en-US" sz="900" dirty="0"/>
          </a:p>
        </p:txBody>
      </p:sp>
      <p:sp>
        <p:nvSpPr>
          <p:cNvPr id="29" name="Text 27"/>
          <p:cNvSpPr/>
          <p:nvPr/>
        </p:nvSpPr>
        <p:spPr>
          <a:xfrm>
            <a:off x="7744968" y="4992624"/>
            <a:ext cx="3383280" cy="365760"/>
          </a:xfrm>
          <a:prstGeom prst="rect">
            <a:avLst/>
          </a:prstGeom>
          <a:noFill/>
          <a:ln/>
        </p:spPr>
        <p:txBody>
          <a:bodyPr wrap="square" lIns="0" tIns="0" rIns="0" bIns="0" rtlCol="0" anchor="ctr"/>
          <a:lstStyle/>
          <a:p>
            <a:pPr indent="0" marL="0">
              <a:buNone/>
            </a:pPr>
            <a:r>
              <a:rPr lang="en-US" sz="1200" b="1" dirty="0">
                <a:solidFill>
                  <a:srgbClr val="331E11"/>
                </a:solidFill>
                <a:latin typeface="Arial" pitchFamily="34" charset="0"/>
                <a:ea typeface="Arial" pitchFamily="34" charset="-122"/>
                <a:cs typeface="Arial" pitchFamily="34" charset="-120"/>
              </a:rPr>
              <a:t>warranty.md § Section 4(i)</a:t>
            </a:r>
            <a:endParaRPr lang="en-US" sz="1200" dirty="0"/>
          </a:p>
        </p:txBody>
      </p:sp>
      <p:sp>
        <p:nvSpPr>
          <p:cNvPr id="30" name="Text 28"/>
          <p:cNvSpPr/>
          <p:nvPr/>
        </p:nvSpPr>
        <p:spPr>
          <a:xfrm>
            <a:off x="640080" y="5852160"/>
            <a:ext cx="10881360" cy="457200"/>
          </a:xfrm>
          <a:prstGeom prst="rect">
            <a:avLst/>
          </a:prstGeom>
          <a:noFill/>
          <a:ln/>
        </p:spPr>
        <p:txBody>
          <a:bodyPr wrap="square" lIns="0" tIns="0" rIns="0" bIns="0" rtlCol="0" anchor="ctr"/>
          <a:lstStyle/>
          <a:p>
            <a:pPr indent="0" marL="0">
              <a:buNone/>
            </a:pPr>
            <a:r>
              <a:rPr lang="en-US" sz="1400" i="1" dirty="0">
                <a:solidFill>
                  <a:srgbClr val="7A6B60"/>
                </a:solidFill>
                <a:latin typeface="Arial" pitchFamily="34" charset="0"/>
                <a:ea typeface="Arial" pitchFamily="34" charset="-122"/>
                <a:cs typeface="Arial" pitchFamily="34" charset="-120"/>
              </a:rPr>
              <a:t>An agent that reads the symptom and stops gets one of these two wrong. Every time.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31E11"/>
        </a:solidFill>
      </p:bgPr>
    </p:bg>
    <p:spTree>
      <p:nvGrpSpPr>
        <p:cNvPr id="1" name=""/>
        <p:cNvGrpSpPr/>
        <p:nvPr/>
      </p:nvGrpSpPr>
      <p:grpSpPr>
        <a:xfrm>
          <a:off x="0" y="0"/>
          <a:ext cx="0" cy="0"/>
          <a:chOff x="0" y="0"/>
          <a:chExt cx="0" cy="0"/>
        </a:xfrm>
      </p:grpSpPr>
      <p:pic>
        <p:nvPicPr>
          <p:cNvPr id="2" name="Image 0" descr="/home/claude/assets/contours.png">    </p:cNvPr>
          <p:cNvPicPr>
            <a:picLocks noChangeAspect="1"/>
          </p:cNvPicPr>
          <p:nvPr/>
        </p:nvPicPr>
        <p:blipFill>
          <a:blip r:embed="rId1">
            <a:alphaModFix amt="55000"/>
          </a:blip>
          <a:stretch>
            <a:fillRect/>
          </a:stretch>
        </p:blipFill>
        <p:spPr>
          <a:xfrm>
            <a:off x="0" y="2011680"/>
            <a:ext cx="12191695" cy="4846320"/>
          </a:xfrm>
          <a:prstGeom prst="rect">
            <a:avLst/>
          </a:prstGeom>
        </p:spPr>
      </p:pic>
      <p:sp>
        <p:nvSpPr>
          <p:cNvPr id="3" name="Text 0"/>
          <p:cNvSpPr/>
          <p:nvPr/>
        </p:nvSpPr>
        <p:spPr>
          <a:xfrm>
            <a:off x="640080" y="1965960"/>
            <a:ext cx="2743200" cy="1463040"/>
          </a:xfrm>
          <a:prstGeom prst="rect">
            <a:avLst/>
          </a:prstGeom>
          <a:noFill/>
          <a:ln/>
        </p:spPr>
        <p:txBody>
          <a:bodyPr wrap="square" lIns="0" tIns="0" rIns="0" bIns="0" rtlCol="0" anchor="ctr"/>
          <a:lstStyle/>
          <a:p>
            <a:pPr indent="0" marL="0">
              <a:buNone/>
            </a:pPr>
            <a:r>
              <a:rPr lang="en-US" sz="8800" b="1" dirty="0">
                <a:solidFill>
                  <a:srgbClr val="0054F0"/>
                </a:solidFill>
                <a:latin typeface="Arial" pitchFamily="34" charset="0"/>
                <a:ea typeface="Arial" pitchFamily="34" charset="-122"/>
                <a:cs typeface="Arial" pitchFamily="34" charset="-120"/>
              </a:rPr>
              <a:t>02</a:t>
            </a:r>
            <a:endParaRPr lang="en-US" sz="8800" dirty="0"/>
          </a:p>
        </p:txBody>
      </p:sp>
      <p:sp>
        <p:nvSpPr>
          <p:cNvPr id="4" name="Text 1"/>
          <p:cNvSpPr/>
          <p:nvPr/>
        </p:nvSpPr>
        <p:spPr>
          <a:xfrm>
            <a:off x="2788920" y="2148840"/>
            <a:ext cx="7772400" cy="822960"/>
          </a:xfrm>
          <a:prstGeom prst="rect">
            <a:avLst/>
          </a:prstGeom>
          <a:noFill/>
          <a:ln/>
        </p:spPr>
        <p:txBody>
          <a:bodyPr wrap="square" lIns="0" tIns="0" rIns="0" bIns="0" rtlCol="0" anchor="ctr"/>
          <a:lstStyle/>
          <a:p>
            <a:pPr indent="0" marL="0">
              <a:buNone/>
            </a:pPr>
            <a:r>
              <a:rPr lang="en-US" sz="4000" b="1" dirty="0">
                <a:solidFill>
                  <a:srgbClr val="FAF9F7"/>
                </a:solidFill>
                <a:latin typeface="Arial" pitchFamily="34" charset="0"/>
                <a:ea typeface="Arial" pitchFamily="34" charset="-122"/>
                <a:cs typeface="Arial" pitchFamily="34" charset="-120"/>
              </a:rPr>
              <a:t>The build</a:t>
            </a:r>
            <a:endParaRPr lang="en-US" sz="4000" dirty="0"/>
          </a:p>
        </p:txBody>
      </p:sp>
      <p:sp>
        <p:nvSpPr>
          <p:cNvPr id="5" name="Text 2"/>
          <p:cNvSpPr/>
          <p:nvPr/>
        </p:nvSpPr>
        <p:spPr>
          <a:xfrm>
            <a:off x="2852928" y="3017520"/>
            <a:ext cx="7772400" cy="457200"/>
          </a:xfrm>
          <a:prstGeom prst="rect">
            <a:avLst/>
          </a:prstGeom>
          <a:noFill/>
          <a:ln/>
        </p:spPr>
        <p:txBody>
          <a:bodyPr wrap="square" lIns="0" tIns="0" rIns="0" bIns="0" rtlCol="0" anchor="ctr"/>
          <a:lstStyle/>
          <a:p>
            <a:pPr indent="0" marL="0">
              <a:buNone/>
            </a:pPr>
            <a:r>
              <a:rPr lang="en-US" sz="1500" dirty="0">
                <a:solidFill>
                  <a:srgbClr val="E8E0D9"/>
                </a:solidFill>
                <a:latin typeface="Arial" pitchFamily="34" charset="0"/>
                <a:ea typeface="Arial" pitchFamily="34" charset="-122"/>
                <a:cs typeface="Arial" pitchFamily="34" charset="-120"/>
              </a:rPr>
              <a:t>Four versions of one agent, each one cheaper than the last.</a:t>
            </a:r>
            <a:endParaRPr lang="en-US" sz="1500" dirty="0"/>
          </a:p>
        </p:txBody>
      </p:sp>
      <p:sp>
        <p:nvSpPr>
          <p:cNvPr id="6" name="Shape 3"/>
          <p:cNvSpPr/>
          <p:nvPr/>
        </p:nvSpPr>
        <p:spPr>
          <a:xfrm>
            <a:off x="10088575" y="2286000"/>
            <a:ext cx="1051560" cy="1051560"/>
          </a:xfrm>
          <a:prstGeom prst="ellipse">
            <a:avLst/>
          </a:prstGeom>
          <a:solidFill>
            <a:srgbClr val="0054F0"/>
          </a:solidFill>
          <a:ln/>
        </p:spPr>
      </p:sp>
      <p:pic>
        <p:nvPicPr>
          <p:cNvPr id="7" name="Image 1" descr="/home/claude/assets/ic_tool_pampas.png">    </p:cNvPr>
          <p:cNvPicPr>
            <a:picLocks noChangeAspect="1"/>
          </p:cNvPicPr>
          <p:nvPr/>
        </p:nvPicPr>
        <p:blipFill>
          <a:blip r:embed="rId2"/>
          <a:stretch>
            <a:fillRect/>
          </a:stretch>
        </p:blipFill>
        <p:spPr>
          <a:xfrm>
            <a:off x="10361981" y="2559406"/>
            <a:ext cx="504749" cy="5047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12</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THE STARTING POINT</a:t>
            </a:r>
            <a:endParaRPr lang="en-US" sz="1150" dirty="0"/>
          </a:p>
        </p:txBody>
      </p:sp>
      <p:sp>
        <p:nvSpPr>
          <p:cNvPr id="4" name="Text 2"/>
          <p:cNvSpPr/>
          <p:nvPr/>
        </p:nvSpPr>
        <p:spPr>
          <a:xfrm>
            <a:off x="640080" y="841248"/>
            <a:ext cx="594360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Meet the naive agent</a:t>
            </a:r>
            <a:endParaRPr lang="en-US" sz="3600" dirty="0"/>
          </a:p>
        </p:txBody>
      </p:sp>
      <p:sp>
        <p:nvSpPr>
          <p:cNvPr id="5" name="Text 3"/>
          <p:cNvSpPr/>
          <p:nvPr/>
        </p:nvSpPr>
        <p:spPr>
          <a:xfrm>
            <a:off x="640080" y="1965960"/>
            <a:ext cx="5212080" cy="822960"/>
          </a:xfrm>
          <a:prstGeom prst="rect">
            <a:avLst/>
          </a:prstGeom>
          <a:noFill/>
          <a:ln/>
        </p:spPr>
        <p:txBody>
          <a:bodyPr wrap="square" lIns="0" tIns="0" rIns="0" bIns="0" rtlCol="0" anchor="ctr"/>
          <a:lstStyle/>
          <a:p>
            <a:pPr indent="0" marL="0">
              <a:lnSpc>
                <a:spcPts val="2300"/>
              </a:lnSpc>
              <a:buNone/>
            </a:pPr>
            <a:r>
              <a:rPr lang="en-US" sz="1500" dirty="0">
                <a:solidFill>
                  <a:srgbClr val="331E11"/>
                </a:solidFill>
                <a:latin typeface="Arial" pitchFamily="34" charset="0"/>
                <a:ea typeface="Arial" pitchFamily="34" charset="-122"/>
                <a:cs typeface="Arial" pitchFamily="34" charset="-120"/>
              </a:rPr>
              <a:t>V1 works. That is what makes it a good baseline and a bad agent — it produces defensible answers at a cost nobody would sign off.</a:t>
            </a:r>
            <a:endParaRPr lang="en-US" sz="1500" dirty="0"/>
          </a:p>
        </p:txBody>
      </p:sp>
      <p:sp>
        <p:nvSpPr>
          <p:cNvPr id="6" name="Shape 4"/>
          <p:cNvSpPr/>
          <p:nvPr/>
        </p:nvSpPr>
        <p:spPr>
          <a:xfrm>
            <a:off x="640080" y="2971800"/>
            <a:ext cx="5212080" cy="822960"/>
          </a:xfrm>
          <a:prstGeom prst="roundRect">
            <a:avLst>
              <a:gd name="adj" fmla="val 15556"/>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7" name="Text 5"/>
          <p:cNvSpPr/>
          <p:nvPr/>
        </p:nvSpPr>
        <p:spPr>
          <a:xfrm>
            <a:off x="960120" y="2971800"/>
            <a:ext cx="1691640" cy="822960"/>
          </a:xfrm>
          <a:prstGeom prst="rect">
            <a:avLst/>
          </a:prstGeom>
          <a:noFill/>
          <a:ln/>
        </p:spPr>
        <p:txBody>
          <a:bodyPr wrap="square" lIns="0" tIns="0" rIns="0" bIns="0" rtlCol="0" anchor="ctr"/>
          <a:lstStyle/>
          <a:p>
            <a:pPr indent="0" marL="0">
              <a:buNone/>
            </a:pPr>
            <a:r>
              <a:rPr lang="en-US" sz="2400" b="1" dirty="0">
                <a:solidFill>
                  <a:srgbClr val="0054F0"/>
                </a:solidFill>
                <a:latin typeface="Arial" pitchFamily="34" charset="0"/>
                <a:ea typeface="Arial" pitchFamily="34" charset="-122"/>
                <a:cs typeface="Arial" pitchFamily="34" charset="-120"/>
              </a:rPr>
              <a:t>18,400</a:t>
            </a:r>
            <a:endParaRPr lang="en-US" sz="2400" dirty="0"/>
          </a:p>
        </p:txBody>
      </p:sp>
      <p:sp>
        <p:nvSpPr>
          <p:cNvPr id="8" name="Text 6"/>
          <p:cNvSpPr/>
          <p:nvPr/>
        </p:nvSpPr>
        <p:spPr>
          <a:xfrm>
            <a:off x="2743200" y="2971800"/>
            <a:ext cx="2926080" cy="822960"/>
          </a:xfrm>
          <a:prstGeom prst="rect">
            <a:avLst/>
          </a:prstGeom>
          <a:noFill/>
          <a:ln/>
        </p:spPr>
        <p:txBody>
          <a:bodyPr wrap="square" lIns="0" tIns="0" rIns="0" bIns="0" rtlCol="0" anchor="ctr"/>
          <a:lstStyle/>
          <a:p>
            <a:pPr indent="0" marL="0">
              <a:buNone/>
            </a:pPr>
            <a:r>
              <a:rPr lang="en-US" sz="1250" dirty="0">
                <a:solidFill>
                  <a:srgbClr val="7A6B60"/>
                </a:solidFill>
                <a:latin typeface="Arial" pitchFamily="34" charset="0"/>
                <a:ea typeface="Arial" pitchFamily="34" charset="-122"/>
                <a:cs typeface="Arial" pitchFamily="34" charset="-120"/>
              </a:rPr>
              <a:t>tokens in a single call</a:t>
            </a:r>
            <a:endParaRPr lang="en-US" sz="1250" dirty="0"/>
          </a:p>
        </p:txBody>
      </p:sp>
      <p:sp>
        <p:nvSpPr>
          <p:cNvPr id="9" name="Shape 7"/>
          <p:cNvSpPr/>
          <p:nvPr/>
        </p:nvSpPr>
        <p:spPr>
          <a:xfrm>
            <a:off x="640080" y="3931920"/>
            <a:ext cx="5212080" cy="822960"/>
          </a:xfrm>
          <a:prstGeom prst="roundRect">
            <a:avLst>
              <a:gd name="adj" fmla="val 15556"/>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0" name="Text 8"/>
          <p:cNvSpPr/>
          <p:nvPr/>
        </p:nvSpPr>
        <p:spPr>
          <a:xfrm>
            <a:off x="960120" y="3931920"/>
            <a:ext cx="1691640" cy="822960"/>
          </a:xfrm>
          <a:prstGeom prst="rect">
            <a:avLst/>
          </a:prstGeom>
          <a:noFill/>
          <a:ln/>
        </p:spPr>
        <p:txBody>
          <a:bodyPr wrap="square" lIns="0" tIns="0" rIns="0" bIns="0" rtlCol="0" anchor="ctr"/>
          <a:lstStyle/>
          <a:p>
            <a:pPr indent="0" marL="0">
              <a:buNone/>
            </a:pPr>
            <a:r>
              <a:rPr lang="en-US" sz="2400" b="1" dirty="0">
                <a:solidFill>
                  <a:srgbClr val="0054F0"/>
                </a:solidFill>
                <a:latin typeface="Arial" pitchFamily="34" charset="0"/>
                <a:ea typeface="Arial" pitchFamily="34" charset="-122"/>
                <a:cs typeface="Arial" pitchFamily="34" charset="-120"/>
              </a:rPr>
              <a:t>1</a:t>
            </a:r>
            <a:endParaRPr lang="en-US" sz="2400" dirty="0"/>
          </a:p>
        </p:txBody>
      </p:sp>
      <p:sp>
        <p:nvSpPr>
          <p:cNvPr id="11" name="Text 9"/>
          <p:cNvSpPr/>
          <p:nvPr/>
        </p:nvSpPr>
        <p:spPr>
          <a:xfrm>
            <a:off x="2743200" y="3931920"/>
            <a:ext cx="2926080" cy="822960"/>
          </a:xfrm>
          <a:prstGeom prst="rect">
            <a:avLst/>
          </a:prstGeom>
          <a:noFill/>
          <a:ln/>
        </p:spPr>
        <p:txBody>
          <a:bodyPr wrap="square" lIns="0" tIns="0" rIns="0" bIns="0" rtlCol="0" anchor="ctr"/>
          <a:lstStyle/>
          <a:p>
            <a:pPr indent="0" marL="0">
              <a:buNone/>
            </a:pPr>
            <a:r>
              <a:rPr lang="en-US" sz="1250" dirty="0">
                <a:solidFill>
                  <a:srgbClr val="7A6B60"/>
                </a:solidFill>
                <a:latin typeface="Arial" pitchFamily="34" charset="0"/>
                <a:ea typeface="Arial" pitchFamily="34" charset="-122"/>
                <a:cs typeface="Arial" pitchFamily="34" charset="-120"/>
              </a:rPr>
              <a:t>model call, no delegation</a:t>
            </a:r>
            <a:endParaRPr lang="en-US" sz="1250" dirty="0"/>
          </a:p>
        </p:txBody>
      </p:sp>
      <p:sp>
        <p:nvSpPr>
          <p:cNvPr id="12" name="Shape 10"/>
          <p:cNvSpPr/>
          <p:nvPr/>
        </p:nvSpPr>
        <p:spPr>
          <a:xfrm>
            <a:off x="640080" y="4892040"/>
            <a:ext cx="5212080" cy="822960"/>
          </a:xfrm>
          <a:prstGeom prst="roundRect">
            <a:avLst>
              <a:gd name="adj" fmla="val 15556"/>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3" name="Text 11"/>
          <p:cNvSpPr/>
          <p:nvPr/>
        </p:nvSpPr>
        <p:spPr>
          <a:xfrm>
            <a:off x="960120" y="4892040"/>
            <a:ext cx="1691640" cy="822960"/>
          </a:xfrm>
          <a:prstGeom prst="rect">
            <a:avLst/>
          </a:prstGeom>
          <a:noFill/>
          <a:ln/>
        </p:spPr>
        <p:txBody>
          <a:bodyPr wrap="square" lIns="0" tIns="0" rIns="0" bIns="0" rtlCol="0" anchor="ctr"/>
          <a:lstStyle/>
          <a:p>
            <a:pPr indent="0" marL="0">
              <a:buNone/>
            </a:pPr>
            <a:r>
              <a:rPr lang="en-US" sz="2400" b="1" dirty="0">
                <a:solidFill>
                  <a:srgbClr val="0054F0"/>
                </a:solidFill>
                <a:latin typeface="Arial" pitchFamily="34" charset="0"/>
                <a:ea typeface="Arial" pitchFamily="34" charset="-122"/>
                <a:cs typeface="Arial" pitchFamily="34" charset="-120"/>
              </a:rPr>
              <a:t>Tier 3</a:t>
            </a:r>
            <a:endParaRPr lang="en-US" sz="2400" dirty="0"/>
          </a:p>
        </p:txBody>
      </p:sp>
      <p:sp>
        <p:nvSpPr>
          <p:cNvPr id="14" name="Text 12"/>
          <p:cNvSpPr/>
          <p:nvPr/>
        </p:nvSpPr>
        <p:spPr>
          <a:xfrm>
            <a:off x="2743200" y="4892040"/>
            <a:ext cx="2926080" cy="822960"/>
          </a:xfrm>
          <a:prstGeom prst="rect">
            <a:avLst/>
          </a:prstGeom>
          <a:noFill/>
          <a:ln/>
        </p:spPr>
        <p:txBody>
          <a:bodyPr wrap="square" lIns="0" tIns="0" rIns="0" bIns="0" rtlCol="0" anchor="ctr"/>
          <a:lstStyle/>
          <a:p>
            <a:pPr indent="0" marL="0">
              <a:buNone/>
            </a:pPr>
            <a:r>
              <a:rPr lang="en-US" sz="1250" dirty="0">
                <a:solidFill>
                  <a:srgbClr val="7A6B60"/>
                </a:solidFill>
                <a:latin typeface="Arial" pitchFamily="34" charset="0"/>
                <a:ea typeface="Arial" pitchFamily="34" charset="-122"/>
                <a:cs typeface="Arial" pitchFamily="34" charset="-120"/>
              </a:rPr>
              <a:t>frontier model, for all of it</a:t>
            </a:r>
            <a:endParaRPr lang="en-US" sz="1250" dirty="0"/>
          </a:p>
        </p:txBody>
      </p:sp>
      <p:sp>
        <p:nvSpPr>
          <p:cNvPr id="15" name="Shape 13"/>
          <p:cNvSpPr/>
          <p:nvPr/>
        </p:nvSpPr>
        <p:spPr>
          <a:xfrm>
            <a:off x="6537960" y="1874520"/>
            <a:ext cx="5010912" cy="3977640"/>
          </a:xfrm>
          <a:prstGeom prst="roundRect">
            <a:avLst>
              <a:gd name="adj" fmla="val 3218"/>
            </a:avLst>
          </a:prstGeom>
          <a:solidFill>
            <a:srgbClr val="331E11"/>
          </a:solidFill>
          <a:ln/>
        </p:spPr>
      </p:sp>
      <p:sp>
        <p:nvSpPr>
          <p:cNvPr id="16" name="Text 14"/>
          <p:cNvSpPr/>
          <p:nvPr/>
        </p:nvSpPr>
        <p:spPr>
          <a:xfrm>
            <a:off x="6949440" y="2148840"/>
            <a:ext cx="4206240" cy="365760"/>
          </a:xfrm>
          <a:prstGeom prst="rect">
            <a:avLst/>
          </a:prstGeom>
          <a:noFill/>
          <a:ln/>
        </p:spPr>
        <p:txBody>
          <a:bodyPr wrap="square" lIns="0" tIns="0" rIns="0" bIns="0" rtlCol="0" anchor="ctr"/>
          <a:lstStyle/>
          <a:p>
            <a:pPr indent="0" marL="0">
              <a:buNone/>
            </a:pPr>
            <a:r>
              <a:rPr lang="en-US" sz="1600" b="1" dirty="0">
                <a:solidFill>
                  <a:srgbClr val="D6E3FF"/>
                </a:solidFill>
                <a:latin typeface="Arial" pitchFamily="34" charset="0"/>
                <a:ea typeface="Arial" pitchFamily="34" charset="-122"/>
                <a:cs typeface="Arial" pitchFamily="34" charset="-120"/>
              </a:rPr>
              <a:t>What it puts in the call</a:t>
            </a:r>
            <a:endParaRPr lang="en-US" sz="1600" dirty="0"/>
          </a:p>
        </p:txBody>
      </p:sp>
      <p:sp>
        <p:nvSpPr>
          <p:cNvPr id="17" name="Shape 15"/>
          <p:cNvSpPr/>
          <p:nvPr/>
        </p:nvSpPr>
        <p:spPr>
          <a:xfrm>
            <a:off x="6967728" y="2825496"/>
            <a:ext cx="128016" cy="128016"/>
          </a:xfrm>
          <a:prstGeom prst="ellipse">
            <a:avLst/>
          </a:prstGeom>
          <a:solidFill>
            <a:srgbClr val="0054F0"/>
          </a:solidFill>
          <a:ln/>
        </p:spPr>
      </p:sp>
      <p:sp>
        <p:nvSpPr>
          <p:cNvPr id="18" name="Text 16"/>
          <p:cNvSpPr/>
          <p:nvPr/>
        </p:nvSpPr>
        <p:spPr>
          <a:xfrm>
            <a:off x="7269480" y="2697480"/>
            <a:ext cx="3931920" cy="402336"/>
          </a:xfrm>
          <a:prstGeom prst="rect">
            <a:avLst/>
          </a:prstGeom>
          <a:noFill/>
          <a:ln/>
        </p:spPr>
        <p:txBody>
          <a:bodyPr wrap="square" lIns="0" tIns="0" rIns="0" bIns="0" rtlCol="0" anchor="ctr"/>
          <a:lstStyle/>
          <a:p>
            <a:pPr indent="0" marL="0">
              <a:buNone/>
            </a:pPr>
            <a:r>
              <a:rPr lang="en-US" sz="1350" dirty="0">
                <a:solidFill>
                  <a:srgbClr val="E8E0D9"/>
                </a:solidFill>
                <a:latin typeface="Arial" pitchFamily="34" charset="0"/>
                <a:ea typeface="Arial" pitchFamily="34" charset="-122"/>
                <a:cs typeface="Arial" pitchFamily="34" charset="-120"/>
              </a:rPr>
              <a:t>Every knowledge-base file</a:t>
            </a:r>
            <a:endParaRPr lang="en-US" sz="1350" dirty="0"/>
          </a:p>
        </p:txBody>
      </p:sp>
      <p:sp>
        <p:nvSpPr>
          <p:cNvPr id="19" name="Shape 17"/>
          <p:cNvSpPr/>
          <p:nvPr/>
        </p:nvSpPr>
        <p:spPr>
          <a:xfrm>
            <a:off x="6967728" y="3355848"/>
            <a:ext cx="128016" cy="128016"/>
          </a:xfrm>
          <a:prstGeom prst="ellipse">
            <a:avLst/>
          </a:prstGeom>
          <a:solidFill>
            <a:srgbClr val="0054F0"/>
          </a:solidFill>
          <a:ln/>
        </p:spPr>
      </p:sp>
      <p:sp>
        <p:nvSpPr>
          <p:cNvPr id="20" name="Text 18"/>
          <p:cNvSpPr/>
          <p:nvPr/>
        </p:nvSpPr>
        <p:spPr>
          <a:xfrm>
            <a:off x="7269480" y="3227832"/>
            <a:ext cx="3931920" cy="402336"/>
          </a:xfrm>
          <a:prstGeom prst="rect">
            <a:avLst/>
          </a:prstGeom>
          <a:noFill/>
          <a:ln/>
        </p:spPr>
        <p:txBody>
          <a:bodyPr wrap="square" lIns="0" tIns="0" rIns="0" bIns="0" rtlCol="0" anchor="ctr"/>
          <a:lstStyle/>
          <a:p>
            <a:pPr indent="0" marL="0">
              <a:buNone/>
            </a:pPr>
            <a:r>
              <a:rPr lang="en-US" sz="1350" dirty="0">
                <a:solidFill>
                  <a:srgbClr val="E8E0D9"/>
                </a:solidFill>
                <a:latin typeface="Arial" pitchFamily="34" charset="0"/>
                <a:ea typeface="Arial" pitchFamily="34" charset="-122"/>
                <a:cs typeface="Arial" pitchFamily="34" charset="-120"/>
              </a:rPr>
              <a:t>The full customer record</a:t>
            </a:r>
            <a:endParaRPr lang="en-US" sz="1350" dirty="0"/>
          </a:p>
        </p:txBody>
      </p:sp>
      <p:sp>
        <p:nvSpPr>
          <p:cNvPr id="21" name="Shape 19"/>
          <p:cNvSpPr/>
          <p:nvPr/>
        </p:nvSpPr>
        <p:spPr>
          <a:xfrm>
            <a:off x="6967728" y="3886200"/>
            <a:ext cx="128016" cy="128016"/>
          </a:xfrm>
          <a:prstGeom prst="ellipse">
            <a:avLst/>
          </a:prstGeom>
          <a:solidFill>
            <a:srgbClr val="0054F0"/>
          </a:solidFill>
          <a:ln/>
        </p:spPr>
      </p:sp>
      <p:sp>
        <p:nvSpPr>
          <p:cNvPr id="22" name="Text 20"/>
          <p:cNvSpPr/>
          <p:nvPr/>
        </p:nvSpPr>
        <p:spPr>
          <a:xfrm>
            <a:off x="7269480" y="3758184"/>
            <a:ext cx="3931920" cy="402336"/>
          </a:xfrm>
          <a:prstGeom prst="rect">
            <a:avLst/>
          </a:prstGeom>
          <a:noFill/>
          <a:ln/>
        </p:spPr>
        <p:txBody>
          <a:bodyPr wrap="square" lIns="0" tIns="0" rIns="0" bIns="0" rtlCol="0" anchor="ctr"/>
          <a:lstStyle/>
          <a:p>
            <a:pPr indent="0" marL="0">
              <a:buNone/>
            </a:pPr>
            <a:r>
              <a:rPr lang="en-US" sz="1350" dirty="0">
                <a:solidFill>
                  <a:srgbClr val="E8E0D9"/>
                </a:solidFill>
                <a:latin typeface="Arial" pitchFamily="34" charset="0"/>
                <a:ea typeface="Arial" pitchFamily="34" charset="-122"/>
                <a:cs typeface="Arial" pitchFamily="34" charset="-120"/>
              </a:rPr>
              <a:t>The complete case text</a:t>
            </a:r>
            <a:endParaRPr lang="en-US" sz="1350" dirty="0"/>
          </a:p>
        </p:txBody>
      </p:sp>
      <p:sp>
        <p:nvSpPr>
          <p:cNvPr id="23" name="Shape 21"/>
          <p:cNvSpPr/>
          <p:nvPr/>
        </p:nvSpPr>
        <p:spPr>
          <a:xfrm>
            <a:off x="6967728" y="4416552"/>
            <a:ext cx="128016" cy="128016"/>
          </a:xfrm>
          <a:prstGeom prst="ellipse">
            <a:avLst/>
          </a:prstGeom>
          <a:solidFill>
            <a:srgbClr val="0054F0"/>
          </a:solidFill>
          <a:ln/>
        </p:spPr>
      </p:sp>
      <p:sp>
        <p:nvSpPr>
          <p:cNvPr id="24" name="Text 22"/>
          <p:cNvSpPr/>
          <p:nvPr/>
        </p:nvSpPr>
        <p:spPr>
          <a:xfrm>
            <a:off x="7269480" y="4288536"/>
            <a:ext cx="3931920" cy="402336"/>
          </a:xfrm>
          <a:prstGeom prst="rect">
            <a:avLst/>
          </a:prstGeom>
          <a:noFill/>
          <a:ln/>
        </p:spPr>
        <p:txBody>
          <a:bodyPr wrap="square" lIns="0" tIns="0" rIns="0" bIns="0" rtlCol="0" anchor="ctr"/>
          <a:lstStyle/>
          <a:p>
            <a:pPr indent="0" marL="0">
              <a:buNone/>
            </a:pPr>
            <a:r>
              <a:rPr lang="en-US" sz="1350" dirty="0">
                <a:solidFill>
                  <a:srgbClr val="E8E0D9"/>
                </a:solidFill>
                <a:latin typeface="Arial" pitchFamily="34" charset="0"/>
                <a:ea typeface="Arial" pitchFamily="34" charset="-122"/>
                <a:cs typeface="Arial" pitchFamily="34" charset="-120"/>
              </a:rPr>
              <a:t>The entire prior reasoning trace</a:t>
            </a:r>
            <a:endParaRPr lang="en-US" sz="1350" dirty="0"/>
          </a:p>
        </p:txBody>
      </p:sp>
      <p:sp>
        <p:nvSpPr>
          <p:cNvPr id="25" name="Shape 23"/>
          <p:cNvSpPr/>
          <p:nvPr/>
        </p:nvSpPr>
        <p:spPr>
          <a:xfrm>
            <a:off x="6949440" y="4937760"/>
            <a:ext cx="1005840" cy="32004"/>
          </a:xfrm>
          <a:prstGeom prst="rect">
            <a:avLst/>
          </a:prstGeom>
          <a:solidFill>
            <a:srgbClr val="0054F0"/>
          </a:solidFill>
          <a:ln/>
        </p:spPr>
      </p:sp>
      <p:sp>
        <p:nvSpPr>
          <p:cNvPr id="26" name="Text 24"/>
          <p:cNvSpPr/>
          <p:nvPr/>
        </p:nvSpPr>
        <p:spPr>
          <a:xfrm>
            <a:off x="6949440" y="5166360"/>
            <a:ext cx="4206240" cy="548640"/>
          </a:xfrm>
          <a:prstGeom prst="rect">
            <a:avLst/>
          </a:prstGeom>
          <a:noFill/>
          <a:ln/>
        </p:spPr>
        <p:txBody>
          <a:bodyPr wrap="square" lIns="0" tIns="0" rIns="0" bIns="0" rtlCol="0" anchor="ctr"/>
          <a:lstStyle/>
          <a:p>
            <a:pPr indent="0" marL="0">
              <a:lnSpc>
                <a:spcPts val="1800"/>
              </a:lnSpc>
              <a:buNone/>
            </a:pPr>
            <a:r>
              <a:rPr lang="en-US" sz="1300" i="1" dirty="0">
                <a:solidFill>
                  <a:srgbClr val="D6E3FF"/>
                </a:solidFill>
                <a:latin typeface="Arial" pitchFamily="34" charset="0"/>
                <a:ea typeface="Arial" pitchFamily="34" charset="-122"/>
                <a:cs typeface="Arial" pitchFamily="34" charset="-120"/>
              </a:rPr>
              <a:t>Nothing here is selected. Everything here is paid for.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31E11"/>
        </a:solidFill>
      </p:bgPr>
    </p:bg>
    <p:spTree>
      <p:nvGrpSpPr>
        <p:cNvPr id="1" name=""/>
        <p:cNvGrpSpPr/>
        <p:nvPr/>
      </p:nvGrpSpPr>
      <p:grpSpPr>
        <a:xfrm>
          <a:off x="0" y="0"/>
          <a:ext cx="0" cy="0"/>
          <a:chOff x="0" y="0"/>
          <a:chExt cx="0" cy="0"/>
        </a:xfrm>
      </p:grpSpPr>
      <p:pic>
        <p:nvPicPr>
          <p:cNvPr id="2" name="Image 0" descr="/home/claude/assets/contours.png">    </p:cNvPr>
          <p:cNvPicPr>
            <a:picLocks noChangeAspect="1"/>
          </p:cNvPicPr>
          <p:nvPr/>
        </p:nvPicPr>
        <p:blipFill>
          <a:blip r:embed="rId1">
            <a:alphaModFix amt="38000"/>
          </a:blip>
          <a:stretch>
            <a:fillRect/>
          </a:stretch>
        </p:blipFill>
        <p:spPr>
          <a:xfrm>
            <a:off x="0" y="1828800"/>
            <a:ext cx="12191695" cy="5029200"/>
          </a:xfrm>
          <a:prstGeom prst="rect">
            <a:avLst/>
          </a:prstGeom>
        </p:spPr>
      </p:pic>
      <p:sp>
        <p:nvSpPr>
          <p:cNvPr id="3" name="Shape 0"/>
          <p:cNvSpPr/>
          <p:nvPr/>
        </p:nvSpPr>
        <p:spPr>
          <a:xfrm>
            <a:off x="640080" y="457200"/>
            <a:ext cx="1572768" cy="384048"/>
          </a:xfrm>
          <a:prstGeom prst="roundRect">
            <a:avLst>
              <a:gd name="adj" fmla="val 50000"/>
            </a:avLst>
          </a:prstGeom>
          <a:solidFill>
            <a:srgbClr val="0054F0"/>
          </a:solidFill>
          <a:ln/>
        </p:spPr>
      </p:sp>
      <p:sp>
        <p:nvSpPr>
          <p:cNvPr id="4" name="Text 1"/>
          <p:cNvSpPr/>
          <p:nvPr/>
        </p:nvSpPr>
        <p:spPr>
          <a:xfrm>
            <a:off x="640080" y="457200"/>
            <a:ext cx="1572768" cy="384048"/>
          </a:xfrm>
          <a:prstGeom prst="rect">
            <a:avLst/>
          </a:prstGeom>
          <a:noFill/>
          <a:ln/>
        </p:spPr>
        <p:txBody>
          <a:bodyPr wrap="square" lIns="0" tIns="0" rIns="0" bIns="0" rtlCol="0" anchor="ctr"/>
          <a:lstStyle/>
          <a:p>
            <a:pPr algn="ctr" indent="0" marL="0">
              <a:buNone/>
            </a:pPr>
            <a:r>
              <a:rPr lang="en-US" sz="1200" b="1" spc="140" kern="0" dirty="0">
                <a:solidFill>
                  <a:srgbClr val="FFFFFF"/>
                </a:solidFill>
                <a:latin typeface="Arial" pitchFamily="34" charset="0"/>
                <a:ea typeface="Arial" pitchFamily="34" charset="-122"/>
                <a:cs typeface="Arial" pitchFamily="34" charset="-120"/>
              </a:rPr>
              <a:t>PHASE 1</a:t>
            </a:r>
            <a:endParaRPr lang="en-US" sz="1200" dirty="0"/>
          </a:p>
        </p:txBody>
      </p:sp>
      <p:sp>
        <p:nvSpPr>
          <p:cNvPr id="5" name="Text 2"/>
          <p:cNvSpPr/>
          <p:nvPr/>
        </p:nvSpPr>
        <p:spPr>
          <a:xfrm>
            <a:off x="2395728" y="457200"/>
            <a:ext cx="2743200" cy="384048"/>
          </a:xfrm>
          <a:prstGeom prst="rect">
            <a:avLst/>
          </a:prstGeom>
          <a:noFill/>
          <a:ln/>
        </p:spPr>
        <p:txBody>
          <a:bodyPr wrap="square" lIns="0" tIns="0" rIns="0" bIns="0" rtlCol="0" anchor="ctr"/>
          <a:lstStyle/>
          <a:p>
            <a:pPr indent="0" marL="0">
              <a:buNone/>
            </a:pPr>
            <a:r>
              <a:rPr lang="en-US" sz="1200" b="1" dirty="0">
                <a:solidFill>
                  <a:srgbClr val="E8E0D9"/>
                </a:solidFill>
                <a:latin typeface="Arial" pitchFamily="34" charset="0"/>
                <a:ea typeface="Arial" pitchFamily="34" charset="-122"/>
                <a:cs typeface="Arial" pitchFamily="34" charset="-120"/>
              </a:rPr>
              <a:t>15 min</a:t>
            </a:r>
            <a:endParaRPr lang="en-US" sz="1200" dirty="0"/>
          </a:p>
        </p:txBody>
      </p:sp>
      <p:sp>
        <p:nvSpPr>
          <p:cNvPr id="6" name="Text 3"/>
          <p:cNvSpPr/>
          <p:nvPr/>
        </p:nvSpPr>
        <p:spPr>
          <a:xfrm>
            <a:off x="6522415" y="457200"/>
            <a:ext cx="5029200" cy="384048"/>
          </a:xfrm>
          <a:prstGeom prst="rect">
            <a:avLst/>
          </a:prstGeom>
          <a:noFill/>
          <a:ln/>
        </p:spPr>
        <p:txBody>
          <a:bodyPr wrap="square" lIns="0" tIns="0" rIns="0" bIns="0" rtlCol="0" anchor="ctr"/>
          <a:lstStyle/>
          <a:p>
            <a:pPr algn="r" indent="0" marL="0">
              <a:buNone/>
            </a:pPr>
            <a:r>
              <a:rPr lang="en-US" sz="1100" b="1" spc="180" kern="0" dirty="0">
                <a:solidFill>
                  <a:srgbClr val="D6E3FF"/>
                </a:solidFill>
                <a:latin typeface="Arial" pitchFamily="34" charset="0"/>
                <a:ea typeface="Arial" pitchFamily="34" charset="-122"/>
                <a:cs typeface="Arial" pitchFamily="34" charset="-120"/>
              </a:rPr>
              <a:t>KICKOFF</a:t>
            </a:r>
            <a:endParaRPr lang="en-US" sz="1100" dirty="0"/>
          </a:p>
        </p:txBody>
      </p:sp>
      <p:sp>
        <p:nvSpPr>
          <p:cNvPr id="7" name="Text 4"/>
          <p:cNvSpPr/>
          <p:nvPr/>
        </p:nvSpPr>
        <p:spPr>
          <a:xfrm>
            <a:off x="640080" y="987552"/>
            <a:ext cx="10881360" cy="685800"/>
          </a:xfrm>
          <a:prstGeom prst="rect">
            <a:avLst/>
          </a:prstGeom>
          <a:noFill/>
          <a:ln/>
        </p:spPr>
        <p:txBody>
          <a:bodyPr wrap="square" lIns="0" tIns="0" rIns="0" bIns="0" rtlCol="0" anchor="t"/>
          <a:lstStyle/>
          <a:p>
            <a:pPr indent="0" marL="0">
              <a:buNone/>
            </a:pPr>
            <a:r>
              <a:rPr lang="en-US" sz="3300" b="1" dirty="0">
                <a:solidFill>
                  <a:srgbClr val="FAF9F7"/>
                </a:solidFill>
                <a:latin typeface="Arial" pitchFamily="34" charset="0"/>
                <a:ea typeface="Arial" pitchFamily="34" charset="-122"/>
                <a:cs typeface="Arial" pitchFamily="34" charset="-120"/>
              </a:rPr>
              <a:t>Kickoff and case introduction</a:t>
            </a:r>
            <a:endParaRPr lang="en-US" sz="3300" dirty="0"/>
          </a:p>
        </p:txBody>
      </p:sp>
      <p:sp>
        <p:nvSpPr>
          <p:cNvPr id="8" name="Text 5"/>
          <p:cNvSpPr/>
          <p:nvPr/>
        </p:nvSpPr>
        <p:spPr>
          <a:xfrm>
            <a:off x="640080" y="1828800"/>
            <a:ext cx="5623560"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WHAT HAPPENS</a:t>
            </a:r>
            <a:endParaRPr lang="en-US" sz="1000" dirty="0"/>
          </a:p>
        </p:txBody>
      </p:sp>
      <p:sp>
        <p:nvSpPr>
          <p:cNvPr id="9" name="Shape 6"/>
          <p:cNvSpPr/>
          <p:nvPr/>
        </p:nvSpPr>
        <p:spPr>
          <a:xfrm>
            <a:off x="640080" y="2231136"/>
            <a:ext cx="329184" cy="329184"/>
          </a:xfrm>
          <a:prstGeom prst="ellipse">
            <a:avLst/>
          </a:prstGeom>
          <a:solidFill>
            <a:srgbClr val="5C4536"/>
          </a:solidFill>
          <a:ln/>
        </p:spPr>
      </p:sp>
      <p:sp>
        <p:nvSpPr>
          <p:cNvPr id="10" name="Text 7"/>
          <p:cNvSpPr/>
          <p:nvPr/>
        </p:nvSpPr>
        <p:spPr>
          <a:xfrm>
            <a:off x="640080" y="223113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1</a:t>
            </a:r>
            <a:endParaRPr lang="en-US" sz="1200" dirty="0"/>
          </a:p>
        </p:txBody>
      </p:sp>
      <p:sp>
        <p:nvSpPr>
          <p:cNvPr id="11" name="Text 8"/>
          <p:cNvSpPr/>
          <p:nvPr/>
        </p:nvSpPr>
        <p:spPr>
          <a:xfrm>
            <a:off x="1133856" y="2194560"/>
            <a:ext cx="5129784" cy="420624"/>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Introduce NordicBike and walk one case end to end.</a:t>
            </a:r>
            <a:endParaRPr lang="en-US" sz="1250" dirty="0"/>
          </a:p>
        </p:txBody>
      </p:sp>
      <p:sp>
        <p:nvSpPr>
          <p:cNvPr id="12" name="Shape 9"/>
          <p:cNvSpPr/>
          <p:nvPr/>
        </p:nvSpPr>
        <p:spPr>
          <a:xfrm>
            <a:off x="640080" y="2798064"/>
            <a:ext cx="329184" cy="329184"/>
          </a:xfrm>
          <a:prstGeom prst="ellipse">
            <a:avLst/>
          </a:prstGeom>
          <a:solidFill>
            <a:srgbClr val="5C4536"/>
          </a:solidFill>
          <a:ln/>
        </p:spPr>
      </p:sp>
      <p:sp>
        <p:nvSpPr>
          <p:cNvPr id="13" name="Text 10"/>
          <p:cNvSpPr/>
          <p:nvPr/>
        </p:nvSpPr>
        <p:spPr>
          <a:xfrm>
            <a:off x="640080" y="2798064"/>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2</a:t>
            </a:r>
            <a:endParaRPr lang="en-US" sz="1200" dirty="0"/>
          </a:p>
        </p:txBody>
      </p:sp>
      <p:sp>
        <p:nvSpPr>
          <p:cNvPr id="14" name="Text 11"/>
          <p:cNvSpPr/>
          <p:nvPr/>
        </p:nvSpPr>
        <p:spPr>
          <a:xfrm>
            <a:off x="1133856" y="2761488"/>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State the five learning objectives and the scoring split: 70% quality, 30% cost.</a:t>
            </a:r>
            <a:endParaRPr lang="en-US" sz="1250" dirty="0"/>
          </a:p>
        </p:txBody>
      </p:sp>
      <p:sp>
        <p:nvSpPr>
          <p:cNvPr id="15" name="Shape 12"/>
          <p:cNvSpPr/>
          <p:nvPr/>
        </p:nvSpPr>
        <p:spPr>
          <a:xfrm>
            <a:off x="640080" y="3529584"/>
            <a:ext cx="329184" cy="329184"/>
          </a:xfrm>
          <a:prstGeom prst="ellipse">
            <a:avLst/>
          </a:prstGeom>
          <a:solidFill>
            <a:srgbClr val="5C4536"/>
          </a:solidFill>
          <a:ln/>
        </p:spPr>
      </p:sp>
      <p:sp>
        <p:nvSpPr>
          <p:cNvPr id="16" name="Text 13"/>
          <p:cNvSpPr/>
          <p:nvPr/>
        </p:nvSpPr>
        <p:spPr>
          <a:xfrm>
            <a:off x="640080" y="3529584"/>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3</a:t>
            </a:r>
            <a:endParaRPr lang="en-US" sz="1200" dirty="0"/>
          </a:p>
        </p:txBody>
      </p:sp>
      <p:sp>
        <p:nvSpPr>
          <p:cNvPr id="17" name="Text 14"/>
          <p:cNvSpPr/>
          <p:nvPr/>
        </p:nvSpPr>
        <p:spPr>
          <a:xfrm>
            <a:off x="1133856" y="3493008"/>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Form teams of three or four. One laptop drives, everyone reads.</a:t>
            </a:r>
            <a:endParaRPr lang="en-US" sz="1250" dirty="0"/>
          </a:p>
        </p:txBody>
      </p:sp>
      <p:sp>
        <p:nvSpPr>
          <p:cNvPr id="18" name="Shape 15"/>
          <p:cNvSpPr/>
          <p:nvPr/>
        </p:nvSpPr>
        <p:spPr>
          <a:xfrm>
            <a:off x="640080" y="4261104"/>
            <a:ext cx="329184" cy="329184"/>
          </a:xfrm>
          <a:prstGeom prst="ellipse">
            <a:avLst/>
          </a:prstGeom>
          <a:solidFill>
            <a:srgbClr val="5C4536"/>
          </a:solidFill>
          <a:ln/>
        </p:spPr>
      </p:sp>
      <p:sp>
        <p:nvSpPr>
          <p:cNvPr id="19" name="Text 16"/>
          <p:cNvSpPr/>
          <p:nvPr/>
        </p:nvSpPr>
        <p:spPr>
          <a:xfrm>
            <a:off x="640080" y="4261104"/>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4</a:t>
            </a:r>
            <a:endParaRPr lang="en-US" sz="1200" dirty="0"/>
          </a:p>
        </p:txBody>
      </p:sp>
      <p:sp>
        <p:nvSpPr>
          <p:cNvPr id="20" name="Text 17"/>
          <p:cNvSpPr/>
          <p:nvPr/>
        </p:nvSpPr>
        <p:spPr>
          <a:xfrm>
            <a:off x="1133856" y="4224528"/>
            <a:ext cx="5129784" cy="420624"/>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Each team opens the repo and runs nothing yet.</a:t>
            </a:r>
            <a:endParaRPr lang="en-US" sz="1250" dirty="0"/>
          </a:p>
        </p:txBody>
      </p:sp>
      <p:sp>
        <p:nvSpPr>
          <p:cNvPr id="21" name="Text 18"/>
          <p:cNvSpPr/>
          <p:nvPr/>
        </p:nvSpPr>
        <p:spPr>
          <a:xfrm>
            <a:off x="6537960" y="1828800"/>
            <a:ext cx="5013655"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BY THE END</a:t>
            </a:r>
            <a:endParaRPr lang="en-US" sz="1000" dirty="0"/>
          </a:p>
        </p:txBody>
      </p:sp>
      <p:sp>
        <p:nvSpPr>
          <p:cNvPr id="22" name="Shape 19"/>
          <p:cNvSpPr/>
          <p:nvPr/>
        </p:nvSpPr>
        <p:spPr>
          <a:xfrm>
            <a:off x="6574536" y="2276856"/>
            <a:ext cx="118872" cy="118872"/>
          </a:xfrm>
          <a:prstGeom prst="ellipse">
            <a:avLst/>
          </a:prstGeom>
          <a:solidFill>
            <a:srgbClr val="0054F0"/>
          </a:solidFill>
          <a:ln/>
        </p:spPr>
      </p:sp>
      <p:sp>
        <p:nvSpPr>
          <p:cNvPr id="23" name="Text 20"/>
          <p:cNvSpPr/>
          <p:nvPr/>
        </p:nvSpPr>
        <p:spPr>
          <a:xfrm>
            <a:off x="6848856" y="2194560"/>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Every team knows where the knowledge base, cases and rubric live.</a:t>
            </a:r>
            <a:endParaRPr lang="en-US" sz="1250" dirty="0"/>
          </a:p>
        </p:txBody>
      </p:sp>
      <p:sp>
        <p:nvSpPr>
          <p:cNvPr id="24" name="Shape 21"/>
          <p:cNvSpPr/>
          <p:nvPr/>
        </p:nvSpPr>
        <p:spPr>
          <a:xfrm>
            <a:off x="6574536" y="2953512"/>
            <a:ext cx="118872" cy="118872"/>
          </a:xfrm>
          <a:prstGeom prst="ellipse">
            <a:avLst/>
          </a:prstGeom>
          <a:solidFill>
            <a:srgbClr val="0054F0"/>
          </a:solidFill>
          <a:ln/>
        </p:spPr>
      </p:sp>
      <p:sp>
        <p:nvSpPr>
          <p:cNvPr id="25" name="Text 22"/>
          <p:cNvSpPr/>
          <p:nvPr/>
        </p:nvSpPr>
        <p:spPr>
          <a:xfrm>
            <a:off x="6848856" y="2871216"/>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Everyone has seen at least one adversarial case explained.</a:t>
            </a:r>
            <a:endParaRPr lang="en-US" sz="1250" dirty="0"/>
          </a:p>
        </p:txBody>
      </p:sp>
      <p:sp>
        <p:nvSpPr>
          <p:cNvPr id="26" name="Shape 23"/>
          <p:cNvSpPr/>
          <p:nvPr/>
        </p:nvSpPr>
        <p:spPr>
          <a:xfrm>
            <a:off x="6574536" y="3630168"/>
            <a:ext cx="118872" cy="118872"/>
          </a:xfrm>
          <a:prstGeom prst="ellipse">
            <a:avLst/>
          </a:prstGeom>
          <a:solidFill>
            <a:srgbClr val="0054F0"/>
          </a:solidFill>
          <a:ln/>
        </p:spPr>
      </p:sp>
      <p:sp>
        <p:nvSpPr>
          <p:cNvPr id="27" name="Text 24"/>
          <p:cNvSpPr/>
          <p:nvPr/>
        </p:nvSpPr>
        <p:spPr>
          <a:xfrm>
            <a:off x="6848856" y="3547872"/>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Nobody has started optimising yet — that is deliberate.</a:t>
            </a:r>
            <a:endParaRPr lang="en-US" sz="1250" dirty="0"/>
          </a:p>
        </p:txBody>
      </p:sp>
      <p:sp>
        <p:nvSpPr>
          <p:cNvPr id="28" name="Shape 25"/>
          <p:cNvSpPr/>
          <p:nvPr/>
        </p:nvSpPr>
        <p:spPr>
          <a:xfrm>
            <a:off x="6537960" y="4709160"/>
            <a:ext cx="5013655" cy="960120"/>
          </a:xfrm>
          <a:prstGeom prst="roundRect">
            <a:avLst>
              <a:gd name="adj" fmla="val 11429"/>
            </a:avLst>
          </a:prstGeom>
          <a:solidFill>
            <a:srgbClr val="0054F0"/>
          </a:solidFill>
          <a:ln/>
        </p:spPr>
      </p:sp>
      <p:sp>
        <p:nvSpPr>
          <p:cNvPr id="29" name="Text 26"/>
          <p:cNvSpPr/>
          <p:nvPr/>
        </p:nvSpPr>
        <p:spPr>
          <a:xfrm>
            <a:off x="6812280" y="4709160"/>
            <a:ext cx="4465015" cy="960120"/>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Arial" pitchFamily="34" charset="0"/>
                <a:ea typeface="Arial" pitchFamily="34" charset="-122"/>
                <a:cs typeface="Arial" pitchFamily="34" charset="-120"/>
              </a:rPr>
              <a:t>Fifteen minutes of shared vocabulary buys ninety minutes of not explaining things twice.</a:t>
            </a:r>
            <a:endParaRPr lang="en-US" sz="1350" dirty="0"/>
          </a:p>
        </p:txBody>
      </p:sp>
      <p:sp>
        <p:nvSpPr>
          <p:cNvPr id="30" name="Text 27"/>
          <p:cNvSpPr/>
          <p:nvPr/>
        </p:nvSpPr>
        <p:spPr>
          <a:xfrm>
            <a:off x="6537960" y="5779008"/>
            <a:ext cx="5013655" cy="548640"/>
          </a:xfrm>
          <a:prstGeom prst="rect">
            <a:avLst/>
          </a:prstGeom>
          <a:noFill/>
          <a:ln/>
        </p:spPr>
        <p:txBody>
          <a:bodyPr wrap="square" lIns="0" tIns="0" rIns="0" bIns="0" rtlCol="0" anchor="t"/>
          <a:lstStyle/>
          <a:p>
            <a:pPr indent="0" marL="0">
              <a:lnSpc>
                <a:spcPts val="1400"/>
              </a:lnSpc>
              <a:buNone/>
            </a:pPr>
            <a:r>
              <a:rPr lang="en-US" sz="1050" i="1" dirty="0">
                <a:solidFill>
                  <a:srgbClr val="9E8B7C"/>
                </a:solidFill>
                <a:latin typeface="Arial" pitchFamily="34" charset="0"/>
                <a:ea typeface="Arial" pitchFamily="34" charset="-122"/>
                <a:cs typeface="Arial" pitchFamily="34" charset="-120"/>
              </a:rPr>
              <a:t>Running late here steals from Phase 3, which is where the learning actually happens. Cut your own material first.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31E11"/>
        </a:solidFill>
      </p:bgPr>
    </p:bg>
    <p:spTree>
      <p:nvGrpSpPr>
        <p:cNvPr id="1" name=""/>
        <p:cNvGrpSpPr/>
        <p:nvPr/>
      </p:nvGrpSpPr>
      <p:grpSpPr>
        <a:xfrm>
          <a:off x="0" y="0"/>
          <a:ext cx="0" cy="0"/>
          <a:chOff x="0" y="0"/>
          <a:chExt cx="0" cy="0"/>
        </a:xfrm>
      </p:grpSpPr>
      <p:pic>
        <p:nvPicPr>
          <p:cNvPr id="2" name="Image 0" descr="/home/claude/assets/contours.png">    </p:cNvPr>
          <p:cNvPicPr>
            <a:picLocks noChangeAspect="1"/>
          </p:cNvPicPr>
          <p:nvPr/>
        </p:nvPicPr>
        <p:blipFill>
          <a:blip r:embed="rId1">
            <a:alphaModFix amt="38000"/>
          </a:blip>
          <a:stretch>
            <a:fillRect/>
          </a:stretch>
        </p:blipFill>
        <p:spPr>
          <a:xfrm>
            <a:off x="0" y="1828800"/>
            <a:ext cx="12191695" cy="5029200"/>
          </a:xfrm>
          <a:prstGeom prst="rect">
            <a:avLst/>
          </a:prstGeom>
        </p:spPr>
      </p:pic>
      <p:sp>
        <p:nvSpPr>
          <p:cNvPr id="3" name="Shape 0"/>
          <p:cNvSpPr/>
          <p:nvPr/>
        </p:nvSpPr>
        <p:spPr>
          <a:xfrm>
            <a:off x="640080" y="457200"/>
            <a:ext cx="1572768" cy="384048"/>
          </a:xfrm>
          <a:prstGeom prst="roundRect">
            <a:avLst>
              <a:gd name="adj" fmla="val 50000"/>
            </a:avLst>
          </a:prstGeom>
          <a:solidFill>
            <a:srgbClr val="0054F0"/>
          </a:solidFill>
          <a:ln/>
        </p:spPr>
      </p:sp>
      <p:sp>
        <p:nvSpPr>
          <p:cNvPr id="4" name="Text 1"/>
          <p:cNvSpPr/>
          <p:nvPr/>
        </p:nvSpPr>
        <p:spPr>
          <a:xfrm>
            <a:off x="640080" y="457200"/>
            <a:ext cx="1572768" cy="384048"/>
          </a:xfrm>
          <a:prstGeom prst="rect">
            <a:avLst/>
          </a:prstGeom>
          <a:noFill/>
          <a:ln/>
        </p:spPr>
        <p:txBody>
          <a:bodyPr wrap="square" lIns="0" tIns="0" rIns="0" bIns="0" rtlCol="0" anchor="ctr"/>
          <a:lstStyle/>
          <a:p>
            <a:pPr algn="ctr" indent="0" marL="0">
              <a:buNone/>
            </a:pPr>
            <a:r>
              <a:rPr lang="en-US" sz="1200" b="1" spc="140" kern="0" dirty="0">
                <a:solidFill>
                  <a:srgbClr val="FFFFFF"/>
                </a:solidFill>
                <a:latin typeface="Arial" pitchFamily="34" charset="0"/>
                <a:ea typeface="Arial" pitchFamily="34" charset="-122"/>
                <a:cs typeface="Arial" pitchFamily="34" charset="-120"/>
              </a:rPr>
              <a:t>PHASE 2</a:t>
            </a:r>
            <a:endParaRPr lang="en-US" sz="1200" dirty="0"/>
          </a:p>
        </p:txBody>
      </p:sp>
      <p:sp>
        <p:nvSpPr>
          <p:cNvPr id="5" name="Text 2"/>
          <p:cNvSpPr/>
          <p:nvPr/>
        </p:nvSpPr>
        <p:spPr>
          <a:xfrm>
            <a:off x="2395728" y="457200"/>
            <a:ext cx="2743200" cy="384048"/>
          </a:xfrm>
          <a:prstGeom prst="rect">
            <a:avLst/>
          </a:prstGeom>
          <a:noFill/>
          <a:ln/>
        </p:spPr>
        <p:txBody>
          <a:bodyPr wrap="square" lIns="0" tIns="0" rIns="0" bIns="0" rtlCol="0" anchor="ctr"/>
          <a:lstStyle/>
          <a:p>
            <a:pPr indent="0" marL="0">
              <a:buNone/>
            </a:pPr>
            <a:r>
              <a:rPr lang="en-US" sz="1200" b="1" dirty="0">
                <a:solidFill>
                  <a:srgbClr val="E8E0D9"/>
                </a:solidFill>
                <a:latin typeface="Arial" pitchFamily="34" charset="0"/>
                <a:ea typeface="Arial" pitchFamily="34" charset="-122"/>
                <a:cs typeface="Arial" pitchFamily="34" charset="-120"/>
              </a:rPr>
              <a:t>20 min</a:t>
            </a:r>
            <a:endParaRPr lang="en-US" sz="1200" dirty="0"/>
          </a:p>
        </p:txBody>
      </p:sp>
      <p:sp>
        <p:nvSpPr>
          <p:cNvPr id="6" name="Text 3"/>
          <p:cNvSpPr/>
          <p:nvPr/>
        </p:nvSpPr>
        <p:spPr>
          <a:xfrm>
            <a:off x="6522415" y="457200"/>
            <a:ext cx="5029200" cy="384048"/>
          </a:xfrm>
          <a:prstGeom prst="rect">
            <a:avLst/>
          </a:prstGeom>
          <a:noFill/>
          <a:ln/>
        </p:spPr>
        <p:txBody>
          <a:bodyPr wrap="square" lIns="0" tIns="0" rIns="0" bIns="0" rtlCol="0" anchor="ctr"/>
          <a:lstStyle/>
          <a:p>
            <a:pPr algn="r" indent="0" marL="0">
              <a:buNone/>
            </a:pPr>
            <a:r>
              <a:rPr lang="en-US" sz="1100" b="1" spc="180" kern="0" dirty="0">
                <a:solidFill>
                  <a:srgbClr val="D6E3FF"/>
                </a:solidFill>
                <a:latin typeface="Arial" pitchFamily="34" charset="0"/>
                <a:ea typeface="Arial" pitchFamily="34" charset="-122"/>
                <a:cs typeface="Arial" pitchFamily="34" charset="-120"/>
              </a:rPr>
              <a:t>EXERCISE 1 · BASELINE</a:t>
            </a:r>
            <a:endParaRPr lang="en-US" sz="1100" dirty="0"/>
          </a:p>
        </p:txBody>
      </p:sp>
      <p:sp>
        <p:nvSpPr>
          <p:cNvPr id="7" name="Text 4"/>
          <p:cNvSpPr/>
          <p:nvPr/>
        </p:nvSpPr>
        <p:spPr>
          <a:xfrm>
            <a:off x="640080" y="987552"/>
            <a:ext cx="10881360" cy="685800"/>
          </a:xfrm>
          <a:prstGeom prst="rect">
            <a:avLst/>
          </a:prstGeom>
          <a:noFill/>
          <a:ln/>
        </p:spPr>
        <p:txBody>
          <a:bodyPr wrap="square" lIns="0" tIns="0" rIns="0" bIns="0" rtlCol="0" anchor="t"/>
          <a:lstStyle/>
          <a:p>
            <a:pPr indent="0" marL="0">
              <a:buNone/>
            </a:pPr>
            <a:r>
              <a:rPr lang="en-US" sz="3300" b="1" dirty="0">
                <a:solidFill>
                  <a:srgbClr val="FAF9F7"/>
                </a:solidFill>
                <a:latin typeface="Arial" pitchFamily="34" charset="0"/>
                <a:ea typeface="Arial" pitchFamily="34" charset="-122"/>
                <a:cs typeface="Arial" pitchFamily="34" charset="-120"/>
              </a:rPr>
              <a:t>Baseline run and diagnosis</a:t>
            </a:r>
            <a:endParaRPr lang="en-US" sz="3300" dirty="0"/>
          </a:p>
        </p:txBody>
      </p:sp>
      <p:sp>
        <p:nvSpPr>
          <p:cNvPr id="8" name="Text 5"/>
          <p:cNvSpPr/>
          <p:nvPr/>
        </p:nvSpPr>
        <p:spPr>
          <a:xfrm>
            <a:off x="640080" y="1828800"/>
            <a:ext cx="5623560"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WHAT HAPPENS</a:t>
            </a:r>
            <a:endParaRPr lang="en-US" sz="1000" dirty="0"/>
          </a:p>
        </p:txBody>
      </p:sp>
      <p:sp>
        <p:nvSpPr>
          <p:cNvPr id="9" name="Shape 6"/>
          <p:cNvSpPr/>
          <p:nvPr/>
        </p:nvSpPr>
        <p:spPr>
          <a:xfrm>
            <a:off x="640080" y="2231136"/>
            <a:ext cx="329184" cy="329184"/>
          </a:xfrm>
          <a:prstGeom prst="ellipse">
            <a:avLst/>
          </a:prstGeom>
          <a:solidFill>
            <a:srgbClr val="5C4536"/>
          </a:solidFill>
          <a:ln/>
        </p:spPr>
      </p:sp>
      <p:sp>
        <p:nvSpPr>
          <p:cNvPr id="10" name="Text 7"/>
          <p:cNvSpPr/>
          <p:nvPr/>
        </p:nvSpPr>
        <p:spPr>
          <a:xfrm>
            <a:off x="640080" y="223113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1</a:t>
            </a:r>
            <a:endParaRPr lang="en-US" sz="1200" dirty="0"/>
          </a:p>
        </p:txBody>
      </p:sp>
      <p:sp>
        <p:nvSpPr>
          <p:cNvPr id="11" name="Text 8"/>
          <p:cNvSpPr/>
          <p:nvPr/>
        </p:nvSpPr>
        <p:spPr>
          <a:xfrm>
            <a:off x="1133856" y="2194560"/>
            <a:ext cx="5129784" cy="420624"/>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Run the naive V1 agent on Case 1, unmodified.</a:t>
            </a:r>
            <a:endParaRPr lang="en-US" sz="1250" dirty="0"/>
          </a:p>
        </p:txBody>
      </p:sp>
      <p:sp>
        <p:nvSpPr>
          <p:cNvPr id="12" name="Shape 9"/>
          <p:cNvSpPr/>
          <p:nvPr/>
        </p:nvSpPr>
        <p:spPr>
          <a:xfrm>
            <a:off x="640080" y="2798064"/>
            <a:ext cx="329184" cy="329184"/>
          </a:xfrm>
          <a:prstGeom prst="ellipse">
            <a:avLst/>
          </a:prstGeom>
          <a:solidFill>
            <a:srgbClr val="5C4536"/>
          </a:solidFill>
          <a:ln/>
        </p:spPr>
      </p:sp>
      <p:sp>
        <p:nvSpPr>
          <p:cNvPr id="13" name="Text 10"/>
          <p:cNvSpPr/>
          <p:nvPr/>
        </p:nvSpPr>
        <p:spPr>
          <a:xfrm>
            <a:off x="640080" y="2798064"/>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2</a:t>
            </a:r>
            <a:endParaRPr lang="en-US" sz="1200" dirty="0"/>
          </a:p>
        </p:txBody>
      </p:sp>
      <p:sp>
        <p:nvSpPr>
          <p:cNvPr id="14" name="Text 11"/>
          <p:cNvSpPr/>
          <p:nvPr/>
        </p:nvSpPr>
        <p:spPr>
          <a:xfrm>
            <a:off x="1133856" y="2761488"/>
            <a:ext cx="5129784" cy="420624"/>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Record the measurement: 18,400 tokens, 1 call, Tier 3.</a:t>
            </a:r>
            <a:endParaRPr lang="en-US" sz="1250" dirty="0"/>
          </a:p>
        </p:txBody>
      </p:sp>
      <p:sp>
        <p:nvSpPr>
          <p:cNvPr id="15" name="Shape 12"/>
          <p:cNvSpPr/>
          <p:nvPr/>
        </p:nvSpPr>
        <p:spPr>
          <a:xfrm>
            <a:off x="640080" y="3364992"/>
            <a:ext cx="329184" cy="329184"/>
          </a:xfrm>
          <a:prstGeom prst="ellipse">
            <a:avLst/>
          </a:prstGeom>
          <a:solidFill>
            <a:srgbClr val="5C4536"/>
          </a:solidFill>
          <a:ln/>
        </p:spPr>
      </p:sp>
      <p:sp>
        <p:nvSpPr>
          <p:cNvPr id="16" name="Text 13"/>
          <p:cNvSpPr/>
          <p:nvPr/>
        </p:nvSpPr>
        <p:spPr>
          <a:xfrm>
            <a:off x="640080" y="3364992"/>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3</a:t>
            </a:r>
            <a:endParaRPr lang="en-US" sz="1200" dirty="0"/>
          </a:p>
        </p:txBody>
      </p:sp>
      <p:sp>
        <p:nvSpPr>
          <p:cNvPr id="17" name="Text 14"/>
          <p:cNvSpPr/>
          <p:nvPr/>
        </p:nvSpPr>
        <p:spPr>
          <a:xfrm>
            <a:off x="1133856" y="3328416"/>
            <a:ext cx="5129784" cy="420624"/>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Diagnose the waste — where do the tokens actually go?</a:t>
            </a:r>
            <a:endParaRPr lang="en-US" sz="1250" dirty="0"/>
          </a:p>
        </p:txBody>
      </p:sp>
      <p:sp>
        <p:nvSpPr>
          <p:cNvPr id="18" name="Shape 15"/>
          <p:cNvSpPr/>
          <p:nvPr/>
        </p:nvSpPr>
        <p:spPr>
          <a:xfrm>
            <a:off x="640080" y="3931920"/>
            <a:ext cx="329184" cy="329184"/>
          </a:xfrm>
          <a:prstGeom prst="ellipse">
            <a:avLst/>
          </a:prstGeom>
          <a:solidFill>
            <a:srgbClr val="5C4536"/>
          </a:solidFill>
          <a:ln/>
        </p:spPr>
      </p:sp>
      <p:sp>
        <p:nvSpPr>
          <p:cNvPr id="19" name="Text 16"/>
          <p:cNvSpPr/>
          <p:nvPr/>
        </p:nvSpPr>
        <p:spPr>
          <a:xfrm>
            <a:off x="640080" y="3931920"/>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4</a:t>
            </a:r>
            <a:endParaRPr lang="en-US" sz="1200" dirty="0"/>
          </a:p>
        </p:txBody>
      </p:sp>
      <p:sp>
        <p:nvSpPr>
          <p:cNvPr id="20" name="Text 17"/>
          <p:cNvSpPr/>
          <p:nvPr/>
        </p:nvSpPr>
        <p:spPr>
          <a:xfrm>
            <a:off x="1133856" y="3895344"/>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Write down three specific things you would cut, before touching anything.</a:t>
            </a:r>
            <a:endParaRPr lang="en-US" sz="1250" dirty="0"/>
          </a:p>
        </p:txBody>
      </p:sp>
      <p:sp>
        <p:nvSpPr>
          <p:cNvPr id="21" name="Text 18"/>
          <p:cNvSpPr/>
          <p:nvPr/>
        </p:nvSpPr>
        <p:spPr>
          <a:xfrm>
            <a:off x="6537960" y="1828800"/>
            <a:ext cx="5013655"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MEASURED BASELINE</a:t>
            </a:r>
            <a:endParaRPr lang="en-US" sz="1000" dirty="0"/>
          </a:p>
        </p:txBody>
      </p:sp>
      <p:sp>
        <p:nvSpPr>
          <p:cNvPr id="22" name="Shape 19"/>
          <p:cNvSpPr/>
          <p:nvPr/>
        </p:nvSpPr>
        <p:spPr>
          <a:xfrm>
            <a:off x="6574536" y="2276856"/>
            <a:ext cx="118872" cy="118872"/>
          </a:xfrm>
          <a:prstGeom prst="ellipse">
            <a:avLst/>
          </a:prstGeom>
          <a:solidFill>
            <a:srgbClr val="0054F0"/>
          </a:solidFill>
          <a:ln/>
        </p:spPr>
      </p:sp>
      <p:sp>
        <p:nvSpPr>
          <p:cNvPr id="23" name="Text 20"/>
          <p:cNvSpPr/>
          <p:nvPr/>
        </p:nvSpPr>
        <p:spPr>
          <a:xfrm>
            <a:off x="6848856" y="2194560"/>
            <a:ext cx="4702759" cy="347472"/>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18,400 tokens in one call.</a:t>
            </a:r>
            <a:endParaRPr lang="en-US" sz="1250" dirty="0"/>
          </a:p>
        </p:txBody>
      </p:sp>
      <p:sp>
        <p:nvSpPr>
          <p:cNvPr id="24" name="Shape 21"/>
          <p:cNvSpPr/>
          <p:nvPr/>
        </p:nvSpPr>
        <p:spPr>
          <a:xfrm>
            <a:off x="6574536" y="2734056"/>
            <a:ext cx="118872" cy="118872"/>
          </a:xfrm>
          <a:prstGeom prst="ellipse">
            <a:avLst/>
          </a:prstGeom>
          <a:solidFill>
            <a:srgbClr val="0054F0"/>
          </a:solidFill>
          <a:ln/>
        </p:spPr>
      </p:sp>
      <p:sp>
        <p:nvSpPr>
          <p:cNvPr id="25" name="Text 22"/>
          <p:cNvSpPr/>
          <p:nvPr/>
        </p:nvSpPr>
        <p:spPr>
          <a:xfrm>
            <a:off x="6848856" y="2651760"/>
            <a:ext cx="4702759" cy="347472"/>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Tier 3 for every decision, however trivial.</a:t>
            </a:r>
            <a:endParaRPr lang="en-US" sz="1250" dirty="0"/>
          </a:p>
        </p:txBody>
      </p:sp>
      <p:sp>
        <p:nvSpPr>
          <p:cNvPr id="26" name="Shape 23"/>
          <p:cNvSpPr/>
          <p:nvPr/>
        </p:nvSpPr>
        <p:spPr>
          <a:xfrm>
            <a:off x="6574536" y="3191256"/>
            <a:ext cx="118872" cy="118872"/>
          </a:xfrm>
          <a:prstGeom prst="ellipse">
            <a:avLst/>
          </a:prstGeom>
          <a:solidFill>
            <a:srgbClr val="0054F0"/>
          </a:solidFill>
          <a:ln/>
        </p:spPr>
      </p:sp>
      <p:sp>
        <p:nvSpPr>
          <p:cNvPr id="27" name="Text 24"/>
          <p:cNvSpPr/>
          <p:nvPr/>
        </p:nvSpPr>
        <p:spPr>
          <a:xfrm>
            <a:off x="6848856" y="3108960"/>
            <a:ext cx="4702759" cy="347472"/>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A written list of waste sources per team.</a:t>
            </a:r>
            <a:endParaRPr lang="en-US" sz="1250" dirty="0"/>
          </a:p>
        </p:txBody>
      </p:sp>
      <p:sp>
        <p:nvSpPr>
          <p:cNvPr id="28" name="Shape 25"/>
          <p:cNvSpPr/>
          <p:nvPr/>
        </p:nvSpPr>
        <p:spPr>
          <a:xfrm>
            <a:off x="6537960" y="4709160"/>
            <a:ext cx="5013655" cy="960120"/>
          </a:xfrm>
          <a:prstGeom prst="roundRect">
            <a:avLst>
              <a:gd name="adj" fmla="val 11429"/>
            </a:avLst>
          </a:prstGeom>
          <a:solidFill>
            <a:srgbClr val="0054F0"/>
          </a:solidFill>
          <a:ln/>
        </p:spPr>
      </p:sp>
      <p:sp>
        <p:nvSpPr>
          <p:cNvPr id="29" name="Text 26"/>
          <p:cNvSpPr/>
          <p:nvPr/>
        </p:nvSpPr>
        <p:spPr>
          <a:xfrm>
            <a:off x="6812280" y="4709160"/>
            <a:ext cx="4465015" cy="960120"/>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Arial" pitchFamily="34" charset="0"/>
                <a:ea typeface="Arial" pitchFamily="34" charset="-122"/>
                <a:cs typeface="Arial" pitchFamily="34" charset="-120"/>
              </a:rPr>
              <a:t>You cannot optimise what you have not measured. Everything after this is scored against this number.</a:t>
            </a:r>
            <a:endParaRPr lang="en-US" sz="1350" dirty="0"/>
          </a:p>
        </p:txBody>
      </p:sp>
      <p:sp>
        <p:nvSpPr>
          <p:cNvPr id="30" name="Text 27"/>
          <p:cNvSpPr/>
          <p:nvPr/>
        </p:nvSpPr>
        <p:spPr>
          <a:xfrm>
            <a:off x="6537960" y="5779008"/>
            <a:ext cx="5013655" cy="548640"/>
          </a:xfrm>
          <a:prstGeom prst="rect">
            <a:avLst/>
          </a:prstGeom>
          <a:noFill/>
          <a:ln/>
        </p:spPr>
        <p:txBody>
          <a:bodyPr wrap="square" lIns="0" tIns="0" rIns="0" bIns="0" rtlCol="0" anchor="t"/>
          <a:lstStyle/>
          <a:p>
            <a:pPr indent="0" marL="0">
              <a:lnSpc>
                <a:spcPts val="1400"/>
              </a:lnSpc>
              <a:buNone/>
            </a:pPr>
            <a:r>
              <a:rPr lang="en-US" sz="1050" i="1" dirty="0">
                <a:solidFill>
                  <a:srgbClr val="9E8B7C"/>
                </a:solidFill>
                <a:latin typeface="Arial" pitchFamily="34" charset="0"/>
                <a:ea typeface="Arial" pitchFamily="34" charset="-122"/>
                <a:cs typeface="Arial" pitchFamily="34" charset="-120"/>
              </a:rPr>
              <a:t>Teams who skip the written diagnosis tend to optimise the wrong thing first and lose ten minutes in Phase 3.</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31E11"/>
        </a:solidFill>
      </p:bgPr>
    </p:bg>
    <p:spTree>
      <p:nvGrpSpPr>
        <p:cNvPr id="1" name=""/>
        <p:cNvGrpSpPr/>
        <p:nvPr/>
      </p:nvGrpSpPr>
      <p:grpSpPr>
        <a:xfrm>
          <a:off x="0" y="0"/>
          <a:ext cx="0" cy="0"/>
          <a:chOff x="0" y="0"/>
          <a:chExt cx="0" cy="0"/>
        </a:xfrm>
      </p:grpSpPr>
      <p:pic>
        <p:nvPicPr>
          <p:cNvPr id="2" name="Image 0" descr="/home/claude/assets/contours.png">    </p:cNvPr>
          <p:cNvPicPr>
            <a:picLocks noChangeAspect="1"/>
          </p:cNvPicPr>
          <p:nvPr/>
        </p:nvPicPr>
        <p:blipFill>
          <a:blip r:embed="rId1">
            <a:alphaModFix amt="38000"/>
          </a:blip>
          <a:stretch>
            <a:fillRect/>
          </a:stretch>
        </p:blipFill>
        <p:spPr>
          <a:xfrm>
            <a:off x="0" y="1828800"/>
            <a:ext cx="12191695" cy="5029200"/>
          </a:xfrm>
          <a:prstGeom prst="rect">
            <a:avLst/>
          </a:prstGeom>
        </p:spPr>
      </p:pic>
      <p:sp>
        <p:nvSpPr>
          <p:cNvPr id="3" name="Shape 0"/>
          <p:cNvSpPr/>
          <p:nvPr/>
        </p:nvSpPr>
        <p:spPr>
          <a:xfrm>
            <a:off x="640080" y="457200"/>
            <a:ext cx="1572768" cy="384048"/>
          </a:xfrm>
          <a:prstGeom prst="roundRect">
            <a:avLst>
              <a:gd name="adj" fmla="val 50000"/>
            </a:avLst>
          </a:prstGeom>
          <a:solidFill>
            <a:srgbClr val="0054F0"/>
          </a:solidFill>
          <a:ln/>
        </p:spPr>
      </p:sp>
      <p:sp>
        <p:nvSpPr>
          <p:cNvPr id="4" name="Text 1"/>
          <p:cNvSpPr/>
          <p:nvPr/>
        </p:nvSpPr>
        <p:spPr>
          <a:xfrm>
            <a:off x="640080" y="457200"/>
            <a:ext cx="1572768" cy="384048"/>
          </a:xfrm>
          <a:prstGeom prst="rect">
            <a:avLst/>
          </a:prstGeom>
          <a:noFill/>
          <a:ln/>
        </p:spPr>
        <p:txBody>
          <a:bodyPr wrap="square" lIns="0" tIns="0" rIns="0" bIns="0" rtlCol="0" anchor="ctr"/>
          <a:lstStyle/>
          <a:p>
            <a:pPr algn="ctr" indent="0" marL="0">
              <a:buNone/>
            </a:pPr>
            <a:r>
              <a:rPr lang="en-US" sz="1200" b="1" spc="140" kern="0" dirty="0">
                <a:solidFill>
                  <a:srgbClr val="FFFFFF"/>
                </a:solidFill>
                <a:latin typeface="Arial" pitchFamily="34" charset="0"/>
                <a:ea typeface="Arial" pitchFamily="34" charset="-122"/>
                <a:cs typeface="Arial" pitchFamily="34" charset="-120"/>
              </a:rPr>
              <a:t>PHASE 3</a:t>
            </a:r>
            <a:endParaRPr lang="en-US" sz="1200" dirty="0"/>
          </a:p>
        </p:txBody>
      </p:sp>
      <p:sp>
        <p:nvSpPr>
          <p:cNvPr id="5" name="Text 2"/>
          <p:cNvSpPr/>
          <p:nvPr/>
        </p:nvSpPr>
        <p:spPr>
          <a:xfrm>
            <a:off x="2395728" y="457200"/>
            <a:ext cx="2743200" cy="384048"/>
          </a:xfrm>
          <a:prstGeom prst="rect">
            <a:avLst/>
          </a:prstGeom>
          <a:noFill/>
          <a:ln/>
        </p:spPr>
        <p:txBody>
          <a:bodyPr wrap="square" lIns="0" tIns="0" rIns="0" bIns="0" rtlCol="0" anchor="ctr"/>
          <a:lstStyle/>
          <a:p>
            <a:pPr indent="0" marL="0">
              <a:buNone/>
            </a:pPr>
            <a:r>
              <a:rPr lang="en-US" sz="1200" b="1" dirty="0">
                <a:solidFill>
                  <a:srgbClr val="E8E0D9"/>
                </a:solidFill>
                <a:latin typeface="Arial" pitchFamily="34" charset="0"/>
                <a:ea typeface="Arial" pitchFamily="34" charset="-122"/>
                <a:cs typeface="Arial" pitchFamily="34" charset="-120"/>
              </a:rPr>
              <a:t>45 min</a:t>
            </a:r>
            <a:endParaRPr lang="en-US" sz="1200" dirty="0"/>
          </a:p>
        </p:txBody>
      </p:sp>
      <p:sp>
        <p:nvSpPr>
          <p:cNvPr id="6" name="Text 3"/>
          <p:cNvSpPr/>
          <p:nvPr/>
        </p:nvSpPr>
        <p:spPr>
          <a:xfrm>
            <a:off x="6522415" y="457200"/>
            <a:ext cx="5029200" cy="384048"/>
          </a:xfrm>
          <a:prstGeom prst="rect">
            <a:avLst/>
          </a:prstGeom>
          <a:noFill/>
          <a:ln/>
        </p:spPr>
        <p:txBody>
          <a:bodyPr wrap="square" lIns="0" tIns="0" rIns="0" bIns="0" rtlCol="0" anchor="ctr"/>
          <a:lstStyle/>
          <a:p>
            <a:pPr algn="r" indent="0" marL="0">
              <a:buNone/>
            </a:pPr>
            <a:r>
              <a:rPr lang="en-US" sz="1100" b="1" spc="180" kern="0" dirty="0">
                <a:solidFill>
                  <a:srgbClr val="D6E3FF"/>
                </a:solidFill>
                <a:latin typeface="Arial" pitchFamily="34" charset="0"/>
                <a:ea typeface="Arial" pitchFamily="34" charset="-122"/>
                <a:cs typeface="Arial" pitchFamily="34" charset="-120"/>
              </a:rPr>
              <a:t>EXERCISES 2–3 · THE MAIN EVENT</a:t>
            </a:r>
            <a:endParaRPr lang="en-US" sz="1100" dirty="0"/>
          </a:p>
        </p:txBody>
      </p:sp>
      <p:sp>
        <p:nvSpPr>
          <p:cNvPr id="7" name="Text 4"/>
          <p:cNvSpPr/>
          <p:nvPr/>
        </p:nvSpPr>
        <p:spPr>
          <a:xfrm>
            <a:off x="640080" y="987552"/>
            <a:ext cx="10881360" cy="685800"/>
          </a:xfrm>
          <a:prstGeom prst="rect">
            <a:avLst/>
          </a:prstGeom>
          <a:noFill/>
          <a:ln/>
        </p:spPr>
        <p:txBody>
          <a:bodyPr wrap="square" lIns="0" tIns="0" rIns="0" bIns="0" rtlCol="0" anchor="t"/>
          <a:lstStyle/>
          <a:p>
            <a:pPr indent="0" marL="0">
              <a:buNone/>
            </a:pPr>
            <a:r>
              <a:rPr lang="en-US" sz="3300" b="1" dirty="0">
                <a:solidFill>
                  <a:srgbClr val="FAF9F7"/>
                </a:solidFill>
                <a:latin typeface="Arial" pitchFamily="34" charset="0"/>
                <a:ea typeface="Arial" pitchFamily="34" charset="-122"/>
                <a:cs typeface="Arial" pitchFamily="34" charset="-120"/>
              </a:rPr>
              <a:t>Context and handoff optimization</a:t>
            </a:r>
            <a:endParaRPr lang="en-US" sz="3300" dirty="0"/>
          </a:p>
        </p:txBody>
      </p:sp>
      <p:sp>
        <p:nvSpPr>
          <p:cNvPr id="8" name="Text 5"/>
          <p:cNvSpPr/>
          <p:nvPr/>
        </p:nvSpPr>
        <p:spPr>
          <a:xfrm>
            <a:off x="640080" y="1828800"/>
            <a:ext cx="5623560"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WHAT HAPPENS</a:t>
            </a:r>
            <a:endParaRPr lang="en-US" sz="1000" dirty="0"/>
          </a:p>
        </p:txBody>
      </p:sp>
      <p:sp>
        <p:nvSpPr>
          <p:cNvPr id="9" name="Shape 6"/>
          <p:cNvSpPr/>
          <p:nvPr/>
        </p:nvSpPr>
        <p:spPr>
          <a:xfrm>
            <a:off x="640080" y="2231136"/>
            <a:ext cx="329184" cy="329184"/>
          </a:xfrm>
          <a:prstGeom prst="ellipse">
            <a:avLst/>
          </a:prstGeom>
          <a:solidFill>
            <a:srgbClr val="5C4536"/>
          </a:solidFill>
          <a:ln/>
        </p:spPr>
      </p:sp>
      <p:sp>
        <p:nvSpPr>
          <p:cNvPr id="10" name="Text 7"/>
          <p:cNvSpPr/>
          <p:nvPr/>
        </p:nvSpPr>
        <p:spPr>
          <a:xfrm>
            <a:off x="640080" y="223113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1</a:t>
            </a:r>
            <a:endParaRPr lang="en-US" sz="1200" dirty="0"/>
          </a:p>
        </p:txBody>
      </p:sp>
      <p:sp>
        <p:nvSpPr>
          <p:cNvPr id="11" name="Text 8"/>
          <p:cNvSpPr/>
          <p:nvPr/>
        </p:nvSpPr>
        <p:spPr>
          <a:xfrm>
            <a:off x="1133856" y="2194560"/>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Build V2: same single call, but retrieve only the relevant excerpts. Target ≤ 9,200 tokens.</a:t>
            </a:r>
            <a:endParaRPr lang="en-US" sz="1250" dirty="0"/>
          </a:p>
        </p:txBody>
      </p:sp>
      <p:sp>
        <p:nvSpPr>
          <p:cNvPr id="12" name="Shape 9"/>
          <p:cNvSpPr/>
          <p:nvPr/>
        </p:nvSpPr>
        <p:spPr>
          <a:xfrm>
            <a:off x="640080" y="2962656"/>
            <a:ext cx="329184" cy="329184"/>
          </a:xfrm>
          <a:prstGeom prst="ellipse">
            <a:avLst/>
          </a:prstGeom>
          <a:solidFill>
            <a:srgbClr val="5C4536"/>
          </a:solidFill>
          <a:ln/>
        </p:spPr>
      </p:sp>
      <p:sp>
        <p:nvSpPr>
          <p:cNvPr id="13" name="Text 10"/>
          <p:cNvSpPr/>
          <p:nvPr/>
        </p:nvSpPr>
        <p:spPr>
          <a:xfrm>
            <a:off x="640080" y="296265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2</a:t>
            </a:r>
            <a:endParaRPr lang="en-US" sz="1200" dirty="0"/>
          </a:p>
        </p:txBody>
      </p:sp>
      <p:sp>
        <p:nvSpPr>
          <p:cNvPr id="14" name="Text 11"/>
          <p:cNvSpPr/>
          <p:nvPr/>
        </p:nvSpPr>
        <p:spPr>
          <a:xfrm>
            <a:off x="1133856" y="2926080"/>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Verify V2 still answers Case 1 correctly before moving on.</a:t>
            </a:r>
            <a:endParaRPr lang="en-US" sz="1250" dirty="0"/>
          </a:p>
        </p:txBody>
      </p:sp>
      <p:sp>
        <p:nvSpPr>
          <p:cNvPr id="15" name="Shape 12"/>
          <p:cNvSpPr/>
          <p:nvPr/>
        </p:nvSpPr>
        <p:spPr>
          <a:xfrm>
            <a:off x="640080" y="3694176"/>
            <a:ext cx="329184" cy="329184"/>
          </a:xfrm>
          <a:prstGeom prst="ellipse">
            <a:avLst/>
          </a:prstGeom>
          <a:solidFill>
            <a:srgbClr val="5C4536"/>
          </a:solidFill>
          <a:ln/>
        </p:spPr>
      </p:sp>
      <p:sp>
        <p:nvSpPr>
          <p:cNvPr id="16" name="Text 13"/>
          <p:cNvSpPr/>
          <p:nvPr/>
        </p:nvSpPr>
        <p:spPr>
          <a:xfrm>
            <a:off x="640080" y="369417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3</a:t>
            </a:r>
            <a:endParaRPr lang="en-US" sz="1200" dirty="0"/>
          </a:p>
        </p:txBody>
      </p:sp>
      <p:sp>
        <p:nvSpPr>
          <p:cNvPr id="17" name="Text 14"/>
          <p:cNvSpPr/>
          <p:nvPr/>
        </p:nvSpPr>
        <p:spPr>
          <a:xfrm>
            <a:off x="1133856" y="3657600"/>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Build V3: split into a retrieval/triage call and a resolver call. Target ≤ 5,500 tokens.</a:t>
            </a:r>
            <a:endParaRPr lang="en-US" sz="1250" dirty="0"/>
          </a:p>
        </p:txBody>
      </p:sp>
      <p:sp>
        <p:nvSpPr>
          <p:cNvPr id="18" name="Shape 15"/>
          <p:cNvSpPr/>
          <p:nvPr/>
        </p:nvSpPr>
        <p:spPr>
          <a:xfrm>
            <a:off x="640080" y="4425696"/>
            <a:ext cx="329184" cy="329184"/>
          </a:xfrm>
          <a:prstGeom prst="ellipse">
            <a:avLst/>
          </a:prstGeom>
          <a:solidFill>
            <a:srgbClr val="5C4536"/>
          </a:solidFill>
          <a:ln/>
        </p:spPr>
      </p:sp>
      <p:sp>
        <p:nvSpPr>
          <p:cNvPr id="19" name="Text 16"/>
          <p:cNvSpPr/>
          <p:nvPr/>
        </p:nvSpPr>
        <p:spPr>
          <a:xfrm>
            <a:off x="640080" y="442569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4</a:t>
            </a:r>
            <a:endParaRPr lang="en-US" sz="1200" dirty="0"/>
          </a:p>
        </p:txBody>
      </p:sp>
      <p:sp>
        <p:nvSpPr>
          <p:cNvPr id="20" name="Text 17"/>
          <p:cNvSpPr/>
          <p:nvPr/>
        </p:nvSpPr>
        <p:spPr>
          <a:xfrm>
            <a:off x="1133856" y="4389120"/>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Notice what your handoff payload actually contains. Most teams are surprised.</a:t>
            </a:r>
            <a:endParaRPr lang="en-US" sz="1250" dirty="0"/>
          </a:p>
        </p:txBody>
      </p:sp>
      <p:sp>
        <p:nvSpPr>
          <p:cNvPr id="21" name="Text 18"/>
          <p:cNvSpPr/>
          <p:nvPr/>
        </p:nvSpPr>
        <p:spPr>
          <a:xfrm>
            <a:off x="6537960" y="1828800"/>
            <a:ext cx="5013655"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TARGETS</a:t>
            </a:r>
            <a:endParaRPr lang="en-US" sz="1000" dirty="0"/>
          </a:p>
        </p:txBody>
      </p:sp>
      <p:sp>
        <p:nvSpPr>
          <p:cNvPr id="22" name="Shape 19"/>
          <p:cNvSpPr/>
          <p:nvPr/>
        </p:nvSpPr>
        <p:spPr>
          <a:xfrm>
            <a:off x="6574536" y="2276856"/>
            <a:ext cx="118872" cy="118872"/>
          </a:xfrm>
          <a:prstGeom prst="ellipse">
            <a:avLst/>
          </a:prstGeom>
          <a:solidFill>
            <a:srgbClr val="0054F0"/>
          </a:solidFill>
          <a:ln/>
        </p:spPr>
      </p:sp>
      <p:sp>
        <p:nvSpPr>
          <p:cNvPr id="23" name="Text 20"/>
          <p:cNvSpPr/>
          <p:nvPr/>
        </p:nvSpPr>
        <p:spPr>
          <a:xfrm>
            <a:off x="6848856" y="2194560"/>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V2 ≤ 9,200 tokens — exactly half of baseline, still one Tier 3 call.</a:t>
            </a:r>
            <a:endParaRPr lang="en-US" sz="1250" dirty="0"/>
          </a:p>
        </p:txBody>
      </p:sp>
      <p:sp>
        <p:nvSpPr>
          <p:cNvPr id="24" name="Shape 21"/>
          <p:cNvSpPr/>
          <p:nvPr/>
        </p:nvSpPr>
        <p:spPr>
          <a:xfrm>
            <a:off x="6574536" y="2953512"/>
            <a:ext cx="118872" cy="118872"/>
          </a:xfrm>
          <a:prstGeom prst="ellipse">
            <a:avLst/>
          </a:prstGeom>
          <a:solidFill>
            <a:srgbClr val="0054F0"/>
          </a:solidFill>
          <a:ln/>
        </p:spPr>
      </p:sp>
      <p:sp>
        <p:nvSpPr>
          <p:cNvPr id="25" name="Text 22"/>
          <p:cNvSpPr/>
          <p:nvPr/>
        </p:nvSpPr>
        <p:spPr>
          <a:xfrm>
            <a:off x="6848856" y="2871216"/>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V3 ≤ 5,500 tokens — two Tier 2 calls, 2,500 for triage plus 3,000 for the resolver.</a:t>
            </a:r>
            <a:endParaRPr lang="en-US" sz="1250" dirty="0"/>
          </a:p>
        </p:txBody>
      </p:sp>
      <p:sp>
        <p:nvSpPr>
          <p:cNvPr id="26" name="Shape 23"/>
          <p:cNvSpPr/>
          <p:nvPr/>
        </p:nvSpPr>
        <p:spPr>
          <a:xfrm>
            <a:off x="6574536" y="3630168"/>
            <a:ext cx="118872" cy="118872"/>
          </a:xfrm>
          <a:prstGeom prst="ellipse">
            <a:avLst/>
          </a:prstGeom>
          <a:solidFill>
            <a:srgbClr val="0054F0"/>
          </a:solidFill>
          <a:ln/>
        </p:spPr>
      </p:sp>
      <p:sp>
        <p:nvSpPr>
          <p:cNvPr id="27" name="Text 24"/>
          <p:cNvSpPr/>
          <p:nvPr/>
        </p:nvSpPr>
        <p:spPr>
          <a:xfrm>
            <a:off x="6848856" y="3547872"/>
            <a:ext cx="4702759" cy="347472"/>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Correctness on Case 1 unchanged at every step.</a:t>
            </a:r>
            <a:endParaRPr lang="en-US" sz="1250" dirty="0"/>
          </a:p>
        </p:txBody>
      </p:sp>
      <p:sp>
        <p:nvSpPr>
          <p:cNvPr id="28" name="Shape 25"/>
          <p:cNvSpPr/>
          <p:nvPr/>
        </p:nvSpPr>
        <p:spPr>
          <a:xfrm>
            <a:off x="6537960" y="4709160"/>
            <a:ext cx="5013655" cy="960120"/>
          </a:xfrm>
          <a:prstGeom prst="roundRect">
            <a:avLst>
              <a:gd name="adj" fmla="val 11429"/>
            </a:avLst>
          </a:prstGeom>
          <a:solidFill>
            <a:srgbClr val="0054F0"/>
          </a:solidFill>
          <a:ln/>
        </p:spPr>
      </p:sp>
      <p:sp>
        <p:nvSpPr>
          <p:cNvPr id="29" name="Text 26"/>
          <p:cNvSpPr/>
          <p:nvPr/>
        </p:nvSpPr>
        <p:spPr>
          <a:xfrm>
            <a:off x="6812280" y="4709160"/>
            <a:ext cx="4465015" cy="960120"/>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Arial" pitchFamily="34" charset="0"/>
                <a:ea typeface="Arial" pitchFamily="34" charset="-122"/>
                <a:cs typeface="Arial" pitchFamily="34" charset="-120"/>
              </a:rPr>
              <a:t>V2 buys you excerpts instead of files. V3 buys you a split — but only if the handoff is thin.</a:t>
            </a:r>
            <a:endParaRPr lang="en-US" sz="1350" dirty="0"/>
          </a:p>
        </p:txBody>
      </p:sp>
      <p:sp>
        <p:nvSpPr>
          <p:cNvPr id="30" name="Text 27"/>
          <p:cNvSpPr/>
          <p:nvPr/>
        </p:nvSpPr>
        <p:spPr>
          <a:xfrm>
            <a:off x="6537960" y="5779008"/>
            <a:ext cx="5013655" cy="548640"/>
          </a:xfrm>
          <a:prstGeom prst="rect">
            <a:avLst/>
          </a:prstGeom>
          <a:noFill/>
          <a:ln/>
        </p:spPr>
        <p:txBody>
          <a:bodyPr wrap="square" lIns="0" tIns="0" rIns="0" bIns="0" rtlCol="0" anchor="t"/>
          <a:lstStyle/>
          <a:p>
            <a:pPr indent="0" marL="0">
              <a:lnSpc>
                <a:spcPts val="1400"/>
              </a:lnSpc>
              <a:buNone/>
            </a:pPr>
            <a:r>
              <a:rPr lang="en-US" sz="1050" i="1" dirty="0">
                <a:solidFill>
                  <a:srgbClr val="9E8B7C"/>
                </a:solidFill>
                <a:latin typeface="Arial" pitchFamily="34" charset="0"/>
                <a:ea typeface="Arial" pitchFamily="34" charset="-122"/>
                <a:cs typeface="Arial" pitchFamily="34" charset="-120"/>
              </a:rPr>
              <a:t>The V3 trap is real and intentional: split the agent, pass the full context anyway, and the token count barely moves.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E0D9"/>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16</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THE TARGET CURVE</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V1 to V4, and what buys each drop</a:t>
            </a:r>
            <a:endParaRPr lang="en-US" sz="3600" dirty="0"/>
          </a:p>
        </p:txBody>
      </p:sp>
      <p:pic>
        <p:nvPicPr>
          <p:cNvPr id="5" name="Image 0" descr="/home/claude/assets/progression.png">    </p:cNvPr>
          <p:cNvPicPr>
            <a:picLocks noChangeAspect="1"/>
          </p:cNvPicPr>
          <p:nvPr/>
        </p:nvPicPr>
        <p:blipFill>
          <a:blip r:embed="rId1"/>
          <a:stretch>
            <a:fillRect/>
          </a:stretch>
        </p:blipFill>
        <p:spPr>
          <a:xfrm>
            <a:off x="502920" y="1691640"/>
            <a:ext cx="6675120" cy="3685032"/>
          </a:xfrm>
          <a:prstGeom prst="rect">
            <a:avLst/>
          </a:prstGeom>
        </p:spPr>
      </p:pic>
      <p:sp>
        <p:nvSpPr>
          <p:cNvPr id="6" name="Shape 3"/>
          <p:cNvSpPr/>
          <p:nvPr/>
        </p:nvSpPr>
        <p:spPr>
          <a:xfrm>
            <a:off x="7452360" y="1828800"/>
            <a:ext cx="4096512" cy="1170432"/>
          </a:xfrm>
          <a:prstGeom prst="roundRect">
            <a:avLst>
              <a:gd name="adj" fmla="val 1093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7" name="Text 4"/>
          <p:cNvSpPr/>
          <p:nvPr/>
        </p:nvSpPr>
        <p:spPr>
          <a:xfrm>
            <a:off x="7680960" y="1938528"/>
            <a:ext cx="640080" cy="365760"/>
          </a:xfrm>
          <a:prstGeom prst="rect">
            <a:avLst/>
          </a:prstGeom>
          <a:noFill/>
          <a:ln/>
        </p:spPr>
        <p:txBody>
          <a:bodyPr wrap="square" lIns="0" tIns="0" rIns="0" bIns="0" rtlCol="0" anchor="ctr"/>
          <a:lstStyle/>
          <a:p>
            <a:pPr indent="0" marL="0">
              <a:buNone/>
            </a:pPr>
            <a:r>
              <a:rPr lang="en-US" sz="1700" b="1" dirty="0">
                <a:solidFill>
                  <a:srgbClr val="0054F0"/>
                </a:solidFill>
                <a:latin typeface="Arial" pitchFamily="34" charset="0"/>
                <a:ea typeface="Arial" pitchFamily="34" charset="-122"/>
                <a:cs typeface="Arial" pitchFamily="34" charset="-120"/>
              </a:rPr>
              <a:t>V2</a:t>
            </a:r>
            <a:endParaRPr lang="en-US" sz="1700" dirty="0"/>
          </a:p>
        </p:txBody>
      </p:sp>
      <p:sp>
        <p:nvSpPr>
          <p:cNvPr id="8" name="Text 5"/>
          <p:cNvSpPr/>
          <p:nvPr/>
        </p:nvSpPr>
        <p:spPr>
          <a:xfrm>
            <a:off x="8275320" y="1938528"/>
            <a:ext cx="1463040" cy="365760"/>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9,200</a:t>
            </a:r>
            <a:endParaRPr lang="en-US" sz="1400" dirty="0"/>
          </a:p>
        </p:txBody>
      </p:sp>
      <p:sp>
        <p:nvSpPr>
          <p:cNvPr id="9" name="Text 6"/>
          <p:cNvSpPr/>
          <p:nvPr/>
        </p:nvSpPr>
        <p:spPr>
          <a:xfrm>
            <a:off x="7680960" y="2331720"/>
            <a:ext cx="3639312" cy="594360"/>
          </a:xfrm>
          <a:prstGeom prst="rect">
            <a:avLst/>
          </a:prstGeom>
          <a:noFill/>
          <a:ln/>
        </p:spPr>
        <p:txBody>
          <a:bodyPr wrap="square" lIns="0" tIns="0" rIns="0" bIns="0" rtlCol="0" anchor="ctr"/>
          <a:lstStyle/>
          <a:p>
            <a:pPr indent="0" marL="0">
              <a:lnSpc>
                <a:spcPts val="1400"/>
              </a:lnSpc>
              <a:buNone/>
            </a:pPr>
            <a:r>
              <a:rPr lang="en-US" sz="1100" dirty="0">
                <a:solidFill>
                  <a:srgbClr val="7A6B60"/>
                </a:solidFill>
                <a:latin typeface="Arial" pitchFamily="34" charset="0"/>
                <a:ea typeface="Arial" pitchFamily="34" charset="-122"/>
                <a:cs typeface="Arial" pitchFamily="34" charset="-120"/>
              </a:rPr>
              <a:t>Relevant excerpts instead of whole files. Same single Tier 3 call.</a:t>
            </a:r>
            <a:endParaRPr lang="en-US" sz="1100" dirty="0"/>
          </a:p>
        </p:txBody>
      </p:sp>
      <p:sp>
        <p:nvSpPr>
          <p:cNvPr id="10" name="Shape 7"/>
          <p:cNvSpPr/>
          <p:nvPr/>
        </p:nvSpPr>
        <p:spPr>
          <a:xfrm>
            <a:off x="7452360" y="3154680"/>
            <a:ext cx="4096512" cy="1170432"/>
          </a:xfrm>
          <a:prstGeom prst="roundRect">
            <a:avLst>
              <a:gd name="adj" fmla="val 1093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1" name="Text 8"/>
          <p:cNvSpPr/>
          <p:nvPr/>
        </p:nvSpPr>
        <p:spPr>
          <a:xfrm>
            <a:off x="7680960" y="3264408"/>
            <a:ext cx="640080" cy="365760"/>
          </a:xfrm>
          <a:prstGeom prst="rect">
            <a:avLst/>
          </a:prstGeom>
          <a:noFill/>
          <a:ln/>
        </p:spPr>
        <p:txBody>
          <a:bodyPr wrap="square" lIns="0" tIns="0" rIns="0" bIns="0" rtlCol="0" anchor="ctr"/>
          <a:lstStyle/>
          <a:p>
            <a:pPr indent="0" marL="0">
              <a:buNone/>
            </a:pPr>
            <a:r>
              <a:rPr lang="en-US" sz="1700" b="1" dirty="0">
                <a:solidFill>
                  <a:srgbClr val="0054F0"/>
                </a:solidFill>
                <a:latin typeface="Arial" pitchFamily="34" charset="0"/>
                <a:ea typeface="Arial" pitchFamily="34" charset="-122"/>
                <a:cs typeface="Arial" pitchFamily="34" charset="-120"/>
              </a:rPr>
              <a:t>V3</a:t>
            </a:r>
            <a:endParaRPr lang="en-US" sz="1700" dirty="0"/>
          </a:p>
        </p:txBody>
      </p:sp>
      <p:sp>
        <p:nvSpPr>
          <p:cNvPr id="12" name="Text 9"/>
          <p:cNvSpPr/>
          <p:nvPr/>
        </p:nvSpPr>
        <p:spPr>
          <a:xfrm>
            <a:off x="8275320" y="3264408"/>
            <a:ext cx="1463040" cy="365760"/>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5,500</a:t>
            </a:r>
            <a:endParaRPr lang="en-US" sz="1400" dirty="0"/>
          </a:p>
        </p:txBody>
      </p:sp>
      <p:sp>
        <p:nvSpPr>
          <p:cNvPr id="13" name="Text 10"/>
          <p:cNvSpPr/>
          <p:nvPr/>
        </p:nvSpPr>
        <p:spPr>
          <a:xfrm>
            <a:off x="7680960" y="3657600"/>
            <a:ext cx="3639312" cy="594360"/>
          </a:xfrm>
          <a:prstGeom prst="rect">
            <a:avLst/>
          </a:prstGeom>
          <a:noFill/>
          <a:ln/>
        </p:spPr>
        <p:txBody>
          <a:bodyPr wrap="square" lIns="0" tIns="0" rIns="0" bIns="0" rtlCol="0" anchor="ctr"/>
          <a:lstStyle/>
          <a:p>
            <a:pPr indent="0" marL="0">
              <a:lnSpc>
                <a:spcPts val="1400"/>
              </a:lnSpc>
              <a:buNone/>
            </a:pPr>
            <a:r>
              <a:rPr lang="en-US" sz="1100" dirty="0">
                <a:solidFill>
                  <a:srgbClr val="7A6B60"/>
                </a:solidFill>
                <a:latin typeface="Arial" pitchFamily="34" charset="0"/>
                <a:ea typeface="Arial" pitchFamily="34" charset="-122"/>
                <a:cs typeface="Arial" pitchFamily="34" charset="-120"/>
              </a:rPr>
              <a:t>Two-call subagent handoff — but still passing full context between them.</a:t>
            </a:r>
            <a:endParaRPr lang="en-US" sz="1100" dirty="0"/>
          </a:p>
        </p:txBody>
      </p:sp>
      <p:sp>
        <p:nvSpPr>
          <p:cNvPr id="14" name="Shape 11"/>
          <p:cNvSpPr/>
          <p:nvPr/>
        </p:nvSpPr>
        <p:spPr>
          <a:xfrm>
            <a:off x="7452360" y="4480560"/>
            <a:ext cx="4096512" cy="1170432"/>
          </a:xfrm>
          <a:prstGeom prst="roundRect">
            <a:avLst>
              <a:gd name="adj" fmla="val 1093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5" name="Text 12"/>
          <p:cNvSpPr/>
          <p:nvPr/>
        </p:nvSpPr>
        <p:spPr>
          <a:xfrm>
            <a:off x="7680960" y="4590288"/>
            <a:ext cx="640080" cy="365760"/>
          </a:xfrm>
          <a:prstGeom prst="rect">
            <a:avLst/>
          </a:prstGeom>
          <a:noFill/>
          <a:ln/>
        </p:spPr>
        <p:txBody>
          <a:bodyPr wrap="square" lIns="0" tIns="0" rIns="0" bIns="0" rtlCol="0" anchor="ctr"/>
          <a:lstStyle/>
          <a:p>
            <a:pPr indent="0" marL="0">
              <a:buNone/>
            </a:pPr>
            <a:r>
              <a:rPr lang="en-US" sz="1700" b="1" dirty="0">
                <a:solidFill>
                  <a:srgbClr val="0054F0"/>
                </a:solidFill>
                <a:latin typeface="Arial" pitchFamily="34" charset="0"/>
                <a:ea typeface="Arial" pitchFamily="34" charset="-122"/>
                <a:cs typeface="Arial" pitchFamily="34" charset="-120"/>
              </a:rPr>
              <a:t>V4</a:t>
            </a:r>
            <a:endParaRPr lang="en-US" sz="1700" dirty="0"/>
          </a:p>
        </p:txBody>
      </p:sp>
      <p:sp>
        <p:nvSpPr>
          <p:cNvPr id="16" name="Text 13"/>
          <p:cNvSpPr/>
          <p:nvPr/>
        </p:nvSpPr>
        <p:spPr>
          <a:xfrm>
            <a:off x="8275320" y="4590288"/>
            <a:ext cx="1463040" cy="365760"/>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3,800</a:t>
            </a:r>
            <a:endParaRPr lang="en-US" sz="1400" dirty="0"/>
          </a:p>
        </p:txBody>
      </p:sp>
      <p:sp>
        <p:nvSpPr>
          <p:cNvPr id="17" name="Text 14"/>
          <p:cNvSpPr/>
          <p:nvPr/>
        </p:nvSpPr>
        <p:spPr>
          <a:xfrm>
            <a:off x="7680960" y="4983480"/>
            <a:ext cx="3639312" cy="594360"/>
          </a:xfrm>
          <a:prstGeom prst="rect">
            <a:avLst/>
          </a:prstGeom>
          <a:noFill/>
          <a:ln/>
        </p:spPr>
        <p:txBody>
          <a:bodyPr wrap="square" lIns="0" tIns="0" rIns="0" bIns="0" rtlCol="0" anchor="ctr"/>
          <a:lstStyle/>
          <a:p>
            <a:pPr indent="0" marL="0">
              <a:lnSpc>
                <a:spcPts val="1400"/>
              </a:lnSpc>
              <a:buNone/>
            </a:pPr>
            <a:r>
              <a:rPr lang="en-US" sz="1100" dirty="0">
                <a:solidFill>
                  <a:srgbClr val="7A6B60"/>
                </a:solidFill>
                <a:latin typeface="Arial" pitchFamily="34" charset="0"/>
                <a:ea typeface="Arial" pitchFamily="34" charset="-122"/>
                <a:cs typeface="Arial" pitchFamily="34" charset="-120"/>
              </a:rPr>
              <a:t>Minimal typed payload plus routing: 1,000 Tier 1 triage + 2,800 Tier 2 resolver.</a:t>
            </a:r>
            <a:endParaRPr lang="en-US" sz="1100" dirty="0"/>
          </a:p>
        </p:txBody>
      </p:sp>
      <p:sp>
        <p:nvSpPr>
          <p:cNvPr id="18" name="Text 15"/>
          <p:cNvSpPr/>
          <p:nvPr/>
        </p:nvSpPr>
        <p:spPr>
          <a:xfrm>
            <a:off x="640080" y="5852160"/>
            <a:ext cx="6400800" cy="457200"/>
          </a:xfrm>
          <a:prstGeom prst="rect">
            <a:avLst/>
          </a:prstGeom>
          <a:noFill/>
          <a:ln/>
        </p:spPr>
        <p:txBody>
          <a:bodyPr wrap="square" lIns="0" tIns="0" rIns="0" bIns="0" rtlCol="0" anchor="ctr"/>
          <a:lstStyle/>
          <a:p>
            <a:pPr indent="0" marL="0">
              <a:buNone/>
            </a:pPr>
            <a:r>
              <a:rPr lang="en-US" sz="1300" i="1" dirty="0">
                <a:solidFill>
                  <a:srgbClr val="7A6B60"/>
                </a:solidFill>
                <a:latin typeface="Arial" pitchFamily="34" charset="0"/>
                <a:ea typeface="Arial" pitchFamily="34" charset="-122"/>
                <a:cs typeface="Arial" pitchFamily="34" charset="-120"/>
              </a:rPr>
              <a:t>V3 is the smallest drop for the most work. That is the point of it.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17</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THE V3 TRAP</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The handoff that saves you nothing</a:t>
            </a:r>
            <a:endParaRPr lang="en-US" sz="3600" dirty="0"/>
          </a:p>
        </p:txBody>
      </p:sp>
      <p:sp>
        <p:nvSpPr>
          <p:cNvPr id="5" name="Shape 3"/>
          <p:cNvSpPr/>
          <p:nvPr/>
        </p:nvSpPr>
        <p:spPr>
          <a:xfrm>
            <a:off x="640080" y="1783080"/>
            <a:ext cx="6949440" cy="4206240"/>
          </a:xfrm>
          <a:prstGeom prst="roundRect">
            <a:avLst>
              <a:gd name="adj" fmla="val 3043"/>
            </a:avLst>
          </a:prstGeom>
          <a:solidFill>
            <a:srgbClr val="331E11"/>
          </a:solidFill>
          <a:ln/>
        </p:spPr>
      </p:sp>
      <p:sp>
        <p:nvSpPr>
          <p:cNvPr id="6" name="Text 4"/>
          <p:cNvSpPr/>
          <p:nvPr/>
        </p:nvSpPr>
        <p:spPr>
          <a:xfrm>
            <a:off x="914400" y="1984248"/>
            <a:ext cx="6400800" cy="3803904"/>
          </a:xfrm>
          <a:prstGeom prst="rect">
            <a:avLst/>
          </a:prstGeom>
          <a:noFill/>
          <a:ln/>
        </p:spPr>
        <p:txBody>
          <a:bodyPr wrap="square" lIns="0" tIns="0" rIns="0" bIns="0" rtlCol="0" anchor="t"/>
          <a:lstStyle/>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"company_md": "&lt;entire contents of company/about.md&gt;",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"support_contacts_md": "&lt;entire contents of company/support-contacts.md&gt;",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"products": {</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"aurora_x3": "&lt;entire contents of products/aurora-x3.md&gt;",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"fjord_cargo": "&lt;entire contents of products/fjord-cargo.md&gt;",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"vinter_pro": "&lt;entire contents of products/vinter-pro.md&gt;",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"powerpack_batteries": "&lt;entire contents of products/powerpack-batteries.md&gt;",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"accessories": "&lt;entire contents of products/accessories.md&gt;"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"policies": {</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"warranty": "&lt;entire contents of policies/warranty.md&gt;",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"returns": "&lt;entire contents of policies/returns.md&gt;",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"shipping": "&lt;entire contents of policies/shipping.md&gt;",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"escalation": "&lt;entire contents of policies/escalation.md&gt;"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"customer_record_full": "&lt;entire contents of customers/anna-karlsson.md&gt;",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"case_full_text": "&lt;entire contents of cases/case-01-anna-karlsson.md&gt;",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  "conversation_history": "&lt;unbounded prior reasoning trace&gt;"</a:t>
            </a:r>
            <a:endParaRPr lang="en-US" sz="900" dirty="0"/>
          </a:p>
          <a:p>
            <a:pPr indent="0" marL="0">
              <a:lnSpc>
                <a:spcPts val="1350"/>
              </a:lnSpc>
              <a:buNone/>
            </a:pPr>
            <a:r>
              <a:rPr lang="en-US" sz="900" dirty="0">
                <a:solidFill>
                  <a:srgbClr val="E8E0D9"/>
                </a:solidFill>
                <a:latin typeface="Courier New" pitchFamily="34" charset="0"/>
                <a:ea typeface="Courier New" pitchFamily="34" charset="-122"/>
                <a:cs typeface="Courier New" pitchFamily="34" charset="-120"/>
              </a:rPr>
              <a:t>}</a:t>
            </a:r>
            <a:endParaRPr lang="en-US" sz="900" dirty="0"/>
          </a:p>
        </p:txBody>
      </p:sp>
      <p:sp>
        <p:nvSpPr>
          <p:cNvPr id="7" name="Shape 5"/>
          <p:cNvSpPr/>
          <p:nvPr/>
        </p:nvSpPr>
        <p:spPr>
          <a:xfrm>
            <a:off x="7818120" y="1920240"/>
            <a:ext cx="384048" cy="384048"/>
          </a:xfrm>
          <a:prstGeom prst="ellipse">
            <a:avLst/>
          </a:prstGeom>
          <a:solidFill>
            <a:srgbClr val="331E11"/>
          </a:solidFill>
          <a:ln/>
        </p:spPr>
      </p:sp>
      <p:sp>
        <p:nvSpPr>
          <p:cNvPr id="8" name="Text 6"/>
          <p:cNvSpPr/>
          <p:nvPr/>
        </p:nvSpPr>
        <p:spPr>
          <a:xfrm>
            <a:off x="7818120" y="1920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p:nvPr/>
        </p:nvSpPr>
        <p:spPr>
          <a:xfrm>
            <a:off x="8366760" y="1883664"/>
            <a:ext cx="3200400" cy="502920"/>
          </a:xfrm>
          <a:prstGeom prst="rect">
            <a:avLst/>
          </a:prstGeom>
          <a:noFill/>
          <a:ln/>
        </p:spPr>
        <p:txBody>
          <a:bodyPr wrap="square" lIns="0" tIns="0" rIns="0" bIns="0" rtlCol="0" anchor="ctr"/>
          <a:lstStyle/>
          <a:p>
            <a:pPr indent="0" marL="0">
              <a:lnSpc>
                <a:spcPts val="1700"/>
              </a:lnSpc>
              <a:buNone/>
            </a:pPr>
            <a:r>
              <a:rPr lang="en-US" sz="1350" b="1" dirty="0">
                <a:solidFill>
                  <a:srgbClr val="331E11"/>
                </a:solidFill>
                <a:latin typeface="Arial" pitchFamily="34" charset="0"/>
                <a:ea typeface="Arial" pitchFamily="34" charset="-122"/>
                <a:cs typeface="Arial" pitchFamily="34" charset="-120"/>
              </a:rPr>
              <a:t>You split the agent in two.</a:t>
            </a:r>
            <a:endParaRPr lang="en-US" sz="1350" dirty="0"/>
          </a:p>
        </p:txBody>
      </p:sp>
      <p:sp>
        <p:nvSpPr>
          <p:cNvPr id="10" name="Text 8"/>
          <p:cNvSpPr/>
          <p:nvPr/>
        </p:nvSpPr>
        <p:spPr>
          <a:xfrm>
            <a:off x="8366760" y="2395728"/>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Architecturally, this is a subagent handoff. It has all the right shapes.</a:t>
            </a:r>
            <a:endParaRPr lang="en-US" sz="1150" dirty="0"/>
          </a:p>
        </p:txBody>
      </p:sp>
      <p:sp>
        <p:nvSpPr>
          <p:cNvPr id="11" name="Shape 9"/>
          <p:cNvSpPr/>
          <p:nvPr/>
        </p:nvSpPr>
        <p:spPr>
          <a:xfrm>
            <a:off x="7818120" y="3127248"/>
            <a:ext cx="384048" cy="384048"/>
          </a:xfrm>
          <a:prstGeom prst="ellipse">
            <a:avLst/>
          </a:prstGeom>
          <a:solidFill>
            <a:srgbClr val="331E11"/>
          </a:solidFill>
          <a:ln/>
        </p:spPr>
      </p:sp>
      <p:sp>
        <p:nvSpPr>
          <p:cNvPr id="12" name="Text 10"/>
          <p:cNvSpPr/>
          <p:nvPr/>
        </p:nvSpPr>
        <p:spPr>
          <a:xfrm>
            <a:off x="7818120" y="31272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8366760" y="3090672"/>
            <a:ext cx="3200400" cy="502920"/>
          </a:xfrm>
          <a:prstGeom prst="rect">
            <a:avLst/>
          </a:prstGeom>
          <a:noFill/>
          <a:ln/>
        </p:spPr>
        <p:txBody>
          <a:bodyPr wrap="square" lIns="0" tIns="0" rIns="0" bIns="0" rtlCol="0" anchor="ctr"/>
          <a:lstStyle/>
          <a:p>
            <a:pPr indent="0" marL="0">
              <a:lnSpc>
                <a:spcPts val="1700"/>
              </a:lnSpc>
              <a:buNone/>
            </a:pPr>
            <a:r>
              <a:rPr lang="en-US" sz="1350" b="1" dirty="0">
                <a:solidFill>
                  <a:srgbClr val="331E11"/>
                </a:solidFill>
                <a:latin typeface="Arial" pitchFamily="34" charset="0"/>
                <a:ea typeface="Arial" pitchFamily="34" charset="-122"/>
                <a:cs typeface="Arial" pitchFamily="34" charset="-120"/>
              </a:rPr>
              <a:t>You saved almost nothing.</a:t>
            </a:r>
            <a:endParaRPr lang="en-US" sz="1350" dirty="0"/>
          </a:p>
        </p:txBody>
      </p:sp>
      <p:sp>
        <p:nvSpPr>
          <p:cNvPr id="14" name="Text 12"/>
          <p:cNvSpPr/>
          <p:nvPr/>
        </p:nvSpPr>
        <p:spPr>
          <a:xfrm>
            <a:off x="8366760" y="3602736"/>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The second call receives everything the first one had, plus the reasoning trace.</a:t>
            </a:r>
            <a:endParaRPr lang="en-US" sz="1150" dirty="0"/>
          </a:p>
        </p:txBody>
      </p:sp>
      <p:sp>
        <p:nvSpPr>
          <p:cNvPr id="15" name="Shape 13"/>
          <p:cNvSpPr/>
          <p:nvPr/>
        </p:nvSpPr>
        <p:spPr>
          <a:xfrm>
            <a:off x="7818120" y="4334256"/>
            <a:ext cx="384048" cy="384048"/>
          </a:xfrm>
          <a:prstGeom prst="ellipse">
            <a:avLst/>
          </a:prstGeom>
          <a:solidFill>
            <a:srgbClr val="331E11"/>
          </a:solidFill>
          <a:ln/>
        </p:spPr>
      </p:sp>
      <p:sp>
        <p:nvSpPr>
          <p:cNvPr id="16" name="Text 14"/>
          <p:cNvSpPr/>
          <p:nvPr/>
        </p:nvSpPr>
        <p:spPr>
          <a:xfrm>
            <a:off x="7818120" y="4334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8366760" y="4297680"/>
            <a:ext cx="3200400" cy="502920"/>
          </a:xfrm>
          <a:prstGeom prst="rect">
            <a:avLst/>
          </a:prstGeom>
          <a:noFill/>
          <a:ln/>
        </p:spPr>
        <p:txBody>
          <a:bodyPr wrap="square" lIns="0" tIns="0" rIns="0" bIns="0" rtlCol="0" anchor="ctr"/>
          <a:lstStyle/>
          <a:p>
            <a:pPr indent="0" marL="0">
              <a:lnSpc>
                <a:spcPts val="1700"/>
              </a:lnSpc>
              <a:buNone/>
            </a:pPr>
            <a:r>
              <a:rPr lang="en-US" sz="1350" b="1" dirty="0">
                <a:solidFill>
                  <a:srgbClr val="331E11"/>
                </a:solidFill>
                <a:latin typeface="Arial" pitchFamily="34" charset="0"/>
                <a:ea typeface="Arial" pitchFamily="34" charset="-122"/>
                <a:cs typeface="Arial" pitchFamily="34" charset="-120"/>
              </a:rPr>
              <a:t>The last line is the worst one.</a:t>
            </a:r>
            <a:endParaRPr lang="en-US" sz="1350" dirty="0"/>
          </a:p>
        </p:txBody>
      </p:sp>
      <p:sp>
        <p:nvSpPr>
          <p:cNvPr id="18" name="Text 16"/>
          <p:cNvSpPr/>
          <p:nvPr/>
        </p:nvSpPr>
        <p:spPr>
          <a:xfrm>
            <a:off x="8366760" y="4809744"/>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An unbounded history grows with every turn and is never truncated.</a:t>
            </a:r>
            <a:endParaRPr lang="en-US" sz="1150" dirty="0"/>
          </a:p>
        </p:txBody>
      </p:sp>
      <p:sp>
        <p:nvSpPr>
          <p:cNvPr id="19" name="Shape 17"/>
          <p:cNvSpPr/>
          <p:nvPr/>
        </p:nvSpPr>
        <p:spPr>
          <a:xfrm>
            <a:off x="7818120" y="5623560"/>
            <a:ext cx="3730752" cy="621792"/>
          </a:xfrm>
          <a:prstGeom prst="roundRect">
            <a:avLst>
              <a:gd name="adj" fmla="val 20588"/>
            </a:avLst>
          </a:prstGeom>
          <a:solidFill>
            <a:srgbClr val="331E11"/>
          </a:solidFill>
          <a:ln/>
        </p:spPr>
      </p:sp>
      <p:sp>
        <p:nvSpPr>
          <p:cNvPr id="20" name="Text 18"/>
          <p:cNvSpPr/>
          <p:nvPr/>
        </p:nvSpPr>
        <p:spPr>
          <a:xfrm>
            <a:off x="8001000" y="5623560"/>
            <a:ext cx="3364992" cy="621792"/>
          </a:xfrm>
          <a:prstGeom prst="rect">
            <a:avLst/>
          </a:prstGeom>
          <a:noFill/>
          <a:ln/>
        </p:spPr>
        <p:txBody>
          <a:bodyPr wrap="square" lIns="0" tIns="0" rIns="0" bIns="0" rtlCol="0" anchor="ctr"/>
          <a:lstStyle/>
          <a:p>
            <a:pPr indent="0" marL="0">
              <a:lnSpc>
                <a:spcPts val="1600"/>
              </a:lnSpc>
              <a:buNone/>
            </a:pPr>
            <a:r>
              <a:rPr lang="en-US" sz="1250" b="1" dirty="0">
                <a:solidFill>
                  <a:srgbClr val="FAF9F7"/>
                </a:solidFill>
                <a:latin typeface="Arial" pitchFamily="34" charset="0"/>
                <a:ea typeface="Arial" pitchFamily="34" charset="-122"/>
                <a:cs typeface="Arial" pitchFamily="34" charset="-120"/>
              </a:rPr>
              <a:t>Delegation without discipline is just two bills.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8E0D9"/>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18</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THE V4 PATTERN</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A typed decision payload</a:t>
            </a:r>
            <a:endParaRPr lang="en-US" sz="3600" dirty="0"/>
          </a:p>
        </p:txBody>
      </p:sp>
      <p:sp>
        <p:nvSpPr>
          <p:cNvPr id="5" name="Shape 3"/>
          <p:cNvSpPr/>
          <p:nvPr/>
        </p:nvSpPr>
        <p:spPr>
          <a:xfrm>
            <a:off x="640080" y="1783080"/>
            <a:ext cx="6949440" cy="4206240"/>
          </a:xfrm>
          <a:prstGeom prst="roundRect">
            <a:avLst>
              <a:gd name="adj" fmla="val 3043"/>
            </a:avLst>
          </a:prstGeom>
          <a:solidFill>
            <a:srgbClr val="331E11"/>
          </a:solidFill>
          <a:ln/>
        </p:spPr>
      </p:sp>
      <p:sp>
        <p:nvSpPr>
          <p:cNvPr id="6" name="Text 4"/>
          <p:cNvSpPr/>
          <p:nvPr/>
        </p:nvSpPr>
        <p:spPr>
          <a:xfrm>
            <a:off x="914400" y="1984248"/>
            <a:ext cx="6400800" cy="3803904"/>
          </a:xfrm>
          <a:prstGeom prst="rect">
            <a:avLst/>
          </a:prstGeom>
          <a:noFill/>
          <a:ln/>
        </p:spPr>
        <p:txBody>
          <a:bodyPr wrap="square" lIns="0" tIns="0" rIns="0" bIns="0" rtlCol="0" anchor="t"/>
          <a:lstStyle/>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"handoff_type": "typed_decision_payload",</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"case_id": "CASE-01",</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"customer_id": "NB-CUST-10041",</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"product_sku": "AX3",</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"product_name": "Aurora X3",</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"serial_number": "AX3-25A-00417",</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"purchase_date": "2025-03-10",</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"warranty_window_end_standard": "2027-03-10",</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"stated_symptom": "intermittent power loss, bike will not hold charge",</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"candidate_archetype": "symptom_cause_confusion",</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"applicable_policy_sections": ["warranty.md#section-5", "warranty.md#section-4"],</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"root_cause_flags": {</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"water_exposure_reported": false,</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"pressure_washed_near_battery": false</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  "recommended_model_tier": "tier_2"</a:t>
            </a:r>
            <a:endParaRPr lang="en-US" sz="900" dirty="0"/>
          </a:p>
          <a:p>
            <a:pPr indent="0" marL="0">
              <a:lnSpc>
                <a:spcPts val="1350"/>
              </a:lnSpc>
              <a:buNone/>
            </a:pPr>
            <a:r>
              <a:rPr lang="en-US" sz="900" dirty="0">
                <a:solidFill>
                  <a:srgbClr val="D6E3FF"/>
                </a:solidFill>
                <a:latin typeface="Courier New" pitchFamily="34" charset="0"/>
                <a:ea typeface="Courier New" pitchFamily="34" charset="-122"/>
                <a:cs typeface="Courier New" pitchFamily="34" charset="-120"/>
              </a:rPr>
              <a:t>}</a:t>
            </a:r>
            <a:endParaRPr lang="en-US" sz="900" dirty="0"/>
          </a:p>
        </p:txBody>
      </p:sp>
      <p:sp>
        <p:nvSpPr>
          <p:cNvPr id="7" name="Shape 5"/>
          <p:cNvSpPr/>
          <p:nvPr/>
        </p:nvSpPr>
        <p:spPr>
          <a:xfrm>
            <a:off x="7818120" y="1920240"/>
            <a:ext cx="384048" cy="384048"/>
          </a:xfrm>
          <a:prstGeom prst="ellipse">
            <a:avLst/>
          </a:prstGeom>
          <a:solidFill>
            <a:srgbClr val="0054F0"/>
          </a:solidFill>
          <a:ln/>
        </p:spPr>
      </p:sp>
      <p:sp>
        <p:nvSpPr>
          <p:cNvPr id="8" name="Text 6"/>
          <p:cNvSpPr/>
          <p:nvPr/>
        </p:nvSpPr>
        <p:spPr>
          <a:xfrm>
            <a:off x="7818120" y="1920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p:nvPr/>
        </p:nvSpPr>
        <p:spPr>
          <a:xfrm>
            <a:off x="8366760" y="1883664"/>
            <a:ext cx="3200400" cy="502920"/>
          </a:xfrm>
          <a:prstGeom prst="rect">
            <a:avLst/>
          </a:prstGeom>
          <a:noFill/>
          <a:ln/>
        </p:spPr>
        <p:txBody>
          <a:bodyPr wrap="square" lIns="0" tIns="0" rIns="0" bIns="0" rtlCol="0" anchor="ctr"/>
          <a:lstStyle/>
          <a:p>
            <a:pPr indent="0" marL="0">
              <a:lnSpc>
                <a:spcPts val="1700"/>
              </a:lnSpc>
              <a:buNone/>
            </a:pPr>
            <a:r>
              <a:rPr lang="en-US" sz="1350" b="1" dirty="0">
                <a:solidFill>
                  <a:srgbClr val="331E11"/>
                </a:solidFill>
                <a:latin typeface="Arial" pitchFamily="34" charset="0"/>
                <a:ea typeface="Arial" pitchFamily="34" charset="-122"/>
                <a:cs typeface="Arial" pitchFamily="34" charset="-120"/>
              </a:rPr>
              <a:t>Facts, not documents.</a:t>
            </a:r>
            <a:endParaRPr lang="en-US" sz="1350" dirty="0"/>
          </a:p>
        </p:txBody>
      </p:sp>
      <p:sp>
        <p:nvSpPr>
          <p:cNvPr id="10" name="Text 8"/>
          <p:cNvSpPr/>
          <p:nvPr/>
        </p:nvSpPr>
        <p:spPr>
          <a:xfrm>
            <a:off x="8366760" y="2395728"/>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Section pointers replace section text. The resolver fetches only if it must.</a:t>
            </a:r>
            <a:endParaRPr lang="en-US" sz="1150" dirty="0"/>
          </a:p>
        </p:txBody>
      </p:sp>
      <p:sp>
        <p:nvSpPr>
          <p:cNvPr id="11" name="Shape 9"/>
          <p:cNvSpPr/>
          <p:nvPr/>
        </p:nvSpPr>
        <p:spPr>
          <a:xfrm>
            <a:off x="7818120" y="3127248"/>
            <a:ext cx="384048" cy="384048"/>
          </a:xfrm>
          <a:prstGeom prst="ellipse">
            <a:avLst/>
          </a:prstGeom>
          <a:solidFill>
            <a:srgbClr val="0054F0"/>
          </a:solidFill>
          <a:ln/>
        </p:spPr>
      </p:sp>
      <p:sp>
        <p:nvSpPr>
          <p:cNvPr id="12" name="Text 10"/>
          <p:cNvSpPr/>
          <p:nvPr/>
        </p:nvSpPr>
        <p:spPr>
          <a:xfrm>
            <a:off x="7818120" y="31272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8366760" y="3090672"/>
            <a:ext cx="3200400" cy="502920"/>
          </a:xfrm>
          <a:prstGeom prst="rect">
            <a:avLst/>
          </a:prstGeom>
          <a:noFill/>
          <a:ln/>
        </p:spPr>
        <p:txBody>
          <a:bodyPr wrap="square" lIns="0" tIns="0" rIns="0" bIns="0" rtlCol="0" anchor="ctr"/>
          <a:lstStyle/>
          <a:p>
            <a:pPr indent="0" marL="0">
              <a:lnSpc>
                <a:spcPts val="1700"/>
              </a:lnSpc>
              <a:buNone/>
            </a:pPr>
            <a:r>
              <a:rPr lang="en-US" sz="1350" b="1" dirty="0">
                <a:solidFill>
                  <a:srgbClr val="331E11"/>
                </a:solidFill>
                <a:latin typeface="Arial" pitchFamily="34" charset="0"/>
                <a:ea typeface="Arial" pitchFamily="34" charset="-122"/>
                <a:cs typeface="Arial" pitchFamily="34" charset="-120"/>
              </a:rPr>
              <a:t>The triage did the thinking.</a:t>
            </a:r>
            <a:endParaRPr lang="en-US" sz="1350" dirty="0"/>
          </a:p>
        </p:txBody>
      </p:sp>
      <p:sp>
        <p:nvSpPr>
          <p:cNvPr id="14" name="Text 12"/>
          <p:cNvSpPr/>
          <p:nvPr/>
        </p:nvSpPr>
        <p:spPr>
          <a:xfrm>
            <a:off x="8366760" y="3602736"/>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Archetype guess and root-cause flags are decisions, already made and passed forward.</a:t>
            </a:r>
            <a:endParaRPr lang="en-US" sz="1150" dirty="0"/>
          </a:p>
        </p:txBody>
      </p:sp>
      <p:sp>
        <p:nvSpPr>
          <p:cNvPr id="15" name="Shape 13"/>
          <p:cNvSpPr/>
          <p:nvPr/>
        </p:nvSpPr>
        <p:spPr>
          <a:xfrm>
            <a:off x="7818120" y="4334256"/>
            <a:ext cx="384048" cy="384048"/>
          </a:xfrm>
          <a:prstGeom prst="ellipse">
            <a:avLst/>
          </a:prstGeom>
          <a:solidFill>
            <a:srgbClr val="0054F0"/>
          </a:solidFill>
          <a:ln/>
        </p:spPr>
      </p:sp>
      <p:sp>
        <p:nvSpPr>
          <p:cNvPr id="16" name="Text 14"/>
          <p:cNvSpPr/>
          <p:nvPr/>
        </p:nvSpPr>
        <p:spPr>
          <a:xfrm>
            <a:off x="7818120" y="4334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8366760" y="4297680"/>
            <a:ext cx="3200400" cy="502920"/>
          </a:xfrm>
          <a:prstGeom prst="rect">
            <a:avLst/>
          </a:prstGeom>
          <a:noFill/>
          <a:ln/>
        </p:spPr>
        <p:txBody>
          <a:bodyPr wrap="square" lIns="0" tIns="0" rIns="0" bIns="0" rtlCol="0" anchor="ctr"/>
          <a:lstStyle/>
          <a:p>
            <a:pPr indent="0" marL="0">
              <a:lnSpc>
                <a:spcPts val="1700"/>
              </a:lnSpc>
              <a:buNone/>
            </a:pPr>
            <a:r>
              <a:rPr lang="en-US" sz="1350" b="1" dirty="0">
                <a:solidFill>
                  <a:srgbClr val="331E11"/>
                </a:solidFill>
                <a:latin typeface="Arial" pitchFamily="34" charset="0"/>
                <a:ea typeface="Arial" pitchFamily="34" charset="-122"/>
                <a:cs typeface="Arial" pitchFamily="34" charset="-120"/>
              </a:rPr>
              <a:t>It carries its own routing hint.</a:t>
            </a:r>
            <a:endParaRPr lang="en-US" sz="1350" dirty="0"/>
          </a:p>
        </p:txBody>
      </p:sp>
      <p:sp>
        <p:nvSpPr>
          <p:cNvPr id="18" name="Text 16"/>
          <p:cNvSpPr/>
          <p:nvPr/>
        </p:nvSpPr>
        <p:spPr>
          <a:xfrm>
            <a:off x="8366760" y="4809744"/>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recommended_model_tier lets the resolver be chosen, not assumed.</a:t>
            </a:r>
            <a:endParaRPr lang="en-US" sz="1150" dirty="0"/>
          </a:p>
        </p:txBody>
      </p:sp>
      <p:sp>
        <p:nvSpPr>
          <p:cNvPr id="19" name="Shape 17"/>
          <p:cNvSpPr/>
          <p:nvPr/>
        </p:nvSpPr>
        <p:spPr>
          <a:xfrm>
            <a:off x="7818120" y="5623560"/>
            <a:ext cx="3730752" cy="621792"/>
          </a:xfrm>
          <a:prstGeom prst="roundRect">
            <a:avLst>
              <a:gd name="adj" fmla="val 20588"/>
            </a:avLst>
          </a:prstGeom>
          <a:solidFill>
            <a:srgbClr val="0054F0"/>
          </a:solidFill>
          <a:ln/>
        </p:spPr>
      </p:sp>
      <p:sp>
        <p:nvSpPr>
          <p:cNvPr id="20" name="Text 18"/>
          <p:cNvSpPr/>
          <p:nvPr/>
        </p:nvSpPr>
        <p:spPr>
          <a:xfrm>
            <a:off x="8001000" y="5623560"/>
            <a:ext cx="3364992" cy="621792"/>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Arial" pitchFamily="34" charset="0"/>
                <a:ea typeface="Arial" pitchFamily="34" charset="-122"/>
                <a:cs typeface="Arial" pitchFamily="34" charset="-120"/>
              </a:rPr>
              <a:t>Roughly fifteen fields replace eleven documents.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31E11"/>
        </a:solidFill>
      </p:bgPr>
    </p:bg>
    <p:spTree>
      <p:nvGrpSpPr>
        <p:cNvPr id="1" name=""/>
        <p:cNvGrpSpPr/>
        <p:nvPr/>
      </p:nvGrpSpPr>
      <p:grpSpPr>
        <a:xfrm>
          <a:off x="0" y="0"/>
          <a:ext cx="0" cy="0"/>
          <a:chOff x="0" y="0"/>
          <a:chExt cx="0" cy="0"/>
        </a:xfrm>
      </p:grpSpPr>
      <p:pic>
        <p:nvPicPr>
          <p:cNvPr id="2" name="Image 0" descr="/home/claude/assets/contours.png">    </p:cNvPr>
          <p:cNvPicPr>
            <a:picLocks noChangeAspect="1"/>
          </p:cNvPicPr>
          <p:nvPr/>
        </p:nvPicPr>
        <p:blipFill>
          <a:blip r:embed="rId1">
            <a:alphaModFix amt="38000"/>
          </a:blip>
          <a:stretch>
            <a:fillRect/>
          </a:stretch>
        </p:blipFill>
        <p:spPr>
          <a:xfrm>
            <a:off x="0" y="1828800"/>
            <a:ext cx="12191695" cy="5029200"/>
          </a:xfrm>
          <a:prstGeom prst="rect">
            <a:avLst/>
          </a:prstGeom>
        </p:spPr>
      </p:pic>
      <p:sp>
        <p:nvSpPr>
          <p:cNvPr id="3" name="Shape 0"/>
          <p:cNvSpPr/>
          <p:nvPr/>
        </p:nvSpPr>
        <p:spPr>
          <a:xfrm>
            <a:off x="640080" y="457200"/>
            <a:ext cx="1572768" cy="384048"/>
          </a:xfrm>
          <a:prstGeom prst="roundRect">
            <a:avLst>
              <a:gd name="adj" fmla="val 50000"/>
            </a:avLst>
          </a:prstGeom>
          <a:solidFill>
            <a:srgbClr val="0054F0"/>
          </a:solidFill>
          <a:ln/>
        </p:spPr>
      </p:sp>
      <p:sp>
        <p:nvSpPr>
          <p:cNvPr id="4" name="Text 1"/>
          <p:cNvSpPr/>
          <p:nvPr/>
        </p:nvSpPr>
        <p:spPr>
          <a:xfrm>
            <a:off x="640080" y="457200"/>
            <a:ext cx="1572768" cy="384048"/>
          </a:xfrm>
          <a:prstGeom prst="rect">
            <a:avLst/>
          </a:prstGeom>
          <a:noFill/>
          <a:ln/>
        </p:spPr>
        <p:txBody>
          <a:bodyPr wrap="square" lIns="0" tIns="0" rIns="0" bIns="0" rtlCol="0" anchor="ctr"/>
          <a:lstStyle/>
          <a:p>
            <a:pPr algn="ctr" indent="0" marL="0">
              <a:buNone/>
            </a:pPr>
            <a:r>
              <a:rPr lang="en-US" sz="1200" b="1" spc="140" kern="0" dirty="0">
                <a:solidFill>
                  <a:srgbClr val="FFFFFF"/>
                </a:solidFill>
                <a:latin typeface="Arial" pitchFamily="34" charset="0"/>
                <a:ea typeface="Arial" pitchFamily="34" charset="-122"/>
                <a:cs typeface="Arial" pitchFamily="34" charset="-120"/>
              </a:rPr>
              <a:t>PHASE 4</a:t>
            </a:r>
            <a:endParaRPr lang="en-US" sz="1200" dirty="0"/>
          </a:p>
        </p:txBody>
      </p:sp>
      <p:sp>
        <p:nvSpPr>
          <p:cNvPr id="5" name="Text 2"/>
          <p:cNvSpPr/>
          <p:nvPr/>
        </p:nvSpPr>
        <p:spPr>
          <a:xfrm>
            <a:off x="2395728" y="457200"/>
            <a:ext cx="2743200" cy="384048"/>
          </a:xfrm>
          <a:prstGeom prst="rect">
            <a:avLst/>
          </a:prstGeom>
          <a:noFill/>
          <a:ln/>
        </p:spPr>
        <p:txBody>
          <a:bodyPr wrap="square" lIns="0" tIns="0" rIns="0" bIns="0" rtlCol="0" anchor="ctr"/>
          <a:lstStyle/>
          <a:p>
            <a:pPr indent="0" marL="0">
              <a:buNone/>
            </a:pPr>
            <a:r>
              <a:rPr lang="en-US" sz="1200" b="1" dirty="0">
                <a:solidFill>
                  <a:srgbClr val="E8E0D9"/>
                </a:solidFill>
                <a:latin typeface="Arial" pitchFamily="34" charset="0"/>
                <a:ea typeface="Arial" pitchFamily="34" charset="-122"/>
                <a:cs typeface="Arial" pitchFamily="34" charset="-120"/>
              </a:rPr>
              <a:t>30 min</a:t>
            </a:r>
            <a:endParaRPr lang="en-US" sz="1200" dirty="0"/>
          </a:p>
        </p:txBody>
      </p:sp>
      <p:sp>
        <p:nvSpPr>
          <p:cNvPr id="6" name="Text 3"/>
          <p:cNvSpPr/>
          <p:nvPr/>
        </p:nvSpPr>
        <p:spPr>
          <a:xfrm>
            <a:off x="6522415" y="457200"/>
            <a:ext cx="5029200" cy="384048"/>
          </a:xfrm>
          <a:prstGeom prst="rect">
            <a:avLst/>
          </a:prstGeom>
          <a:noFill/>
          <a:ln/>
        </p:spPr>
        <p:txBody>
          <a:bodyPr wrap="square" lIns="0" tIns="0" rIns="0" bIns="0" rtlCol="0" anchor="ctr"/>
          <a:lstStyle/>
          <a:p>
            <a:pPr algn="r" indent="0" marL="0">
              <a:buNone/>
            </a:pPr>
            <a:r>
              <a:rPr lang="en-US" sz="1100" b="1" spc="180" kern="0" dirty="0">
                <a:solidFill>
                  <a:srgbClr val="D6E3FF"/>
                </a:solidFill>
                <a:latin typeface="Arial" pitchFamily="34" charset="0"/>
                <a:ea typeface="Arial" pitchFamily="34" charset="-122"/>
                <a:cs typeface="Arial" pitchFamily="34" charset="-120"/>
              </a:rPr>
              <a:t>EXERCISES 4–5 · ROUTING &amp; GATE</a:t>
            </a:r>
            <a:endParaRPr lang="en-US" sz="1100" dirty="0"/>
          </a:p>
        </p:txBody>
      </p:sp>
      <p:sp>
        <p:nvSpPr>
          <p:cNvPr id="7" name="Text 4"/>
          <p:cNvSpPr/>
          <p:nvPr/>
        </p:nvSpPr>
        <p:spPr>
          <a:xfrm>
            <a:off x="640080" y="987552"/>
            <a:ext cx="10881360" cy="685800"/>
          </a:xfrm>
          <a:prstGeom prst="rect">
            <a:avLst/>
          </a:prstGeom>
          <a:noFill/>
          <a:ln/>
        </p:spPr>
        <p:txBody>
          <a:bodyPr wrap="square" lIns="0" tIns="0" rIns="0" bIns="0" rtlCol="0" anchor="t"/>
          <a:lstStyle/>
          <a:p>
            <a:pPr indent="0" marL="0">
              <a:buNone/>
            </a:pPr>
            <a:r>
              <a:rPr lang="en-US" sz="3300" b="1" dirty="0">
                <a:solidFill>
                  <a:srgbClr val="FAF9F7"/>
                </a:solidFill>
                <a:latin typeface="Arial" pitchFamily="34" charset="0"/>
                <a:ea typeface="Arial" pitchFamily="34" charset="-122"/>
                <a:cs typeface="Arial" pitchFamily="34" charset="-120"/>
              </a:rPr>
              <a:t>Model routing and the quality gate</a:t>
            </a:r>
            <a:endParaRPr lang="en-US" sz="3300" dirty="0"/>
          </a:p>
        </p:txBody>
      </p:sp>
      <p:sp>
        <p:nvSpPr>
          <p:cNvPr id="8" name="Text 5"/>
          <p:cNvSpPr/>
          <p:nvPr/>
        </p:nvSpPr>
        <p:spPr>
          <a:xfrm>
            <a:off x="640080" y="1828800"/>
            <a:ext cx="5623560"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WHAT HAPPENS</a:t>
            </a:r>
            <a:endParaRPr lang="en-US" sz="1000" dirty="0"/>
          </a:p>
        </p:txBody>
      </p:sp>
      <p:sp>
        <p:nvSpPr>
          <p:cNvPr id="9" name="Shape 6"/>
          <p:cNvSpPr/>
          <p:nvPr/>
        </p:nvSpPr>
        <p:spPr>
          <a:xfrm>
            <a:off x="640080" y="2231136"/>
            <a:ext cx="329184" cy="329184"/>
          </a:xfrm>
          <a:prstGeom prst="ellipse">
            <a:avLst/>
          </a:prstGeom>
          <a:solidFill>
            <a:srgbClr val="5C4536"/>
          </a:solidFill>
          <a:ln/>
        </p:spPr>
      </p:sp>
      <p:sp>
        <p:nvSpPr>
          <p:cNvPr id="10" name="Text 7"/>
          <p:cNvSpPr/>
          <p:nvPr/>
        </p:nvSpPr>
        <p:spPr>
          <a:xfrm>
            <a:off x="640080" y="223113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1</a:t>
            </a:r>
            <a:endParaRPr lang="en-US" sz="1200" dirty="0"/>
          </a:p>
        </p:txBody>
      </p:sp>
      <p:sp>
        <p:nvSpPr>
          <p:cNvPr id="11" name="Text 8"/>
          <p:cNvSpPr/>
          <p:nvPr/>
        </p:nvSpPr>
        <p:spPr>
          <a:xfrm>
            <a:off x="1133856" y="2194560"/>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Build V4: minimal typed payload plus tier routing. Target ≤ 3,800 tokens.</a:t>
            </a:r>
            <a:endParaRPr lang="en-US" sz="1250" dirty="0"/>
          </a:p>
        </p:txBody>
      </p:sp>
      <p:sp>
        <p:nvSpPr>
          <p:cNvPr id="12" name="Shape 9"/>
          <p:cNvSpPr/>
          <p:nvPr/>
        </p:nvSpPr>
        <p:spPr>
          <a:xfrm>
            <a:off x="640080" y="2962656"/>
            <a:ext cx="329184" cy="329184"/>
          </a:xfrm>
          <a:prstGeom prst="ellipse">
            <a:avLst/>
          </a:prstGeom>
          <a:solidFill>
            <a:srgbClr val="5C4536"/>
          </a:solidFill>
          <a:ln/>
        </p:spPr>
      </p:sp>
      <p:sp>
        <p:nvSpPr>
          <p:cNvPr id="13" name="Text 10"/>
          <p:cNvSpPr/>
          <p:nvPr/>
        </p:nvSpPr>
        <p:spPr>
          <a:xfrm>
            <a:off x="640080" y="296265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2</a:t>
            </a:r>
            <a:endParaRPr lang="en-US" sz="1200" dirty="0"/>
          </a:p>
        </p:txBody>
      </p:sp>
      <p:sp>
        <p:nvSpPr>
          <p:cNvPr id="14" name="Text 11"/>
          <p:cNvSpPr/>
          <p:nvPr/>
        </p:nvSpPr>
        <p:spPr>
          <a:xfrm>
            <a:off x="1133856" y="2926080"/>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Triage on Tier 1, resolve on Tier 2. Escalation-flagged cases skip the resolver entirely.</a:t>
            </a:r>
            <a:endParaRPr lang="en-US" sz="1250" dirty="0"/>
          </a:p>
        </p:txBody>
      </p:sp>
      <p:sp>
        <p:nvSpPr>
          <p:cNvPr id="15" name="Shape 12"/>
          <p:cNvSpPr/>
          <p:nvPr/>
        </p:nvSpPr>
        <p:spPr>
          <a:xfrm>
            <a:off x="640080" y="3694176"/>
            <a:ext cx="329184" cy="329184"/>
          </a:xfrm>
          <a:prstGeom prst="ellipse">
            <a:avLst/>
          </a:prstGeom>
          <a:solidFill>
            <a:srgbClr val="5C4536"/>
          </a:solidFill>
          <a:ln/>
        </p:spPr>
      </p:sp>
      <p:sp>
        <p:nvSpPr>
          <p:cNvPr id="16" name="Text 13"/>
          <p:cNvSpPr/>
          <p:nvPr/>
        </p:nvSpPr>
        <p:spPr>
          <a:xfrm>
            <a:off x="640080" y="369417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3</a:t>
            </a:r>
            <a:endParaRPr lang="en-US" sz="1200" dirty="0"/>
          </a:p>
        </p:txBody>
      </p:sp>
      <p:sp>
        <p:nvSpPr>
          <p:cNvPr id="17" name="Text 14"/>
          <p:cNvSpPr/>
          <p:nvPr/>
        </p:nvSpPr>
        <p:spPr>
          <a:xfrm>
            <a:off x="1133856" y="3657600"/>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Run the six-item quality gate across all ten cases, not just Case 1.</a:t>
            </a:r>
            <a:endParaRPr lang="en-US" sz="1250" dirty="0"/>
          </a:p>
        </p:txBody>
      </p:sp>
      <p:sp>
        <p:nvSpPr>
          <p:cNvPr id="18" name="Shape 15"/>
          <p:cNvSpPr/>
          <p:nvPr/>
        </p:nvSpPr>
        <p:spPr>
          <a:xfrm>
            <a:off x="640080" y="4425696"/>
            <a:ext cx="329184" cy="329184"/>
          </a:xfrm>
          <a:prstGeom prst="ellipse">
            <a:avLst/>
          </a:prstGeom>
          <a:solidFill>
            <a:srgbClr val="5C4536"/>
          </a:solidFill>
          <a:ln/>
        </p:spPr>
      </p:sp>
      <p:sp>
        <p:nvSpPr>
          <p:cNvPr id="19" name="Text 16"/>
          <p:cNvSpPr/>
          <p:nvPr/>
        </p:nvSpPr>
        <p:spPr>
          <a:xfrm>
            <a:off x="640080" y="442569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4</a:t>
            </a:r>
            <a:endParaRPr lang="en-US" sz="1200" dirty="0"/>
          </a:p>
        </p:txBody>
      </p:sp>
      <p:sp>
        <p:nvSpPr>
          <p:cNvPr id="20" name="Text 17"/>
          <p:cNvSpPr/>
          <p:nvPr/>
        </p:nvSpPr>
        <p:spPr>
          <a:xfrm>
            <a:off x="1133856" y="4389120"/>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Fix what the gate catches. Expect it to catch something.</a:t>
            </a:r>
            <a:endParaRPr lang="en-US" sz="1250" dirty="0"/>
          </a:p>
        </p:txBody>
      </p:sp>
      <p:sp>
        <p:nvSpPr>
          <p:cNvPr id="21" name="Text 18"/>
          <p:cNvSpPr/>
          <p:nvPr/>
        </p:nvSpPr>
        <p:spPr>
          <a:xfrm>
            <a:off x="6537960" y="1828800"/>
            <a:ext cx="5013655"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TARGETS</a:t>
            </a:r>
            <a:endParaRPr lang="en-US" sz="1000" dirty="0"/>
          </a:p>
        </p:txBody>
      </p:sp>
      <p:sp>
        <p:nvSpPr>
          <p:cNvPr id="22" name="Shape 19"/>
          <p:cNvSpPr/>
          <p:nvPr/>
        </p:nvSpPr>
        <p:spPr>
          <a:xfrm>
            <a:off x="6574536" y="2276856"/>
            <a:ext cx="118872" cy="118872"/>
          </a:xfrm>
          <a:prstGeom prst="ellipse">
            <a:avLst/>
          </a:prstGeom>
          <a:solidFill>
            <a:srgbClr val="0054F0"/>
          </a:solidFill>
          <a:ln/>
        </p:spPr>
      </p:sp>
      <p:sp>
        <p:nvSpPr>
          <p:cNvPr id="23" name="Text 20"/>
          <p:cNvSpPr/>
          <p:nvPr/>
        </p:nvSpPr>
        <p:spPr>
          <a:xfrm>
            <a:off x="6848856" y="2194560"/>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V4 ≤ 3,800 tokens: 1,000 Tier 1 triage + 2,800 Tier 2 resolver.</a:t>
            </a:r>
            <a:endParaRPr lang="en-US" sz="1250" dirty="0"/>
          </a:p>
        </p:txBody>
      </p:sp>
      <p:sp>
        <p:nvSpPr>
          <p:cNvPr id="24" name="Shape 21"/>
          <p:cNvSpPr/>
          <p:nvPr/>
        </p:nvSpPr>
        <p:spPr>
          <a:xfrm>
            <a:off x="6574536" y="2953512"/>
            <a:ext cx="118872" cy="118872"/>
          </a:xfrm>
          <a:prstGeom prst="ellipse">
            <a:avLst/>
          </a:prstGeom>
          <a:solidFill>
            <a:srgbClr val="0054F0"/>
          </a:solidFill>
          <a:ln/>
        </p:spPr>
      </p:sp>
      <p:sp>
        <p:nvSpPr>
          <p:cNvPr id="25" name="Text 22"/>
          <p:cNvSpPr/>
          <p:nvPr/>
        </p:nvSpPr>
        <p:spPr>
          <a:xfrm>
            <a:off x="6848856" y="2871216"/>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One call, not two, for anything flagged for escalation.</a:t>
            </a:r>
            <a:endParaRPr lang="en-US" sz="1250" dirty="0"/>
          </a:p>
        </p:txBody>
      </p:sp>
      <p:sp>
        <p:nvSpPr>
          <p:cNvPr id="26" name="Shape 23"/>
          <p:cNvSpPr/>
          <p:nvPr/>
        </p:nvSpPr>
        <p:spPr>
          <a:xfrm>
            <a:off x="6574536" y="3630168"/>
            <a:ext cx="118872" cy="118872"/>
          </a:xfrm>
          <a:prstGeom prst="ellipse">
            <a:avLst/>
          </a:prstGeom>
          <a:solidFill>
            <a:srgbClr val="0054F0"/>
          </a:solidFill>
          <a:ln/>
        </p:spPr>
      </p:sp>
      <p:sp>
        <p:nvSpPr>
          <p:cNvPr id="27" name="Text 24"/>
          <p:cNvSpPr/>
          <p:nvPr/>
        </p:nvSpPr>
        <p:spPr>
          <a:xfrm>
            <a:off x="6848856" y="3547872"/>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All six gate items passing on as many of the ten cases as you can manage.</a:t>
            </a:r>
            <a:endParaRPr lang="en-US" sz="1250" dirty="0"/>
          </a:p>
        </p:txBody>
      </p:sp>
      <p:sp>
        <p:nvSpPr>
          <p:cNvPr id="28" name="Shape 25"/>
          <p:cNvSpPr/>
          <p:nvPr/>
        </p:nvSpPr>
        <p:spPr>
          <a:xfrm>
            <a:off x="6537960" y="4709160"/>
            <a:ext cx="5013655" cy="960120"/>
          </a:xfrm>
          <a:prstGeom prst="roundRect">
            <a:avLst>
              <a:gd name="adj" fmla="val 11429"/>
            </a:avLst>
          </a:prstGeom>
          <a:solidFill>
            <a:srgbClr val="0054F0"/>
          </a:solidFill>
          <a:ln/>
        </p:spPr>
      </p:sp>
      <p:sp>
        <p:nvSpPr>
          <p:cNvPr id="29" name="Text 26"/>
          <p:cNvSpPr/>
          <p:nvPr/>
        </p:nvSpPr>
        <p:spPr>
          <a:xfrm>
            <a:off x="6812280" y="4709160"/>
            <a:ext cx="4465015" cy="960120"/>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Arial" pitchFamily="34" charset="0"/>
                <a:ea typeface="Arial" pitchFamily="34" charset="-122"/>
                <a:cs typeface="Arial" pitchFamily="34" charset="-120"/>
              </a:rPr>
              <a:t>This is where teams discover their cheap agent quietly broke two of the adversarial cases.</a:t>
            </a:r>
            <a:endParaRPr lang="en-US" sz="1350" dirty="0"/>
          </a:p>
        </p:txBody>
      </p:sp>
      <p:sp>
        <p:nvSpPr>
          <p:cNvPr id="30" name="Text 27"/>
          <p:cNvSpPr/>
          <p:nvPr/>
        </p:nvSpPr>
        <p:spPr>
          <a:xfrm>
            <a:off x="6537960" y="5779008"/>
            <a:ext cx="5013655" cy="548640"/>
          </a:xfrm>
          <a:prstGeom prst="rect">
            <a:avLst/>
          </a:prstGeom>
          <a:noFill/>
          <a:ln/>
        </p:spPr>
        <p:txBody>
          <a:bodyPr wrap="square" lIns="0" tIns="0" rIns="0" bIns="0" rtlCol="0" anchor="t"/>
          <a:lstStyle/>
          <a:p>
            <a:pPr indent="0" marL="0">
              <a:lnSpc>
                <a:spcPts val="1400"/>
              </a:lnSpc>
              <a:buNone/>
            </a:pPr>
            <a:r>
              <a:rPr lang="en-US" sz="1050" i="1" dirty="0">
                <a:solidFill>
                  <a:srgbClr val="9E8B7C"/>
                </a:solidFill>
                <a:latin typeface="Arial" pitchFamily="34" charset="0"/>
                <a:ea typeface="Arial" pitchFamily="34" charset="-122"/>
                <a:cs typeface="Arial" pitchFamily="34" charset="-120"/>
              </a:rPr>
              <a:t>Quality is 70% of the score. A team polishing token counts while a gate item fails is losing points, not gaining them.</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20</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WHERE THE REAL SAVING IS</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Routing: one token, twelve times the price</a:t>
            </a:r>
            <a:endParaRPr lang="en-US" sz="3600" dirty="0"/>
          </a:p>
        </p:txBody>
      </p:sp>
      <p:pic>
        <p:nvPicPr>
          <p:cNvPr id="5" name="Image 0" descr="/home/claude/assets/tiers.png">    </p:cNvPr>
          <p:cNvPicPr>
            <a:picLocks noChangeAspect="1"/>
          </p:cNvPicPr>
          <p:nvPr/>
        </p:nvPicPr>
        <p:blipFill>
          <a:blip r:embed="rId1"/>
          <a:stretch>
            <a:fillRect/>
          </a:stretch>
        </p:blipFill>
        <p:spPr>
          <a:xfrm>
            <a:off x="640080" y="1920240"/>
            <a:ext cx="5852160" cy="3108960"/>
          </a:xfrm>
          <a:prstGeom prst="rect">
            <a:avLst/>
          </a:prstGeom>
        </p:spPr>
      </p:pic>
      <p:sp>
        <p:nvSpPr>
          <p:cNvPr id="6" name="Shape 3"/>
          <p:cNvSpPr/>
          <p:nvPr/>
        </p:nvSpPr>
        <p:spPr>
          <a:xfrm>
            <a:off x="6720840" y="1920240"/>
            <a:ext cx="4828032" cy="1115568"/>
          </a:xfrm>
          <a:prstGeom prst="roundRect">
            <a:avLst>
              <a:gd name="adj" fmla="val 11475"/>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7" name="Shape 4"/>
          <p:cNvSpPr/>
          <p:nvPr/>
        </p:nvSpPr>
        <p:spPr>
          <a:xfrm>
            <a:off x="6949440" y="2194560"/>
            <a:ext cx="548640" cy="548640"/>
          </a:xfrm>
          <a:prstGeom prst="ellipse">
            <a:avLst/>
          </a:prstGeom>
          <a:solidFill>
            <a:srgbClr val="0054F0"/>
          </a:solidFill>
          <a:ln/>
        </p:spPr>
      </p:sp>
      <p:pic>
        <p:nvPicPr>
          <p:cNvPr id="8" name="Image 1" descr="/home/claude/assets/ic_sliders_pampas.png">    </p:cNvPr>
          <p:cNvPicPr>
            <a:picLocks noChangeAspect="1"/>
          </p:cNvPicPr>
          <p:nvPr/>
        </p:nvPicPr>
        <p:blipFill>
          <a:blip r:embed="rId2"/>
          <a:stretch>
            <a:fillRect/>
          </a:stretch>
        </p:blipFill>
        <p:spPr>
          <a:xfrm>
            <a:off x="7092086" y="2337206"/>
            <a:ext cx="263347" cy="263347"/>
          </a:xfrm>
          <a:prstGeom prst="rect">
            <a:avLst/>
          </a:prstGeom>
        </p:spPr>
      </p:pic>
      <p:sp>
        <p:nvSpPr>
          <p:cNvPr id="9" name="Text 5"/>
          <p:cNvSpPr/>
          <p:nvPr/>
        </p:nvSpPr>
        <p:spPr>
          <a:xfrm>
            <a:off x="7635240" y="2057400"/>
            <a:ext cx="3749040" cy="310896"/>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Triage on Tier 1</a:t>
            </a:r>
            <a:endParaRPr lang="en-US" sz="1400" dirty="0"/>
          </a:p>
        </p:txBody>
      </p:sp>
      <p:sp>
        <p:nvSpPr>
          <p:cNvPr id="10" name="Text 6"/>
          <p:cNvSpPr/>
          <p:nvPr/>
        </p:nvSpPr>
        <p:spPr>
          <a:xfrm>
            <a:off x="7635240" y="2377440"/>
            <a:ext cx="3749040" cy="548640"/>
          </a:xfrm>
          <a:prstGeom prst="rect">
            <a:avLst/>
          </a:prstGeom>
          <a:noFill/>
          <a:ln/>
        </p:spPr>
        <p:txBody>
          <a:bodyPr wrap="square" lIns="0" tIns="0" rIns="0" bIns="0" rtlCol="0" anchor="ctr"/>
          <a:lstStyle/>
          <a:p>
            <a:pPr indent="0" marL="0">
              <a:lnSpc>
                <a:spcPts val="1300"/>
              </a:lnSpc>
              <a:buNone/>
            </a:pPr>
            <a:r>
              <a:rPr lang="en-US" sz="1050" dirty="0">
                <a:solidFill>
                  <a:srgbClr val="7A6B60"/>
                </a:solidFill>
                <a:latin typeface="Arial" pitchFamily="34" charset="0"/>
                <a:ea typeface="Arial" pitchFamily="34" charset="-122"/>
                <a:cs typeface="Arial" pitchFamily="34" charset="-120"/>
              </a:rPr>
              <a:t>Extracting fields and flagging an archetype does not need a frontier model.</a:t>
            </a:r>
            <a:endParaRPr lang="en-US" sz="1050" dirty="0"/>
          </a:p>
        </p:txBody>
      </p:sp>
      <p:sp>
        <p:nvSpPr>
          <p:cNvPr id="11" name="Shape 7"/>
          <p:cNvSpPr/>
          <p:nvPr/>
        </p:nvSpPr>
        <p:spPr>
          <a:xfrm>
            <a:off x="6720840" y="3200400"/>
            <a:ext cx="4828032" cy="1115568"/>
          </a:xfrm>
          <a:prstGeom prst="roundRect">
            <a:avLst>
              <a:gd name="adj" fmla="val 11475"/>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2" name="Shape 8"/>
          <p:cNvSpPr/>
          <p:nvPr/>
        </p:nvSpPr>
        <p:spPr>
          <a:xfrm>
            <a:off x="6949440" y="3474720"/>
            <a:ext cx="548640" cy="548640"/>
          </a:xfrm>
          <a:prstGeom prst="ellipse">
            <a:avLst/>
          </a:prstGeom>
          <a:solidFill>
            <a:srgbClr val="0054F0"/>
          </a:solidFill>
          <a:ln/>
        </p:spPr>
      </p:sp>
      <p:pic>
        <p:nvPicPr>
          <p:cNvPr id="13" name="Image 2" descr="/home/claude/assets/ic_cpu_pampas.png">    </p:cNvPr>
          <p:cNvPicPr>
            <a:picLocks noChangeAspect="1"/>
          </p:cNvPicPr>
          <p:nvPr/>
        </p:nvPicPr>
        <p:blipFill>
          <a:blip r:embed="rId3"/>
          <a:stretch>
            <a:fillRect/>
          </a:stretch>
        </p:blipFill>
        <p:spPr>
          <a:xfrm>
            <a:off x="7092086" y="3617366"/>
            <a:ext cx="263347" cy="263347"/>
          </a:xfrm>
          <a:prstGeom prst="rect">
            <a:avLst/>
          </a:prstGeom>
        </p:spPr>
      </p:pic>
      <p:sp>
        <p:nvSpPr>
          <p:cNvPr id="14" name="Text 9"/>
          <p:cNvSpPr/>
          <p:nvPr/>
        </p:nvSpPr>
        <p:spPr>
          <a:xfrm>
            <a:off x="7635240" y="3337560"/>
            <a:ext cx="3749040" cy="310896"/>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Resolve on Tier 2</a:t>
            </a:r>
            <a:endParaRPr lang="en-US" sz="1400" dirty="0"/>
          </a:p>
        </p:txBody>
      </p:sp>
      <p:sp>
        <p:nvSpPr>
          <p:cNvPr id="15" name="Text 10"/>
          <p:cNvSpPr/>
          <p:nvPr/>
        </p:nvSpPr>
        <p:spPr>
          <a:xfrm>
            <a:off x="7635240" y="3657600"/>
            <a:ext cx="3749040" cy="548640"/>
          </a:xfrm>
          <a:prstGeom prst="rect">
            <a:avLst/>
          </a:prstGeom>
          <a:noFill/>
          <a:ln/>
        </p:spPr>
        <p:txBody>
          <a:bodyPr wrap="square" lIns="0" tIns="0" rIns="0" bIns="0" rtlCol="0" anchor="ctr"/>
          <a:lstStyle/>
          <a:p>
            <a:pPr indent="0" marL="0">
              <a:lnSpc>
                <a:spcPts val="1300"/>
              </a:lnSpc>
              <a:buNone/>
            </a:pPr>
            <a:r>
              <a:rPr lang="en-US" sz="1050" dirty="0">
                <a:solidFill>
                  <a:srgbClr val="7A6B60"/>
                </a:solidFill>
                <a:latin typeface="Arial" pitchFamily="34" charset="0"/>
                <a:ea typeface="Arial" pitchFamily="34" charset="-122"/>
                <a:cs typeface="Arial" pitchFamily="34" charset="-120"/>
              </a:rPr>
              <a:t>The judgement call gets the balanced model — where it actually earns its cost.</a:t>
            </a:r>
            <a:endParaRPr lang="en-US" sz="1050" dirty="0"/>
          </a:p>
        </p:txBody>
      </p:sp>
      <p:sp>
        <p:nvSpPr>
          <p:cNvPr id="16" name="Shape 11"/>
          <p:cNvSpPr/>
          <p:nvPr/>
        </p:nvSpPr>
        <p:spPr>
          <a:xfrm>
            <a:off x="6720840" y="4480560"/>
            <a:ext cx="4828032" cy="1115568"/>
          </a:xfrm>
          <a:prstGeom prst="roundRect">
            <a:avLst>
              <a:gd name="adj" fmla="val 11475"/>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7" name="Shape 12"/>
          <p:cNvSpPr/>
          <p:nvPr/>
        </p:nvSpPr>
        <p:spPr>
          <a:xfrm>
            <a:off x="6949440" y="4754880"/>
            <a:ext cx="548640" cy="548640"/>
          </a:xfrm>
          <a:prstGeom prst="ellipse">
            <a:avLst/>
          </a:prstGeom>
          <a:solidFill>
            <a:srgbClr val="0054F0"/>
          </a:solidFill>
          <a:ln/>
        </p:spPr>
      </p:sp>
      <p:pic>
        <p:nvPicPr>
          <p:cNvPr id="18" name="Image 3" descr="/home/claude/assets/ic_flag_pampas.png">    </p:cNvPr>
          <p:cNvPicPr>
            <a:picLocks noChangeAspect="1"/>
          </p:cNvPicPr>
          <p:nvPr/>
        </p:nvPicPr>
        <p:blipFill>
          <a:blip r:embed="rId4"/>
          <a:stretch>
            <a:fillRect/>
          </a:stretch>
        </p:blipFill>
        <p:spPr>
          <a:xfrm>
            <a:off x="7092086" y="4897526"/>
            <a:ext cx="263347" cy="263347"/>
          </a:xfrm>
          <a:prstGeom prst="rect">
            <a:avLst/>
          </a:prstGeom>
        </p:spPr>
      </p:pic>
      <p:sp>
        <p:nvSpPr>
          <p:cNvPr id="19" name="Text 13"/>
          <p:cNvSpPr/>
          <p:nvPr/>
        </p:nvSpPr>
        <p:spPr>
          <a:xfrm>
            <a:off x="7635240" y="4617720"/>
            <a:ext cx="3749040" cy="310896"/>
          </a:xfrm>
          <a:prstGeom prst="rect">
            <a:avLst/>
          </a:prstGeom>
          <a:noFill/>
          <a:ln/>
        </p:spPr>
        <p:txBody>
          <a:bodyPr wrap="square" lIns="0" tIns="0" rIns="0" bIns="0" rtlCol="0" anchor="ctr"/>
          <a:lstStyle/>
          <a:p>
            <a:pPr indent="0" marL="0">
              <a:buNone/>
            </a:pPr>
            <a:r>
              <a:rPr lang="en-US" sz="1400" b="1" dirty="0">
                <a:solidFill>
                  <a:srgbClr val="331E11"/>
                </a:solidFill>
                <a:latin typeface="Arial" pitchFamily="34" charset="0"/>
                <a:ea typeface="Arial" pitchFamily="34" charset="-122"/>
                <a:cs typeface="Arial" pitchFamily="34" charset="-120"/>
              </a:rPr>
              <a:t>Escalations skip the resolver</a:t>
            </a:r>
            <a:endParaRPr lang="en-US" sz="1400" dirty="0"/>
          </a:p>
        </p:txBody>
      </p:sp>
      <p:sp>
        <p:nvSpPr>
          <p:cNvPr id="20" name="Text 14"/>
          <p:cNvSpPr/>
          <p:nvPr/>
        </p:nvSpPr>
        <p:spPr>
          <a:xfrm>
            <a:off x="7635240" y="4937760"/>
            <a:ext cx="3749040" cy="548640"/>
          </a:xfrm>
          <a:prstGeom prst="rect">
            <a:avLst/>
          </a:prstGeom>
          <a:noFill/>
          <a:ln/>
        </p:spPr>
        <p:txBody>
          <a:bodyPr wrap="square" lIns="0" tIns="0" rIns="0" bIns="0" rtlCol="0" anchor="ctr"/>
          <a:lstStyle/>
          <a:p>
            <a:pPr indent="0" marL="0">
              <a:lnSpc>
                <a:spcPts val="1300"/>
              </a:lnSpc>
              <a:buNone/>
            </a:pPr>
            <a:r>
              <a:rPr lang="en-US" sz="1050" dirty="0">
                <a:solidFill>
                  <a:srgbClr val="7A6B60"/>
                </a:solidFill>
                <a:latin typeface="Arial" pitchFamily="34" charset="0"/>
                <a:ea typeface="Arial" pitchFamily="34" charset="-122"/>
                <a:cs typeface="Arial" pitchFamily="34" charset="-120"/>
              </a:rPr>
              <a:t>If triage says out of scope, there is nothing left to resolve. Save the entire call.</a:t>
            </a:r>
            <a:endParaRPr lang="en-US" sz="1050" dirty="0"/>
          </a:p>
        </p:txBody>
      </p:sp>
      <p:sp>
        <p:nvSpPr>
          <p:cNvPr id="21" name="Shape 15"/>
          <p:cNvSpPr/>
          <p:nvPr/>
        </p:nvSpPr>
        <p:spPr>
          <a:xfrm>
            <a:off x="640080" y="5257800"/>
            <a:ext cx="5852160" cy="868680"/>
          </a:xfrm>
          <a:prstGeom prst="roundRect">
            <a:avLst>
              <a:gd name="adj" fmla="val 14737"/>
            </a:avLst>
          </a:prstGeom>
          <a:solidFill>
            <a:srgbClr val="331E11"/>
          </a:solidFill>
          <a:ln/>
        </p:spPr>
      </p:sp>
      <p:sp>
        <p:nvSpPr>
          <p:cNvPr id="22" name="Text 16"/>
          <p:cNvSpPr/>
          <p:nvPr/>
        </p:nvSpPr>
        <p:spPr>
          <a:xfrm>
            <a:off x="960120" y="5257800"/>
            <a:ext cx="5212080" cy="868680"/>
          </a:xfrm>
          <a:prstGeom prst="rect">
            <a:avLst/>
          </a:prstGeom>
          <a:noFill/>
          <a:ln/>
        </p:spPr>
        <p:txBody>
          <a:bodyPr wrap="square" lIns="0" tIns="0" rIns="0" bIns="0" rtlCol="0" anchor="ctr"/>
          <a:lstStyle/>
          <a:p>
            <a:pPr indent="0" marL="0">
              <a:lnSpc>
                <a:spcPts val="1800"/>
              </a:lnSpc>
              <a:buNone/>
            </a:pPr>
            <a:r>
              <a:rPr lang="en-US" sz="1300" dirty="0">
                <a:solidFill>
                  <a:srgbClr val="E8E0D9"/>
                </a:solidFill>
                <a:latin typeface="Arial" pitchFamily="34" charset="0"/>
                <a:ea typeface="Arial" pitchFamily="34" charset="-122"/>
                <a:cs typeface="Arial" pitchFamily="34" charset="-120"/>
              </a:rPr>
              <a:t>Same tokens, different tier, twelve times the bill. Routing is the cheapest optimisation on the list.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8E0D9"/>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21</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SIX ITEMS, ALL MUST PASS</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The quality gate</a:t>
            </a:r>
            <a:endParaRPr lang="en-US" sz="3600" dirty="0"/>
          </a:p>
        </p:txBody>
      </p:sp>
      <p:sp>
        <p:nvSpPr>
          <p:cNvPr id="5" name="Shape 3"/>
          <p:cNvSpPr/>
          <p:nvPr/>
        </p:nvSpPr>
        <p:spPr>
          <a:xfrm>
            <a:off x="640080" y="1874520"/>
            <a:ext cx="3520440" cy="1737360"/>
          </a:xfrm>
          <a:prstGeom prst="roundRect">
            <a:avLst>
              <a:gd name="adj" fmla="val 736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6" name="Shape 4"/>
          <p:cNvSpPr/>
          <p:nvPr/>
        </p:nvSpPr>
        <p:spPr>
          <a:xfrm>
            <a:off x="1005840" y="2148840"/>
            <a:ext cx="457200" cy="457200"/>
          </a:xfrm>
          <a:prstGeom prst="ellipse">
            <a:avLst/>
          </a:prstGeom>
          <a:solidFill>
            <a:srgbClr val="0054F0"/>
          </a:solidFill>
          <a:ln/>
        </p:spPr>
      </p:sp>
      <p:sp>
        <p:nvSpPr>
          <p:cNvPr id="7" name="Text 5"/>
          <p:cNvSpPr/>
          <p:nvPr/>
        </p:nvSpPr>
        <p:spPr>
          <a:xfrm>
            <a:off x="1005840" y="21488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600200" y="2103120"/>
            <a:ext cx="2240280" cy="566928"/>
          </a:xfrm>
          <a:prstGeom prst="rect">
            <a:avLst/>
          </a:prstGeom>
          <a:noFill/>
          <a:ln/>
        </p:spPr>
        <p:txBody>
          <a:bodyPr wrap="square" lIns="0" tIns="0" rIns="0" bIns="0" rtlCol="0" anchor="ctr"/>
          <a:lstStyle/>
          <a:p>
            <a:pPr indent="0" marL="0">
              <a:lnSpc>
                <a:spcPts val="1700"/>
              </a:lnSpc>
              <a:buNone/>
            </a:pPr>
            <a:r>
              <a:rPr lang="en-US" sz="1400" b="1" dirty="0">
                <a:solidFill>
                  <a:srgbClr val="331E11"/>
                </a:solidFill>
                <a:latin typeface="Arial" pitchFamily="34" charset="0"/>
                <a:ea typeface="Arial" pitchFamily="34" charset="-122"/>
                <a:cs typeface="Arial" pitchFamily="34" charset="-120"/>
              </a:rPr>
              <a:t>Cites the policy section</a:t>
            </a:r>
            <a:endParaRPr lang="en-US" sz="1400" dirty="0"/>
          </a:p>
        </p:txBody>
      </p:sp>
      <p:sp>
        <p:nvSpPr>
          <p:cNvPr id="9" name="Text 7"/>
          <p:cNvSpPr/>
          <p:nvPr/>
        </p:nvSpPr>
        <p:spPr>
          <a:xfrm>
            <a:off x="1005840" y="2788920"/>
            <a:ext cx="2788920" cy="685800"/>
          </a:xfrm>
          <a:prstGeom prst="rect">
            <a:avLst/>
          </a:prstGeom>
          <a:noFill/>
          <a:ln/>
        </p:spPr>
        <p:txBody>
          <a:bodyPr wrap="square" lIns="0" tIns="0" rIns="0" bIns="0" rtlCol="0" anchor="ctr"/>
          <a:lstStyle/>
          <a:p>
            <a:pPr indent="0" marL="0">
              <a:lnSpc>
                <a:spcPts val="1400"/>
              </a:lnSpc>
              <a:buNone/>
            </a:pPr>
            <a:r>
              <a:rPr lang="en-US" sz="1100" dirty="0">
                <a:solidFill>
                  <a:srgbClr val="7A6B60"/>
                </a:solidFill>
                <a:latin typeface="Arial" pitchFamily="34" charset="0"/>
                <a:ea typeface="Arial" pitchFamily="34" charset="-122"/>
                <a:cs typeface="Arial" pitchFamily="34" charset="-120"/>
              </a:rPr>
              <a:t>The specific section number used for the decision — not the document name.</a:t>
            </a:r>
            <a:endParaRPr lang="en-US" sz="1100" dirty="0"/>
          </a:p>
        </p:txBody>
      </p:sp>
      <p:sp>
        <p:nvSpPr>
          <p:cNvPr id="10" name="Shape 8"/>
          <p:cNvSpPr/>
          <p:nvPr/>
        </p:nvSpPr>
        <p:spPr>
          <a:xfrm>
            <a:off x="4480560" y="1874520"/>
            <a:ext cx="3520440" cy="1737360"/>
          </a:xfrm>
          <a:prstGeom prst="roundRect">
            <a:avLst>
              <a:gd name="adj" fmla="val 736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1" name="Shape 9"/>
          <p:cNvSpPr/>
          <p:nvPr/>
        </p:nvSpPr>
        <p:spPr>
          <a:xfrm>
            <a:off x="4846320" y="2148840"/>
            <a:ext cx="457200" cy="457200"/>
          </a:xfrm>
          <a:prstGeom prst="ellipse">
            <a:avLst/>
          </a:prstGeom>
          <a:solidFill>
            <a:srgbClr val="0054F0"/>
          </a:solidFill>
          <a:ln/>
        </p:spPr>
      </p:sp>
      <p:sp>
        <p:nvSpPr>
          <p:cNvPr id="12" name="Text 10"/>
          <p:cNvSpPr/>
          <p:nvPr/>
        </p:nvSpPr>
        <p:spPr>
          <a:xfrm>
            <a:off x="4846320" y="21488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5440680" y="2103120"/>
            <a:ext cx="2240280" cy="566928"/>
          </a:xfrm>
          <a:prstGeom prst="rect">
            <a:avLst/>
          </a:prstGeom>
          <a:noFill/>
          <a:ln/>
        </p:spPr>
        <p:txBody>
          <a:bodyPr wrap="square" lIns="0" tIns="0" rIns="0" bIns="0" rtlCol="0" anchor="ctr"/>
          <a:lstStyle/>
          <a:p>
            <a:pPr indent="0" marL="0">
              <a:lnSpc>
                <a:spcPts val="1700"/>
              </a:lnSpc>
              <a:buNone/>
            </a:pPr>
            <a:r>
              <a:rPr lang="en-US" sz="1400" b="1" dirty="0">
                <a:solidFill>
                  <a:srgbClr val="331E11"/>
                </a:solidFill>
                <a:latin typeface="Arial" pitchFamily="34" charset="0"/>
                <a:ea typeface="Arial" pitchFamily="34" charset="-122"/>
                <a:cs typeface="Arial" pitchFamily="34" charset="-120"/>
              </a:rPr>
              <a:t>States the outcome explicitly</a:t>
            </a:r>
            <a:endParaRPr lang="en-US" sz="1400" dirty="0"/>
          </a:p>
        </p:txBody>
      </p:sp>
      <p:sp>
        <p:nvSpPr>
          <p:cNvPr id="14" name="Text 12"/>
          <p:cNvSpPr/>
          <p:nvPr/>
        </p:nvSpPr>
        <p:spPr>
          <a:xfrm>
            <a:off x="4846320" y="2788920"/>
            <a:ext cx="2788920" cy="685800"/>
          </a:xfrm>
          <a:prstGeom prst="rect">
            <a:avLst/>
          </a:prstGeom>
          <a:noFill/>
          <a:ln/>
        </p:spPr>
        <p:txBody>
          <a:bodyPr wrap="square" lIns="0" tIns="0" rIns="0" bIns="0" rtlCol="0" anchor="ctr"/>
          <a:lstStyle/>
          <a:p>
            <a:pPr indent="0" marL="0">
              <a:lnSpc>
                <a:spcPts val="1400"/>
              </a:lnSpc>
              <a:buNone/>
            </a:pPr>
            <a:r>
              <a:rPr lang="en-US" sz="1100" dirty="0">
                <a:solidFill>
                  <a:srgbClr val="7A6B60"/>
                </a:solidFill>
                <a:latin typeface="Arial" pitchFamily="34" charset="0"/>
                <a:ea typeface="Arial" pitchFamily="34" charset="-122"/>
                <a:cs typeface="Arial" pitchFamily="34" charset="-120"/>
              </a:rPr>
              <a:t>Eligible, Not Eligible or Escalate, justified by root cause rather than symptom text alone.</a:t>
            </a:r>
            <a:endParaRPr lang="en-US" sz="1100" dirty="0"/>
          </a:p>
        </p:txBody>
      </p:sp>
      <p:sp>
        <p:nvSpPr>
          <p:cNvPr id="15" name="Shape 13"/>
          <p:cNvSpPr/>
          <p:nvPr/>
        </p:nvSpPr>
        <p:spPr>
          <a:xfrm>
            <a:off x="8321040" y="1874520"/>
            <a:ext cx="3520440" cy="1737360"/>
          </a:xfrm>
          <a:prstGeom prst="roundRect">
            <a:avLst>
              <a:gd name="adj" fmla="val 736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6" name="Shape 14"/>
          <p:cNvSpPr/>
          <p:nvPr/>
        </p:nvSpPr>
        <p:spPr>
          <a:xfrm>
            <a:off x="8686800" y="2148840"/>
            <a:ext cx="457200" cy="457200"/>
          </a:xfrm>
          <a:prstGeom prst="ellipse">
            <a:avLst/>
          </a:prstGeom>
          <a:solidFill>
            <a:srgbClr val="0054F0"/>
          </a:solidFill>
          <a:ln/>
        </p:spPr>
      </p:sp>
      <p:sp>
        <p:nvSpPr>
          <p:cNvPr id="17" name="Text 15"/>
          <p:cNvSpPr/>
          <p:nvPr/>
        </p:nvSpPr>
        <p:spPr>
          <a:xfrm>
            <a:off x="8686800" y="21488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9281160" y="2103120"/>
            <a:ext cx="2240280" cy="566928"/>
          </a:xfrm>
          <a:prstGeom prst="rect">
            <a:avLst/>
          </a:prstGeom>
          <a:noFill/>
          <a:ln/>
        </p:spPr>
        <p:txBody>
          <a:bodyPr wrap="square" lIns="0" tIns="0" rIns="0" bIns="0" rtlCol="0" anchor="ctr"/>
          <a:lstStyle/>
          <a:p>
            <a:pPr indent="0" marL="0">
              <a:lnSpc>
                <a:spcPts val="1700"/>
              </a:lnSpc>
              <a:buNone/>
            </a:pPr>
            <a:r>
              <a:rPr lang="en-US" sz="1400" b="1" dirty="0">
                <a:solidFill>
                  <a:srgbClr val="331E11"/>
                </a:solidFill>
                <a:latin typeface="Arial" pitchFamily="34" charset="0"/>
                <a:ea typeface="Arial" pitchFamily="34" charset="-122"/>
                <a:cs typeface="Arial" pitchFamily="34" charset="-120"/>
              </a:rPr>
              <a:t>Confirms the facts first</a:t>
            </a:r>
            <a:endParaRPr lang="en-US" sz="1400" dirty="0"/>
          </a:p>
        </p:txBody>
      </p:sp>
      <p:sp>
        <p:nvSpPr>
          <p:cNvPr id="19" name="Text 17"/>
          <p:cNvSpPr/>
          <p:nvPr/>
        </p:nvSpPr>
        <p:spPr>
          <a:xfrm>
            <a:off x="8686800" y="2788920"/>
            <a:ext cx="2788920" cy="685800"/>
          </a:xfrm>
          <a:prstGeom prst="rect">
            <a:avLst/>
          </a:prstGeom>
          <a:noFill/>
          <a:ln/>
        </p:spPr>
        <p:txBody>
          <a:bodyPr wrap="square" lIns="0" tIns="0" rIns="0" bIns="0" rtlCol="0" anchor="ctr"/>
          <a:lstStyle/>
          <a:p>
            <a:pPr indent="0" marL="0">
              <a:lnSpc>
                <a:spcPts val="1400"/>
              </a:lnSpc>
              <a:buNone/>
            </a:pPr>
            <a:r>
              <a:rPr lang="en-US" sz="1100" dirty="0">
                <a:solidFill>
                  <a:srgbClr val="7A6B60"/>
                </a:solidFill>
                <a:latin typeface="Arial" pitchFamily="34" charset="0"/>
                <a:ea typeface="Arial" pitchFamily="34" charset="-122"/>
                <a:cs typeface="Arial" pitchFamily="34" charset="-120"/>
              </a:rPr>
              <a:t>Purchase date and product identity read from the record. No assumed facts.</a:t>
            </a:r>
            <a:endParaRPr lang="en-US" sz="1100" dirty="0"/>
          </a:p>
        </p:txBody>
      </p:sp>
      <p:sp>
        <p:nvSpPr>
          <p:cNvPr id="20" name="Shape 18"/>
          <p:cNvSpPr/>
          <p:nvPr/>
        </p:nvSpPr>
        <p:spPr>
          <a:xfrm>
            <a:off x="640080" y="3840480"/>
            <a:ext cx="3520440" cy="1737360"/>
          </a:xfrm>
          <a:prstGeom prst="roundRect">
            <a:avLst>
              <a:gd name="adj" fmla="val 736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21" name="Shape 19"/>
          <p:cNvSpPr/>
          <p:nvPr/>
        </p:nvSpPr>
        <p:spPr>
          <a:xfrm>
            <a:off x="1005840" y="4114800"/>
            <a:ext cx="457200" cy="457200"/>
          </a:xfrm>
          <a:prstGeom prst="ellipse">
            <a:avLst/>
          </a:prstGeom>
          <a:solidFill>
            <a:srgbClr val="0054F0"/>
          </a:solidFill>
          <a:ln/>
        </p:spPr>
      </p:sp>
      <p:sp>
        <p:nvSpPr>
          <p:cNvPr id="22" name="Text 20"/>
          <p:cNvSpPr/>
          <p:nvPr/>
        </p:nvSpPr>
        <p:spPr>
          <a:xfrm>
            <a:off x="1005840" y="4114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p:nvPr/>
        </p:nvSpPr>
        <p:spPr>
          <a:xfrm>
            <a:off x="1600200" y="4069080"/>
            <a:ext cx="2240280" cy="566928"/>
          </a:xfrm>
          <a:prstGeom prst="rect">
            <a:avLst/>
          </a:prstGeom>
          <a:noFill/>
          <a:ln/>
        </p:spPr>
        <p:txBody>
          <a:bodyPr wrap="square" lIns="0" tIns="0" rIns="0" bIns="0" rtlCol="0" anchor="ctr"/>
          <a:lstStyle/>
          <a:p>
            <a:pPr indent="0" marL="0">
              <a:lnSpc>
                <a:spcPts val="1700"/>
              </a:lnSpc>
              <a:buNone/>
            </a:pPr>
            <a:r>
              <a:rPr lang="en-US" sz="1400" b="1" dirty="0">
                <a:solidFill>
                  <a:srgbClr val="331E11"/>
                </a:solidFill>
                <a:latin typeface="Arial" pitchFamily="34" charset="0"/>
                <a:ea typeface="Arial" pitchFamily="34" charset="-122"/>
                <a:cs typeface="Arial" pitchFamily="34" charset="-120"/>
              </a:rPr>
              <a:t>Escalates what it must</a:t>
            </a:r>
            <a:endParaRPr lang="en-US" sz="1400" dirty="0"/>
          </a:p>
        </p:txBody>
      </p:sp>
      <p:sp>
        <p:nvSpPr>
          <p:cNvPr id="24" name="Text 22"/>
          <p:cNvSpPr/>
          <p:nvPr/>
        </p:nvSpPr>
        <p:spPr>
          <a:xfrm>
            <a:off x="1005840" y="4754880"/>
            <a:ext cx="2788920" cy="685800"/>
          </a:xfrm>
          <a:prstGeom prst="rect">
            <a:avLst/>
          </a:prstGeom>
          <a:noFill/>
          <a:ln/>
        </p:spPr>
        <p:txBody>
          <a:bodyPr wrap="square" lIns="0" tIns="0" rIns="0" bIns="0" rtlCol="0" anchor="ctr"/>
          <a:lstStyle/>
          <a:p>
            <a:pPr indent="0" marL="0">
              <a:lnSpc>
                <a:spcPts val="1400"/>
              </a:lnSpc>
              <a:buNone/>
            </a:pPr>
            <a:r>
              <a:rPr lang="en-US" sz="1100" dirty="0">
                <a:solidFill>
                  <a:srgbClr val="7A6B60"/>
                </a:solidFill>
                <a:latin typeface="Arial" pitchFamily="34" charset="0"/>
                <a:ea typeface="Arial" pitchFamily="34" charset="-122"/>
                <a:cs typeface="Arial" pitchFamily="34" charset="-120"/>
              </a:rPr>
              <a:t>Anything matching an escalation trigger is handed on, not resolved.</a:t>
            </a:r>
            <a:endParaRPr lang="en-US" sz="1100" dirty="0"/>
          </a:p>
        </p:txBody>
      </p:sp>
      <p:sp>
        <p:nvSpPr>
          <p:cNvPr id="25" name="Shape 23"/>
          <p:cNvSpPr/>
          <p:nvPr/>
        </p:nvSpPr>
        <p:spPr>
          <a:xfrm>
            <a:off x="4480560" y="3840480"/>
            <a:ext cx="3520440" cy="1737360"/>
          </a:xfrm>
          <a:prstGeom prst="roundRect">
            <a:avLst>
              <a:gd name="adj" fmla="val 736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26" name="Shape 24"/>
          <p:cNvSpPr/>
          <p:nvPr/>
        </p:nvSpPr>
        <p:spPr>
          <a:xfrm>
            <a:off x="4846320" y="4114800"/>
            <a:ext cx="457200" cy="457200"/>
          </a:xfrm>
          <a:prstGeom prst="ellipse">
            <a:avLst/>
          </a:prstGeom>
          <a:solidFill>
            <a:srgbClr val="0054F0"/>
          </a:solidFill>
          <a:ln/>
        </p:spPr>
      </p:sp>
      <p:sp>
        <p:nvSpPr>
          <p:cNvPr id="27" name="Text 25"/>
          <p:cNvSpPr/>
          <p:nvPr/>
        </p:nvSpPr>
        <p:spPr>
          <a:xfrm>
            <a:off x="4846320" y="4114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6"/>
          <p:cNvSpPr/>
          <p:nvPr/>
        </p:nvSpPr>
        <p:spPr>
          <a:xfrm>
            <a:off x="5440680" y="4069080"/>
            <a:ext cx="2240280" cy="566928"/>
          </a:xfrm>
          <a:prstGeom prst="rect">
            <a:avLst/>
          </a:prstGeom>
          <a:noFill/>
          <a:ln/>
        </p:spPr>
        <p:txBody>
          <a:bodyPr wrap="square" lIns="0" tIns="0" rIns="0" bIns="0" rtlCol="0" anchor="ctr"/>
          <a:lstStyle/>
          <a:p>
            <a:pPr indent="0" marL="0">
              <a:lnSpc>
                <a:spcPts val="1700"/>
              </a:lnSpc>
              <a:buNone/>
            </a:pPr>
            <a:r>
              <a:rPr lang="en-US" sz="1400" b="1" dirty="0">
                <a:solidFill>
                  <a:srgbClr val="331E11"/>
                </a:solidFill>
                <a:latin typeface="Arial" pitchFamily="34" charset="0"/>
                <a:ea typeface="Arial" pitchFamily="34" charset="-122"/>
                <a:cs typeface="Arial" pitchFamily="34" charset="-120"/>
              </a:rPr>
              <a:t>Asks instead of guessing</a:t>
            </a:r>
            <a:endParaRPr lang="en-US" sz="1400" dirty="0"/>
          </a:p>
        </p:txBody>
      </p:sp>
      <p:sp>
        <p:nvSpPr>
          <p:cNvPr id="29" name="Text 27"/>
          <p:cNvSpPr/>
          <p:nvPr/>
        </p:nvSpPr>
        <p:spPr>
          <a:xfrm>
            <a:off x="4846320" y="4754880"/>
            <a:ext cx="2788920" cy="685800"/>
          </a:xfrm>
          <a:prstGeom prst="rect">
            <a:avLst/>
          </a:prstGeom>
          <a:noFill/>
          <a:ln/>
        </p:spPr>
        <p:txBody>
          <a:bodyPr wrap="square" lIns="0" tIns="0" rIns="0" bIns="0" rtlCol="0" anchor="ctr"/>
          <a:lstStyle/>
          <a:p>
            <a:pPr indent="0" marL="0">
              <a:lnSpc>
                <a:spcPts val="1400"/>
              </a:lnSpc>
              <a:buNone/>
            </a:pPr>
            <a:r>
              <a:rPr lang="en-US" sz="1100" dirty="0">
                <a:solidFill>
                  <a:srgbClr val="7A6B60"/>
                </a:solidFill>
                <a:latin typeface="Arial" pitchFamily="34" charset="0"/>
                <a:ea typeface="Arial" pitchFamily="34" charset="-122"/>
                <a:cs typeface="Arial" pitchFamily="34" charset="-120"/>
              </a:rPr>
              <a:t>If a needed fact is missing from the case file, ask a clarifying question.</a:t>
            </a:r>
            <a:endParaRPr lang="en-US" sz="1100" dirty="0"/>
          </a:p>
        </p:txBody>
      </p:sp>
      <p:sp>
        <p:nvSpPr>
          <p:cNvPr id="30" name="Shape 28"/>
          <p:cNvSpPr/>
          <p:nvPr/>
        </p:nvSpPr>
        <p:spPr>
          <a:xfrm>
            <a:off x="8321040" y="3840480"/>
            <a:ext cx="3520440" cy="1737360"/>
          </a:xfrm>
          <a:prstGeom prst="roundRect">
            <a:avLst>
              <a:gd name="adj" fmla="val 7368"/>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31" name="Shape 29"/>
          <p:cNvSpPr/>
          <p:nvPr/>
        </p:nvSpPr>
        <p:spPr>
          <a:xfrm>
            <a:off x="8686800" y="4114800"/>
            <a:ext cx="457200" cy="457200"/>
          </a:xfrm>
          <a:prstGeom prst="ellipse">
            <a:avLst/>
          </a:prstGeom>
          <a:solidFill>
            <a:srgbClr val="0054F0"/>
          </a:solidFill>
          <a:ln/>
        </p:spPr>
      </p:sp>
      <p:sp>
        <p:nvSpPr>
          <p:cNvPr id="32" name="Text 30"/>
          <p:cNvSpPr/>
          <p:nvPr/>
        </p:nvSpPr>
        <p:spPr>
          <a:xfrm>
            <a:off x="8686800" y="4114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3" name="Text 31"/>
          <p:cNvSpPr/>
          <p:nvPr/>
        </p:nvSpPr>
        <p:spPr>
          <a:xfrm>
            <a:off x="9281160" y="4069080"/>
            <a:ext cx="2240280" cy="566928"/>
          </a:xfrm>
          <a:prstGeom prst="rect">
            <a:avLst/>
          </a:prstGeom>
          <a:noFill/>
          <a:ln/>
        </p:spPr>
        <p:txBody>
          <a:bodyPr wrap="square" lIns="0" tIns="0" rIns="0" bIns="0" rtlCol="0" anchor="ctr"/>
          <a:lstStyle/>
          <a:p>
            <a:pPr indent="0" marL="0">
              <a:lnSpc>
                <a:spcPts val="1700"/>
              </a:lnSpc>
              <a:buNone/>
            </a:pPr>
            <a:r>
              <a:rPr lang="en-US" sz="1400" b="1" dirty="0">
                <a:solidFill>
                  <a:srgbClr val="331E11"/>
                </a:solidFill>
                <a:latin typeface="Arial" pitchFamily="34" charset="0"/>
                <a:ea typeface="Arial" pitchFamily="34" charset="-122"/>
                <a:cs typeface="Arial" pitchFamily="34" charset="-120"/>
              </a:rPr>
              <a:t>Tone is right</a:t>
            </a:r>
            <a:endParaRPr lang="en-US" sz="1400" dirty="0"/>
          </a:p>
        </p:txBody>
      </p:sp>
      <p:sp>
        <p:nvSpPr>
          <p:cNvPr id="34" name="Text 32"/>
          <p:cNvSpPr/>
          <p:nvPr/>
        </p:nvSpPr>
        <p:spPr>
          <a:xfrm>
            <a:off x="8686800" y="4754880"/>
            <a:ext cx="2788920" cy="685800"/>
          </a:xfrm>
          <a:prstGeom prst="rect">
            <a:avLst/>
          </a:prstGeom>
          <a:noFill/>
          <a:ln/>
        </p:spPr>
        <p:txBody>
          <a:bodyPr wrap="square" lIns="0" tIns="0" rIns="0" bIns="0" rtlCol="0" anchor="ctr"/>
          <a:lstStyle/>
          <a:p>
            <a:pPr indent="0" marL="0">
              <a:lnSpc>
                <a:spcPts val="1400"/>
              </a:lnSpc>
              <a:buNone/>
            </a:pPr>
            <a:r>
              <a:rPr lang="en-US" sz="1100" dirty="0">
                <a:solidFill>
                  <a:srgbClr val="7A6B60"/>
                </a:solidFill>
                <a:latin typeface="Arial" pitchFamily="34" charset="0"/>
                <a:ea typeface="Arial" pitchFamily="34" charset="-122"/>
                <a:cs typeface="Arial" pitchFamily="34" charset="-120"/>
              </a:rPr>
              <a:t>Professional, empathetic, concise — and in the customer's stated language.</a:t>
            </a:r>
            <a:endParaRPr lang="en-US" sz="1100" dirty="0"/>
          </a:p>
        </p:txBody>
      </p:sp>
      <p:sp>
        <p:nvSpPr>
          <p:cNvPr id="35" name="Text 33"/>
          <p:cNvSpPr/>
          <p:nvPr/>
        </p:nvSpPr>
        <p:spPr>
          <a:xfrm>
            <a:off x="640080" y="5943600"/>
            <a:ext cx="10881360" cy="457200"/>
          </a:xfrm>
          <a:prstGeom prst="rect">
            <a:avLst/>
          </a:prstGeom>
          <a:noFill/>
          <a:ln/>
        </p:spPr>
        <p:txBody>
          <a:bodyPr wrap="square" lIns="0" tIns="0" rIns="0" bIns="0" rtlCol="0" anchor="ctr"/>
          <a:lstStyle/>
          <a:p>
            <a:pPr indent="0" marL="0">
              <a:buNone/>
            </a:pPr>
            <a:r>
              <a:rPr lang="en-US" sz="1350" i="1" dirty="0">
                <a:solidFill>
                  <a:srgbClr val="7A6B60"/>
                </a:solidFill>
                <a:latin typeface="Arial" pitchFamily="34" charset="0"/>
                <a:ea typeface="Arial" pitchFamily="34" charset="-122"/>
                <a:cs typeface="Arial" pitchFamily="34" charset="-120"/>
              </a:rPr>
              <a:t>A case counts as passing only if it scores ≥16/20 on the rubric AND clears all six of these.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22</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HOW YOU WIN</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The scoring formula</a:t>
            </a:r>
            <a:endParaRPr lang="en-US" sz="3600" dirty="0"/>
          </a:p>
        </p:txBody>
      </p:sp>
      <p:sp>
        <p:nvSpPr>
          <p:cNvPr id="5" name="Shape 3"/>
          <p:cNvSpPr/>
          <p:nvPr/>
        </p:nvSpPr>
        <p:spPr>
          <a:xfrm>
            <a:off x="640080" y="1783080"/>
            <a:ext cx="5577840" cy="1965960"/>
          </a:xfrm>
          <a:prstGeom prst="roundRect">
            <a:avLst>
              <a:gd name="adj" fmla="val 6512"/>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6" name="Text 4"/>
          <p:cNvSpPr/>
          <p:nvPr/>
        </p:nvSpPr>
        <p:spPr>
          <a:xfrm>
            <a:off x="1005840" y="2011680"/>
            <a:ext cx="4846320" cy="274320"/>
          </a:xfrm>
          <a:prstGeom prst="rect">
            <a:avLst/>
          </a:prstGeom>
          <a:noFill/>
          <a:ln/>
        </p:spPr>
        <p:txBody>
          <a:bodyPr wrap="square" lIns="0" tIns="0" rIns="0" bIns="0" rtlCol="0" anchor="ctr"/>
          <a:lstStyle/>
          <a:p>
            <a:pPr indent="0" marL="0">
              <a:buNone/>
            </a:pPr>
            <a:r>
              <a:rPr lang="en-US" sz="1000" b="1" spc="140" kern="0" dirty="0">
                <a:solidFill>
                  <a:srgbClr val="0054F0"/>
                </a:solidFill>
                <a:latin typeface="Arial" pitchFamily="34" charset="0"/>
                <a:ea typeface="Arial" pitchFamily="34" charset="-122"/>
                <a:cs typeface="Arial" pitchFamily="34" charset="-120"/>
              </a:rPr>
              <a:t>PER-CASE RUBRIC — 20 POINTS</a:t>
            </a:r>
            <a:endParaRPr lang="en-US" sz="1000" dirty="0"/>
          </a:p>
        </p:txBody>
      </p:sp>
      <p:sp>
        <p:nvSpPr>
          <p:cNvPr id="7" name="Text 5"/>
          <p:cNvSpPr/>
          <p:nvPr/>
        </p:nvSpPr>
        <p:spPr>
          <a:xfrm>
            <a:off x="1005840" y="2359152"/>
            <a:ext cx="4023360" cy="237744"/>
          </a:xfrm>
          <a:prstGeom prst="rect">
            <a:avLst/>
          </a:prstGeom>
          <a:noFill/>
          <a:ln/>
        </p:spPr>
        <p:txBody>
          <a:bodyPr wrap="square" lIns="0" tIns="0" rIns="0" bIns="0" rtlCol="0" anchor="ctr"/>
          <a:lstStyle/>
          <a:p>
            <a:pPr indent="0" marL="0">
              <a:buNone/>
            </a:pPr>
            <a:r>
              <a:rPr lang="en-US" sz="1150" dirty="0">
                <a:solidFill>
                  <a:srgbClr val="331E11"/>
                </a:solidFill>
                <a:latin typeface="Arial" pitchFamily="34" charset="0"/>
                <a:ea typeface="Arial" pitchFamily="34" charset="-122"/>
                <a:cs typeface="Arial" pitchFamily="34" charset="-120"/>
              </a:rPr>
              <a:t>Correct eligibility decision</a:t>
            </a:r>
            <a:endParaRPr lang="en-US" sz="1150" dirty="0"/>
          </a:p>
        </p:txBody>
      </p:sp>
      <p:sp>
        <p:nvSpPr>
          <p:cNvPr id="8" name="Text 6"/>
          <p:cNvSpPr/>
          <p:nvPr/>
        </p:nvSpPr>
        <p:spPr>
          <a:xfrm>
            <a:off x="5212080" y="2359152"/>
            <a:ext cx="640080" cy="237744"/>
          </a:xfrm>
          <a:prstGeom prst="rect">
            <a:avLst/>
          </a:prstGeom>
          <a:noFill/>
          <a:ln/>
        </p:spPr>
        <p:txBody>
          <a:bodyPr wrap="square" lIns="0" tIns="0" rIns="0" bIns="0" rtlCol="0" anchor="ctr"/>
          <a:lstStyle/>
          <a:p>
            <a:pPr algn="r" indent="0" marL="0">
              <a:buNone/>
            </a:pPr>
            <a:r>
              <a:rPr lang="en-US" sz="1100" b="1" dirty="0">
                <a:solidFill>
                  <a:srgbClr val="7A6B60"/>
                </a:solidFill>
                <a:latin typeface="Arial" pitchFamily="34" charset="0"/>
                <a:ea typeface="Arial" pitchFamily="34" charset="-122"/>
                <a:cs typeface="Arial" pitchFamily="34" charset="-120"/>
              </a:rPr>
              <a:t>0–4</a:t>
            </a:r>
            <a:endParaRPr lang="en-US" sz="1100" dirty="0"/>
          </a:p>
        </p:txBody>
      </p:sp>
      <p:sp>
        <p:nvSpPr>
          <p:cNvPr id="9" name="Text 7"/>
          <p:cNvSpPr/>
          <p:nvPr/>
        </p:nvSpPr>
        <p:spPr>
          <a:xfrm>
            <a:off x="1005840" y="2615184"/>
            <a:ext cx="4023360" cy="237744"/>
          </a:xfrm>
          <a:prstGeom prst="rect">
            <a:avLst/>
          </a:prstGeom>
          <a:noFill/>
          <a:ln/>
        </p:spPr>
        <p:txBody>
          <a:bodyPr wrap="square" lIns="0" tIns="0" rIns="0" bIns="0" rtlCol="0" anchor="ctr"/>
          <a:lstStyle/>
          <a:p>
            <a:pPr indent="0" marL="0">
              <a:buNone/>
            </a:pPr>
            <a:r>
              <a:rPr lang="en-US" sz="1150" dirty="0">
                <a:solidFill>
                  <a:srgbClr val="331E11"/>
                </a:solidFill>
                <a:latin typeface="Arial" pitchFamily="34" charset="0"/>
                <a:ea typeface="Arial" pitchFamily="34" charset="-122"/>
                <a:cs typeface="Arial" pitchFamily="34" charset="-120"/>
              </a:rPr>
              <a:t>Root-cause grounding</a:t>
            </a:r>
            <a:endParaRPr lang="en-US" sz="1150" dirty="0"/>
          </a:p>
        </p:txBody>
      </p:sp>
      <p:sp>
        <p:nvSpPr>
          <p:cNvPr id="10" name="Text 8"/>
          <p:cNvSpPr/>
          <p:nvPr/>
        </p:nvSpPr>
        <p:spPr>
          <a:xfrm>
            <a:off x="5212080" y="2615184"/>
            <a:ext cx="640080" cy="237744"/>
          </a:xfrm>
          <a:prstGeom prst="rect">
            <a:avLst/>
          </a:prstGeom>
          <a:noFill/>
          <a:ln/>
        </p:spPr>
        <p:txBody>
          <a:bodyPr wrap="square" lIns="0" tIns="0" rIns="0" bIns="0" rtlCol="0" anchor="ctr"/>
          <a:lstStyle/>
          <a:p>
            <a:pPr algn="r" indent="0" marL="0">
              <a:buNone/>
            </a:pPr>
            <a:r>
              <a:rPr lang="en-US" sz="1100" b="1" dirty="0">
                <a:solidFill>
                  <a:srgbClr val="7A6B60"/>
                </a:solidFill>
                <a:latin typeface="Arial" pitchFamily="34" charset="0"/>
                <a:ea typeface="Arial" pitchFamily="34" charset="-122"/>
                <a:cs typeface="Arial" pitchFamily="34" charset="-120"/>
              </a:rPr>
              <a:t>0–4</a:t>
            </a:r>
            <a:endParaRPr lang="en-US" sz="1100" dirty="0"/>
          </a:p>
        </p:txBody>
      </p:sp>
      <p:sp>
        <p:nvSpPr>
          <p:cNvPr id="11" name="Text 9"/>
          <p:cNvSpPr/>
          <p:nvPr/>
        </p:nvSpPr>
        <p:spPr>
          <a:xfrm>
            <a:off x="1005840" y="2871216"/>
            <a:ext cx="4023360" cy="237744"/>
          </a:xfrm>
          <a:prstGeom prst="rect">
            <a:avLst/>
          </a:prstGeom>
          <a:noFill/>
          <a:ln/>
        </p:spPr>
        <p:txBody>
          <a:bodyPr wrap="square" lIns="0" tIns="0" rIns="0" bIns="0" rtlCol="0" anchor="ctr"/>
          <a:lstStyle/>
          <a:p>
            <a:pPr indent="0" marL="0">
              <a:buNone/>
            </a:pPr>
            <a:r>
              <a:rPr lang="en-US" sz="1150" dirty="0">
                <a:solidFill>
                  <a:srgbClr val="331E11"/>
                </a:solidFill>
                <a:latin typeface="Arial" pitchFamily="34" charset="0"/>
                <a:ea typeface="Arial" pitchFamily="34" charset="-122"/>
                <a:cs typeface="Arial" pitchFamily="34" charset="-120"/>
              </a:rPr>
              <a:t>Policy citation accuracy</a:t>
            </a:r>
            <a:endParaRPr lang="en-US" sz="1150" dirty="0"/>
          </a:p>
        </p:txBody>
      </p:sp>
      <p:sp>
        <p:nvSpPr>
          <p:cNvPr id="12" name="Text 10"/>
          <p:cNvSpPr/>
          <p:nvPr/>
        </p:nvSpPr>
        <p:spPr>
          <a:xfrm>
            <a:off x="5212080" y="2871216"/>
            <a:ext cx="640080" cy="237744"/>
          </a:xfrm>
          <a:prstGeom prst="rect">
            <a:avLst/>
          </a:prstGeom>
          <a:noFill/>
          <a:ln/>
        </p:spPr>
        <p:txBody>
          <a:bodyPr wrap="square" lIns="0" tIns="0" rIns="0" bIns="0" rtlCol="0" anchor="ctr"/>
          <a:lstStyle/>
          <a:p>
            <a:pPr algn="r" indent="0" marL="0">
              <a:buNone/>
            </a:pPr>
            <a:r>
              <a:rPr lang="en-US" sz="1100" b="1" dirty="0">
                <a:solidFill>
                  <a:srgbClr val="7A6B60"/>
                </a:solidFill>
                <a:latin typeface="Arial" pitchFamily="34" charset="0"/>
                <a:ea typeface="Arial" pitchFamily="34" charset="-122"/>
                <a:cs typeface="Arial" pitchFamily="34" charset="-120"/>
              </a:rPr>
              <a:t>0–4</a:t>
            </a:r>
            <a:endParaRPr lang="en-US" sz="1100" dirty="0"/>
          </a:p>
        </p:txBody>
      </p:sp>
      <p:sp>
        <p:nvSpPr>
          <p:cNvPr id="13" name="Text 11"/>
          <p:cNvSpPr/>
          <p:nvPr/>
        </p:nvSpPr>
        <p:spPr>
          <a:xfrm>
            <a:off x="1005840" y="3127248"/>
            <a:ext cx="4023360" cy="237744"/>
          </a:xfrm>
          <a:prstGeom prst="rect">
            <a:avLst/>
          </a:prstGeom>
          <a:noFill/>
          <a:ln/>
        </p:spPr>
        <p:txBody>
          <a:bodyPr wrap="square" lIns="0" tIns="0" rIns="0" bIns="0" rtlCol="0" anchor="ctr"/>
          <a:lstStyle/>
          <a:p>
            <a:pPr indent="0" marL="0">
              <a:buNone/>
            </a:pPr>
            <a:r>
              <a:rPr lang="en-US" sz="1150" dirty="0">
                <a:solidFill>
                  <a:srgbClr val="331E11"/>
                </a:solidFill>
                <a:latin typeface="Arial" pitchFamily="34" charset="0"/>
                <a:ea typeface="Arial" pitchFamily="34" charset="-122"/>
                <a:cs typeface="Arial" pitchFamily="34" charset="-120"/>
              </a:rPr>
              <a:t>Escalation / scope judgement</a:t>
            </a:r>
            <a:endParaRPr lang="en-US" sz="1150" dirty="0"/>
          </a:p>
        </p:txBody>
      </p:sp>
      <p:sp>
        <p:nvSpPr>
          <p:cNvPr id="14" name="Text 12"/>
          <p:cNvSpPr/>
          <p:nvPr/>
        </p:nvSpPr>
        <p:spPr>
          <a:xfrm>
            <a:off x="5212080" y="3127248"/>
            <a:ext cx="640080" cy="237744"/>
          </a:xfrm>
          <a:prstGeom prst="rect">
            <a:avLst/>
          </a:prstGeom>
          <a:noFill/>
          <a:ln/>
        </p:spPr>
        <p:txBody>
          <a:bodyPr wrap="square" lIns="0" tIns="0" rIns="0" bIns="0" rtlCol="0" anchor="ctr"/>
          <a:lstStyle/>
          <a:p>
            <a:pPr algn="r" indent="0" marL="0">
              <a:buNone/>
            </a:pPr>
            <a:r>
              <a:rPr lang="en-US" sz="1100" b="1" dirty="0">
                <a:solidFill>
                  <a:srgbClr val="7A6B60"/>
                </a:solidFill>
                <a:latin typeface="Arial" pitchFamily="34" charset="0"/>
                <a:ea typeface="Arial" pitchFamily="34" charset="-122"/>
                <a:cs typeface="Arial" pitchFamily="34" charset="-120"/>
              </a:rPr>
              <a:t>0–4</a:t>
            </a:r>
            <a:endParaRPr lang="en-US" sz="1100" dirty="0"/>
          </a:p>
        </p:txBody>
      </p:sp>
      <p:sp>
        <p:nvSpPr>
          <p:cNvPr id="15" name="Text 13"/>
          <p:cNvSpPr/>
          <p:nvPr/>
        </p:nvSpPr>
        <p:spPr>
          <a:xfrm>
            <a:off x="1005840" y="3383280"/>
            <a:ext cx="4023360" cy="237744"/>
          </a:xfrm>
          <a:prstGeom prst="rect">
            <a:avLst/>
          </a:prstGeom>
          <a:noFill/>
          <a:ln/>
        </p:spPr>
        <p:txBody>
          <a:bodyPr wrap="square" lIns="0" tIns="0" rIns="0" bIns="0" rtlCol="0" anchor="ctr"/>
          <a:lstStyle/>
          <a:p>
            <a:pPr indent="0" marL="0">
              <a:buNone/>
            </a:pPr>
            <a:r>
              <a:rPr lang="en-US" sz="1150" dirty="0">
                <a:solidFill>
                  <a:srgbClr val="331E11"/>
                </a:solidFill>
                <a:latin typeface="Arial" pitchFamily="34" charset="0"/>
                <a:ea typeface="Arial" pitchFamily="34" charset="-122"/>
                <a:cs typeface="Arial" pitchFamily="34" charset="-120"/>
              </a:rPr>
              <a:t>Clarity and tone</a:t>
            </a:r>
            <a:endParaRPr lang="en-US" sz="1150" dirty="0"/>
          </a:p>
        </p:txBody>
      </p:sp>
      <p:sp>
        <p:nvSpPr>
          <p:cNvPr id="16" name="Text 14"/>
          <p:cNvSpPr/>
          <p:nvPr/>
        </p:nvSpPr>
        <p:spPr>
          <a:xfrm>
            <a:off x="5212080" y="3383280"/>
            <a:ext cx="640080" cy="237744"/>
          </a:xfrm>
          <a:prstGeom prst="rect">
            <a:avLst/>
          </a:prstGeom>
          <a:noFill/>
          <a:ln/>
        </p:spPr>
        <p:txBody>
          <a:bodyPr wrap="square" lIns="0" tIns="0" rIns="0" bIns="0" rtlCol="0" anchor="ctr"/>
          <a:lstStyle/>
          <a:p>
            <a:pPr algn="r" indent="0" marL="0">
              <a:buNone/>
            </a:pPr>
            <a:r>
              <a:rPr lang="en-US" sz="1100" b="1" dirty="0">
                <a:solidFill>
                  <a:srgbClr val="7A6B60"/>
                </a:solidFill>
                <a:latin typeface="Arial" pitchFamily="34" charset="0"/>
                <a:ea typeface="Arial" pitchFamily="34" charset="-122"/>
                <a:cs typeface="Arial" pitchFamily="34" charset="-120"/>
              </a:rPr>
              <a:t>0–4</a:t>
            </a:r>
            <a:endParaRPr lang="en-US" sz="1100" dirty="0"/>
          </a:p>
        </p:txBody>
      </p:sp>
      <p:sp>
        <p:nvSpPr>
          <p:cNvPr id="17" name="Shape 15"/>
          <p:cNvSpPr/>
          <p:nvPr/>
        </p:nvSpPr>
        <p:spPr>
          <a:xfrm>
            <a:off x="640080" y="3931920"/>
            <a:ext cx="5577840" cy="2057400"/>
          </a:xfrm>
          <a:prstGeom prst="roundRect">
            <a:avLst>
              <a:gd name="adj" fmla="val 6222"/>
            </a:avLst>
          </a:prstGeom>
          <a:solidFill>
            <a:srgbClr val="331E11"/>
          </a:solidFill>
          <a:ln/>
        </p:spPr>
      </p:sp>
      <p:sp>
        <p:nvSpPr>
          <p:cNvPr id="18" name="Text 16"/>
          <p:cNvSpPr/>
          <p:nvPr/>
        </p:nvSpPr>
        <p:spPr>
          <a:xfrm>
            <a:off x="914400" y="4133088"/>
            <a:ext cx="5029200" cy="1655064"/>
          </a:xfrm>
          <a:prstGeom prst="rect">
            <a:avLst/>
          </a:prstGeom>
          <a:noFill/>
          <a:ln/>
        </p:spPr>
        <p:txBody>
          <a:bodyPr wrap="square" lIns="0" tIns="0" rIns="0" bIns="0" rtlCol="0" anchor="t"/>
          <a:lstStyle/>
          <a:p>
            <a:pPr indent="0" marL="0">
              <a:lnSpc>
                <a:spcPts val="1500"/>
              </a:lnSpc>
              <a:buNone/>
            </a:pPr>
            <a:r>
              <a:rPr lang="en-US" sz="1000" dirty="0">
                <a:solidFill>
                  <a:srgbClr val="E8E0D9"/>
                </a:solidFill>
                <a:latin typeface="Courier New" pitchFamily="34" charset="0"/>
                <a:ea typeface="Courier New" pitchFamily="34" charset="-122"/>
                <a:cs typeface="Courier New" pitchFamily="34" charset="-120"/>
              </a:rPr>
              <a:t>BCP              = 12 × 18.4 = 220.8</a:t>
            </a:r>
            <a:endParaRPr lang="en-US" sz="1000" dirty="0"/>
          </a:p>
          <a:p>
            <a:pPr indent="0" marL="0">
              <a:lnSpc>
                <a:spcPts val="1500"/>
              </a:lnSpc>
              <a:buNone/>
            </a:pPr>
            <a:r>
              <a:rPr lang="en-US" sz="1000" dirty="0">
                <a:solidFill>
                  <a:srgbClr val="E8E0D9"/>
                </a:solidFill>
                <a:latin typeface="Courier New" pitchFamily="34" charset="0"/>
                <a:ea typeface="Courier New" pitchFamily="34" charset="-122"/>
                <a:cs typeface="Courier New" pitchFamily="34" charset="-120"/>
              </a:rPr>
              <a:t>CostPoints(call) = TierWeight × (tokens ÷ 1000)</a:t>
            </a:r>
            <a:endParaRPr lang="en-US" sz="1000" dirty="0"/>
          </a:p>
          <a:p>
            <a:pPr indent="0" marL="0">
              <a:lnSpc>
                <a:spcPts val="1500"/>
              </a:lnSpc>
              <a:buNone/>
            </a:pPr>
            <a:r>
              <a:rPr lang="en-US" sz="1000" dirty="0">
                <a:solidFill>
                  <a:srgbClr val="E8E0D9"/>
                </a:solidFill>
                <a:latin typeface="Courier New" pitchFamily="34" charset="0"/>
                <a:ea typeface="Courier New" pitchFamily="34" charset="-122"/>
                <a:cs typeface="Courier New" pitchFamily="34" charset="-120"/>
              </a:rPr>
              <a:t>TotalCostPoints  = Σ CostPoints over every call</a:t>
            </a:r>
            <a:endParaRPr lang="en-US" sz="1000" dirty="0"/>
          </a:p>
          <a:p>
            <a:pPr indent="0" marL="0">
              <a:lnSpc>
                <a:spcPts val="1500"/>
              </a:lnSpc>
              <a:buNone/>
            </a:pPr>
            <a:r>
              <a:rPr lang="en-US" sz="1000" dirty="0">
                <a:solidFill>
                  <a:srgbClr val="E8E0D9"/>
                </a:solidFill>
                <a:latin typeface="Courier New" pitchFamily="34" charset="0"/>
                <a:ea typeface="Courier New" pitchFamily="34" charset="-122"/>
                <a:cs typeface="Courier New" pitchFamily="34" charset="-120"/>
              </a:rPr>
              <a:t>CostEfficiency   = max(0, 1 − TotalCostPoints / BCP)</a:t>
            </a:r>
            <a:endParaRPr lang="en-US" sz="1000" dirty="0"/>
          </a:p>
          <a:p>
            <a:pPr indent="0" marL="0">
              <a:lnSpc>
                <a:spcPts val="1500"/>
              </a:lnSpc>
              <a:buNone/>
            </a:pPr>
            <a:endParaRPr lang="en-US" sz="1000" dirty="0"/>
          </a:p>
          <a:p>
            <a:pPr indent="0" marL="0">
              <a:lnSpc>
                <a:spcPts val="1500"/>
              </a:lnSpc>
              <a:buNone/>
            </a:pPr>
            <a:r>
              <a:rPr lang="en-US" sz="1000" dirty="0">
                <a:solidFill>
                  <a:srgbClr val="E8E0D9"/>
                </a:solidFill>
                <a:latin typeface="Courier New" pitchFamily="34" charset="0"/>
                <a:ea typeface="Courier New" pitchFamily="34" charset="-122"/>
                <a:cs typeface="Courier New" pitchFamily="34" charset="-120"/>
              </a:rPr>
              <a:t>M = mean(CostEfficiency) across all 10 cases</a:t>
            </a:r>
            <a:endParaRPr lang="en-US" sz="1000" dirty="0"/>
          </a:p>
          <a:p>
            <a:pPr indent="0" marL="0">
              <a:lnSpc>
                <a:spcPts val="1500"/>
              </a:lnSpc>
              <a:buNone/>
            </a:pPr>
            <a:r>
              <a:rPr lang="en-US" sz="1000" dirty="0">
                <a:solidFill>
                  <a:srgbClr val="E8E0D9"/>
                </a:solidFill>
                <a:latin typeface="Courier New" pitchFamily="34" charset="0"/>
                <a:ea typeface="Courier New" pitchFamily="34" charset="-122"/>
                <a:cs typeface="Courier New" pitchFamily="34" charset="-120"/>
              </a:rPr>
              <a:t>Q = cases scoring ≥16/20 AND passing all 6 gates ÷ 10</a:t>
            </a:r>
            <a:endParaRPr lang="en-US" sz="1000" dirty="0"/>
          </a:p>
          <a:p>
            <a:pPr indent="0" marL="0">
              <a:lnSpc>
                <a:spcPts val="1500"/>
              </a:lnSpc>
              <a:buNone/>
            </a:pPr>
            <a:r>
              <a:rPr lang="en-US" sz="1000" dirty="0">
                <a:solidFill>
                  <a:srgbClr val="E8E0D9"/>
                </a:solidFill>
                <a:latin typeface="Courier New" pitchFamily="34" charset="0"/>
                <a:ea typeface="Courier New" pitchFamily="34" charset="-122"/>
                <a:cs typeface="Courier New" pitchFamily="34" charset="-120"/>
              </a:rPr>
              <a:t>Penalty = 10 × (critical archetype failures)</a:t>
            </a:r>
            <a:endParaRPr lang="en-US" sz="1000" dirty="0"/>
          </a:p>
        </p:txBody>
      </p:sp>
      <p:sp>
        <p:nvSpPr>
          <p:cNvPr id="19" name="Shape 17"/>
          <p:cNvSpPr/>
          <p:nvPr/>
        </p:nvSpPr>
        <p:spPr>
          <a:xfrm>
            <a:off x="6537960" y="1783080"/>
            <a:ext cx="5010912" cy="2377440"/>
          </a:xfrm>
          <a:prstGeom prst="roundRect">
            <a:avLst>
              <a:gd name="adj" fmla="val 5385"/>
            </a:avLst>
          </a:prstGeom>
          <a:solidFill>
            <a:srgbClr val="0054F0"/>
          </a:solidFill>
          <a:ln/>
        </p:spPr>
      </p:sp>
      <p:sp>
        <p:nvSpPr>
          <p:cNvPr id="20" name="Text 18"/>
          <p:cNvSpPr/>
          <p:nvPr/>
        </p:nvSpPr>
        <p:spPr>
          <a:xfrm>
            <a:off x="6903720" y="2011680"/>
            <a:ext cx="4297680" cy="365760"/>
          </a:xfrm>
          <a:prstGeom prst="rect">
            <a:avLst/>
          </a:prstGeom>
          <a:noFill/>
          <a:ln/>
        </p:spPr>
        <p:txBody>
          <a:bodyPr wrap="square" lIns="0" tIns="0" rIns="0" bIns="0" rtlCol="0" anchor="ctr"/>
          <a:lstStyle/>
          <a:p>
            <a:pPr indent="0" marL="0">
              <a:buNone/>
            </a:pPr>
            <a:r>
              <a:rPr lang="en-US" sz="1400" b="1" spc="100" kern="0" dirty="0">
                <a:solidFill>
                  <a:srgbClr val="FFFFFF"/>
                </a:solidFill>
                <a:latin typeface="Arial" pitchFamily="34" charset="0"/>
                <a:ea typeface="Arial" pitchFamily="34" charset="-122"/>
                <a:cs typeface="Arial" pitchFamily="34" charset="-120"/>
              </a:rPr>
              <a:t>FinalScore</a:t>
            </a:r>
            <a:endParaRPr lang="en-US" sz="1400" dirty="0"/>
          </a:p>
        </p:txBody>
      </p:sp>
      <p:sp>
        <p:nvSpPr>
          <p:cNvPr id="21" name="Text 19"/>
          <p:cNvSpPr/>
          <p:nvPr/>
        </p:nvSpPr>
        <p:spPr>
          <a:xfrm>
            <a:off x="6903720" y="2468880"/>
            <a:ext cx="4297680" cy="685800"/>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(Q × 70) + (M × 30) − Penalty</a:t>
            </a:r>
            <a:endParaRPr lang="en-US" sz="1500" dirty="0"/>
          </a:p>
        </p:txBody>
      </p:sp>
      <p:sp>
        <p:nvSpPr>
          <p:cNvPr id="22" name="Text 20"/>
          <p:cNvSpPr/>
          <p:nvPr/>
        </p:nvSpPr>
        <p:spPr>
          <a:xfrm>
            <a:off x="6903720" y="3246120"/>
            <a:ext cx="4297680" cy="320040"/>
          </a:xfrm>
          <a:prstGeom prst="rect">
            <a:avLst/>
          </a:prstGeom>
          <a:noFill/>
          <a:ln/>
        </p:spPr>
        <p:txBody>
          <a:bodyPr wrap="square" lIns="0" tIns="0" rIns="0" bIns="0" rtlCol="0" anchor="ctr"/>
          <a:lstStyle/>
          <a:p>
            <a:pPr indent="0" marL="0">
              <a:buNone/>
            </a:pPr>
            <a:r>
              <a:rPr lang="en-US" sz="1150" dirty="0">
                <a:solidFill>
                  <a:srgbClr val="D6E3FF"/>
                </a:solidFill>
                <a:latin typeface="Arial" pitchFamily="34" charset="0"/>
                <a:ea typeface="Arial" pitchFamily="34" charset="-122"/>
                <a:cs typeface="Arial" pitchFamily="34" charset="-120"/>
              </a:rPr>
              <a:t>Rounded to one decimal, clamped to 0–100.</a:t>
            </a:r>
            <a:endParaRPr lang="en-US" sz="1150" dirty="0"/>
          </a:p>
        </p:txBody>
      </p:sp>
      <p:sp>
        <p:nvSpPr>
          <p:cNvPr id="23" name="Text 21"/>
          <p:cNvSpPr/>
          <p:nvPr/>
        </p:nvSpPr>
        <p:spPr>
          <a:xfrm>
            <a:off x="6903720" y="3611880"/>
            <a:ext cx="4297680" cy="41148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Arial" pitchFamily="34" charset="0"/>
                <a:ea typeface="Arial" pitchFamily="34" charset="-122"/>
                <a:cs typeface="Arial" pitchFamily="34" charset="-120"/>
              </a:rPr>
              <a:t>Quality is worth more than twice cost. Deliberately.</a:t>
            </a:r>
            <a:endParaRPr lang="en-US" sz="1250" dirty="0"/>
          </a:p>
        </p:txBody>
      </p:sp>
      <p:sp>
        <p:nvSpPr>
          <p:cNvPr id="24" name="Shape 22"/>
          <p:cNvSpPr/>
          <p:nvPr/>
        </p:nvSpPr>
        <p:spPr>
          <a:xfrm>
            <a:off x="6537960" y="4343400"/>
            <a:ext cx="5010912" cy="475488"/>
          </a:xfrm>
          <a:prstGeom prst="roundRect">
            <a:avLst>
              <a:gd name="adj" fmla="val 26923"/>
            </a:avLst>
          </a:prstGeom>
          <a:solidFill>
            <a:srgbClr val="FFFFFF"/>
          </a:solidFill>
          <a:ln/>
        </p:spPr>
      </p:sp>
      <p:sp>
        <p:nvSpPr>
          <p:cNvPr id="25" name="Text 23"/>
          <p:cNvSpPr/>
          <p:nvPr/>
        </p:nvSpPr>
        <p:spPr>
          <a:xfrm>
            <a:off x="6766560" y="4343400"/>
            <a:ext cx="822960" cy="475488"/>
          </a:xfrm>
          <a:prstGeom prst="rect">
            <a:avLst/>
          </a:prstGeom>
          <a:noFill/>
          <a:ln/>
        </p:spPr>
        <p:txBody>
          <a:bodyPr wrap="square" lIns="0" tIns="0" rIns="0" bIns="0" rtlCol="0" anchor="ctr"/>
          <a:lstStyle/>
          <a:p>
            <a:pPr indent="0" marL="0">
              <a:buNone/>
            </a:pPr>
            <a:r>
              <a:rPr lang="en-US" sz="1600" b="1" dirty="0">
                <a:solidFill>
                  <a:srgbClr val="0054F0"/>
                </a:solidFill>
                <a:latin typeface="Arial" pitchFamily="34" charset="0"/>
                <a:ea typeface="Arial" pitchFamily="34" charset="-122"/>
                <a:cs typeface="Arial" pitchFamily="34" charset="-120"/>
              </a:rPr>
              <a:t>70</a:t>
            </a:r>
            <a:endParaRPr lang="en-US" sz="1600" dirty="0"/>
          </a:p>
        </p:txBody>
      </p:sp>
      <p:sp>
        <p:nvSpPr>
          <p:cNvPr id="26" name="Text 24"/>
          <p:cNvSpPr/>
          <p:nvPr/>
        </p:nvSpPr>
        <p:spPr>
          <a:xfrm>
            <a:off x="7635240" y="4343400"/>
            <a:ext cx="3657600" cy="475488"/>
          </a:xfrm>
          <a:prstGeom prst="rect">
            <a:avLst/>
          </a:prstGeom>
          <a:noFill/>
          <a:ln/>
        </p:spPr>
        <p:txBody>
          <a:bodyPr wrap="square" lIns="0" tIns="0" rIns="0" bIns="0" rtlCol="0" anchor="ctr"/>
          <a:lstStyle/>
          <a:p>
            <a:pPr indent="0" marL="0">
              <a:buNone/>
            </a:pPr>
            <a:r>
              <a:rPr lang="en-US" sz="1200" dirty="0">
                <a:solidFill>
                  <a:srgbClr val="7A6B60"/>
                </a:solidFill>
                <a:latin typeface="Arial" pitchFamily="34" charset="0"/>
                <a:ea typeface="Arial" pitchFamily="34" charset="-122"/>
                <a:cs typeface="Arial" pitchFamily="34" charset="-120"/>
              </a:rPr>
              <a:t>Q — quality share</a:t>
            </a:r>
            <a:endParaRPr lang="en-US" sz="1200" dirty="0"/>
          </a:p>
        </p:txBody>
      </p:sp>
      <p:sp>
        <p:nvSpPr>
          <p:cNvPr id="27" name="Shape 25"/>
          <p:cNvSpPr/>
          <p:nvPr/>
        </p:nvSpPr>
        <p:spPr>
          <a:xfrm>
            <a:off x="6537960" y="4919472"/>
            <a:ext cx="5010912" cy="475488"/>
          </a:xfrm>
          <a:prstGeom prst="roundRect">
            <a:avLst>
              <a:gd name="adj" fmla="val 26923"/>
            </a:avLst>
          </a:prstGeom>
          <a:solidFill>
            <a:srgbClr val="FFFFFF"/>
          </a:solidFill>
          <a:ln/>
        </p:spPr>
      </p:sp>
      <p:sp>
        <p:nvSpPr>
          <p:cNvPr id="28" name="Text 26"/>
          <p:cNvSpPr/>
          <p:nvPr/>
        </p:nvSpPr>
        <p:spPr>
          <a:xfrm>
            <a:off x="6766560" y="4919472"/>
            <a:ext cx="822960" cy="475488"/>
          </a:xfrm>
          <a:prstGeom prst="rect">
            <a:avLst/>
          </a:prstGeom>
          <a:noFill/>
          <a:ln/>
        </p:spPr>
        <p:txBody>
          <a:bodyPr wrap="square" lIns="0" tIns="0" rIns="0" bIns="0" rtlCol="0" anchor="ctr"/>
          <a:lstStyle/>
          <a:p>
            <a:pPr indent="0" marL="0">
              <a:buNone/>
            </a:pPr>
            <a:r>
              <a:rPr lang="en-US" sz="1600" b="1" dirty="0">
                <a:solidFill>
                  <a:srgbClr val="0054F0"/>
                </a:solidFill>
                <a:latin typeface="Arial" pitchFamily="34" charset="0"/>
                <a:ea typeface="Arial" pitchFamily="34" charset="-122"/>
                <a:cs typeface="Arial" pitchFamily="34" charset="-120"/>
              </a:rPr>
              <a:t>30</a:t>
            </a:r>
            <a:endParaRPr lang="en-US" sz="1600" dirty="0"/>
          </a:p>
        </p:txBody>
      </p:sp>
      <p:sp>
        <p:nvSpPr>
          <p:cNvPr id="29" name="Text 27"/>
          <p:cNvSpPr/>
          <p:nvPr/>
        </p:nvSpPr>
        <p:spPr>
          <a:xfrm>
            <a:off x="7635240" y="4919472"/>
            <a:ext cx="3657600" cy="475488"/>
          </a:xfrm>
          <a:prstGeom prst="rect">
            <a:avLst/>
          </a:prstGeom>
          <a:noFill/>
          <a:ln/>
        </p:spPr>
        <p:txBody>
          <a:bodyPr wrap="square" lIns="0" tIns="0" rIns="0" bIns="0" rtlCol="0" anchor="ctr"/>
          <a:lstStyle/>
          <a:p>
            <a:pPr indent="0" marL="0">
              <a:buNone/>
            </a:pPr>
            <a:r>
              <a:rPr lang="en-US" sz="1200" dirty="0">
                <a:solidFill>
                  <a:srgbClr val="7A6B60"/>
                </a:solidFill>
                <a:latin typeface="Arial" pitchFamily="34" charset="0"/>
                <a:ea typeface="Arial" pitchFamily="34" charset="-122"/>
                <a:cs typeface="Arial" pitchFamily="34" charset="-120"/>
              </a:rPr>
              <a:t>M — cost-efficiency share</a:t>
            </a:r>
            <a:endParaRPr lang="en-US" sz="1200" dirty="0"/>
          </a:p>
        </p:txBody>
      </p:sp>
      <p:sp>
        <p:nvSpPr>
          <p:cNvPr id="30" name="Shape 28"/>
          <p:cNvSpPr/>
          <p:nvPr/>
        </p:nvSpPr>
        <p:spPr>
          <a:xfrm>
            <a:off x="6537960" y="5495544"/>
            <a:ext cx="5010912" cy="475488"/>
          </a:xfrm>
          <a:prstGeom prst="roundRect">
            <a:avLst>
              <a:gd name="adj" fmla="val 26923"/>
            </a:avLst>
          </a:prstGeom>
          <a:solidFill>
            <a:srgbClr val="FFFFFF"/>
          </a:solidFill>
          <a:ln/>
        </p:spPr>
      </p:sp>
      <p:sp>
        <p:nvSpPr>
          <p:cNvPr id="31" name="Text 29"/>
          <p:cNvSpPr/>
          <p:nvPr/>
        </p:nvSpPr>
        <p:spPr>
          <a:xfrm>
            <a:off x="6766560" y="5495544"/>
            <a:ext cx="822960" cy="475488"/>
          </a:xfrm>
          <a:prstGeom prst="rect">
            <a:avLst/>
          </a:prstGeom>
          <a:noFill/>
          <a:ln/>
        </p:spPr>
        <p:txBody>
          <a:bodyPr wrap="square" lIns="0" tIns="0" rIns="0" bIns="0" rtlCol="0" anchor="ctr"/>
          <a:lstStyle/>
          <a:p>
            <a:pPr indent="0" marL="0">
              <a:buNone/>
            </a:pPr>
            <a:r>
              <a:rPr lang="en-US" sz="1600" b="1" dirty="0">
                <a:solidFill>
                  <a:srgbClr val="331E11"/>
                </a:solidFill>
                <a:latin typeface="Arial" pitchFamily="34" charset="0"/>
                <a:ea typeface="Arial" pitchFamily="34" charset="-122"/>
                <a:cs typeface="Arial" pitchFamily="34" charset="-120"/>
              </a:rPr>
              <a:t>−10</a:t>
            </a:r>
            <a:endParaRPr lang="en-US" sz="1600" dirty="0"/>
          </a:p>
        </p:txBody>
      </p:sp>
      <p:sp>
        <p:nvSpPr>
          <p:cNvPr id="32" name="Text 30"/>
          <p:cNvSpPr/>
          <p:nvPr/>
        </p:nvSpPr>
        <p:spPr>
          <a:xfrm>
            <a:off x="7635240" y="5495544"/>
            <a:ext cx="3657600" cy="475488"/>
          </a:xfrm>
          <a:prstGeom prst="rect">
            <a:avLst/>
          </a:prstGeom>
          <a:noFill/>
          <a:ln/>
        </p:spPr>
        <p:txBody>
          <a:bodyPr wrap="square" lIns="0" tIns="0" rIns="0" bIns="0" rtlCol="0" anchor="ctr"/>
          <a:lstStyle/>
          <a:p>
            <a:pPr indent="0" marL="0">
              <a:buNone/>
            </a:pPr>
            <a:r>
              <a:rPr lang="en-US" sz="1200" dirty="0">
                <a:solidFill>
                  <a:srgbClr val="7A6B60"/>
                </a:solidFill>
                <a:latin typeface="Arial" pitchFamily="34" charset="0"/>
                <a:ea typeface="Arial" pitchFamily="34" charset="-122"/>
                <a:cs typeface="Arial" pitchFamily="34" charset="-120"/>
              </a:rPr>
              <a:t>per critical archetype failure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31E11"/>
        </a:solidFill>
      </p:bgPr>
    </p:bg>
    <p:spTree>
      <p:nvGrpSpPr>
        <p:cNvPr id="1" name=""/>
        <p:cNvGrpSpPr/>
        <p:nvPr/>
      </p:nvGrpSpPr>
      <p:grpSpPr>
        <a:xfrm>
          <a:off x="0" y="0"/>
          <a:ext cx="0" cy="0"/>
          <a:chOff x="0" y="0"/>
          <a:chExt cx="0" cy="0"/>
        </a:xfrm>
      </p:grpSpPr>
      <p:pic>
        <p:nvPicPr>
          <p:cNvPr id="2" name="Image 0" descr="/home/claude/assets/contours.png">    </p:cNvPr>
          <p:cNvPicPr>
            <a:picLocks noChangeAspect="1"/>
          </p:cNvPicPr>
          <p:nvPr/>
        </p:nvPicPr>
        <p:blipFill>
          <a:blip r:embed="rId1">
            <a:alphaModFix amt="38000"/>
          </a:blip>
          <a:stretch>
            <a:fillRect/>
          </a:stretch>
        </p:blipFill>
        <p:spPr>
          <a:xfrm>
            <a:off x="0" y="1828800"/>
            <a:ext cx="12191695" cy="5029200"/>
          </a:xfrm>
          <a:prstGeom prst="rect">
            <a:avLst/>
          </a:prstGeom>
        </p:spPr>
      </p:pic>
      <p:sp>
        <p:nvSpPr>
          <p:cNvPr id="3" name="Shape 0"/>
          <p:cNvSpPr/>
          <p:nvPr/>
        </p:nvSpPr>
        <p:spPr>
          <a:xfrm>
            <a:off x="640080" y="457200"/>
            <a:ext cx="1572768" cy="384048"/>
          </a:xfrm>
          <a:prstGeom prst="roundRect">
            <a:avLst>
              <a:gd name="adj" fmla="val 50000"/>
            </a:avLst>
          </a:prstGeom>
          <a:solidFill>
            <a:srgbClr val="0054F0"/>
          </a:solidFill>
          <a:ln/>
        </p:spPr>
      </p:sp>
      <p:sp>
        <p:nvSpPr>
          <p:cNvPr id="4" name="Text 1"/>
          <p:cNvSpPr/>
          <p:nvPr/>
        </p:nvSpPr>
        <p:spPr>
          <a:xfrm>
            <a:off x="640080" y="457200"/>
            <a:ext cx="1572768" cy="384048"/>
          </a:xfrm>
          <a:prstGeom prst="rect">
            <a:avLst/>
          </a:prstGeom>
          <a:noFill/>
          <a:ln/>
        </p:spPr>
        <p:txBody>
          <a:bodyPr wrap="square" lIns="0" tIns="0" rIns="0" bIns="0" rtlCol="0" anchor="ctr"/>
          <a:lstStyle/>
          <a:p>
            <a:pPr algn="ctr" indent="0" marL="0">
              <a:buNone/>
            </a:pPr>
            <a:r>
              <a:rPr lang="en-US" sz="1200" b="1" spc="140" kern="0" dirty="0">
                <a:solidFill>
                  <a:srgbClr val="FFFFFF"/>
                </a:solidFill>
                <a:latin typeface="Arial" pitchFamily="34" charset="0"/>
                <a:ea typeface="Arial" pitchFamily="34" charset="-122"/>
                <a:cs typeface="Arial" pitchFamily="34" charset="-120"/>
              </a:rPr>
              <a:t>PHASE 5</a:t>
            </a:r>
            <a:endParaRPr lang="en-US" sz="1200" dirty="0"/>
          </a:p>
        </p:txBody>
      </p:sp>
      <p:sp>
        <p:nvSpPr>
          <p:cNvPr id="5" name="Text 2"/>
          <p:cNvSpPr/>
          <p:nvPr/>
        </p:nvSpPr>
        <p:spPr>
          <a:xfrm>
            <a:off x="2395728" y="457200"/>
            <a:ext cx="2743200" cy="384048"/>
          </a:xfrm>
          <a:prstGeom prst="rect">
            <a:avLst/>
          </a:prstGeom>
          <a:noFill/>
          <a:ln/>
        </p:spPr>
        <p:txBody>
          <a:bodyPr wrap="square" lIns="0" tIns="0" rIns="0" bIns="0" rtlCol="0" anchor="ctr"/>
          <a:lstStyle/>
          <a:p>
            <a:pPr indent="0" marL="0">
              <a:buNone/>
            </a:pPr>
            <a:r>
              <a:rPr lang="en-US" sz="1200" b="1" dirty="0">
                <a:solidFill>
                  <a:srgbClr val="E8E0D9"/>
                </a:solidFill>
                <a:latin typeface="Arial" pitchFamily="34" charset="0"/>
                <a:ea typeface="Arial" pitchFamily="34" charset="-122"/>
                <a:cs typeface="Arial" pitchFamily="34" charset="-120"/>
              </a:rPr>
              <a:t>10 min</a:t>
            </a:r>
            <a:endParaRPr lang="en-US" sz="1200" dirty="0"/>
          </a:p>
        </p:txBody>
      </p:sp>
      <p:sp>
        <p:nvSpPr>
          <p:cNvPr id="6" name="Text 3"/>
          <p:cNvSpPr/>
          <p:nvPr/>
        </p:nvSpPr>
        <p:spPr>
          <a:xfrm>
            <a:off x="6522415" y="457200"/>
            <a:ext cx="5029200" cy="384048"/>
          </a:xfrm>
          <a:prstGeom prst="rect">
            <a:avLst/>
          </a:prstGeom>
          <a:noFill/>
          <a:ln/>
        </p:spPr>
        <p:txBody>
          <a:bodyPr wrap="square" lIns="0" tIns="0" rIns="0" bIns="0" rtlCol="0" anchor="ctr"/>
          <a:lstStyle/>
          <a:p>
            <a:pPr algn="r" indent="0" marL="0">
              <a:buNone/>
            </a:pPr>
            <a:r>
              <a:rPr lang="en-US" sz="1100" b="1" spc="180" kern="0" dirty="0">
                <a:solidFill>
                  <a:srgbClr val="D6E3FF"/>
                </a:solidFill>
                <a:latin typeface="Arial" pitchFamily="34" charset="0"/>
                <a:ea typeface="Arial" pitchFamily="34" charset="-122"/>
                <a:cs typeface="Arial" pitchFamily="34" charset="-120"/>
              </a:rPr>
              <a:t>LEADERBOARD &amp; DEBRIEF</a:t>
            </a:r>
            <a:endParaRPr lang="en-US" sz="1100" dirty="0"/>
          </a:p>
        </p:txBody>
      </p:sp>
      <p:sp>
        <p:nvSpPr>
          <p:cNvPr id="7" name="Text 4"/>
          <p:cNvSpPr/>
          <p:nvPr/>
        </p:nvSpPr>
        <p:spPr>
          <a:xfrm>
            <a:off x="640080" y="987552"/>
            <a:ext cx="10881360" cy="685800"/>
          </a:xfrm>
          <a:prstGeom prst="rect">
            <a:avLst/>
          </a:prstGeom>
          <a:noFill/>
          <a:ln/>
        </p:spPr>
        <p:txBody>
          <a:bodyPr wrap="square" lIns="0" tIns="0" rIns="0" bIns="0" rtlCol="0" anchor="t"/>
          <a:lstStyle/>
          <a:p>
            <a:pPr indent="0" marL="0">
              <a:buNone/>
            </a:pPr>
            <a:r>
              <a:rPr lang="en-US" sz="3300" b="1" dirty="0">
                <a:solidFill>
                  <a:srgbClr val="FAF9F7"/>
                </a:solidFill>
                <a:latin typeface="Arial" pitchFamily="34" charset="0"/>
                <a:ea typeface="Arial" pitchFamily="34" charset="-122"/>
                <a:cs typeface="Arial" pitchFamily="34" charset="-120"/>
              </a:rPr>
              <a:t>Scoring, ranking and retro</a:t>
            </a:r>
            <a:endParaRPr lang="en-US" sz="3300" dirty="0"/>
          </a:p>
        </p:txBody>
      </p:sp>
      <p:sp>
        <p:nvSpPr>
          <p:cNvPr id="8" name="Text 5"/>
          <p:cNvSpPr/>
          <p:nvPr/>
        </p:nvSpPr>
        <p:spPr>
          <a:xfrm>
            <a:off x="640080" y="1828800"/>
            <a:ext cx="5623560"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WHAT HAPPENS</a:t>
            </a:r>
            <a:endParaRPr lang="en-US" sz="1000" dirty="0"/>
          </a:p>
        </p:txBody>
      </p:sp>
      <p:sp>
        <p:nvSpPr>
          <p:cNvPr id="9" name="Shape 6"/>
          <p:cNvSpPr/>
          <p:nvPr/>
        </p:nvSpPr>
        <p:spPr>
          <a:xfrm>
            <a:off x="640080" y="2231136"/>
            <a:ext cx="329184" cy="329184"/>
          </a:xfrm>
          <a:prstGeom prst="ellipse">
            <a:avLst/>
          </a:prstGeom>
          <a:solidFill>
            <a:srgbClr val="5C4536"/>
          </a:solidFill>
          <a:ln/>
        </p:spPr>
      </p:sp>
      <p:sp>
        <p:nvSpPr>
          <p:cNvPr id="10" name="Text 7"/>
          <p:cNvSpPr/>
          <p:nvPr/>
        </p:nvSpPr>
        <p:spPr>
          <a:xfrm>
            <a:off x="640080" y="2231136"/>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1</a:t>
            </a:r>
            <a:endParaRPr lang="en-US" sz="1200" dirty="0"/>
          </a:p>
        </p:txBody>
      </p:sp>
      <p:sp>
        <p:nvSpPr>
          <p:cNvPr id="11" name="Text 8"/>
          <p:cNvSpPr/>
          <p:nvPr/>
        </p:nvSpPr>
        <p:spPr>
          <a:xfrm>
            <a:off x="1133856" y="2194560"/>
            <a:ext cx="5129784" cy="420624"/>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Each team submits their V4 output for all ten cases.</a:t>
            </a:r>
            <a:endParaRPr lang="en-US" sz="1250" dirty="0"/>
          </a:p>
        </p:txBody>
      </p:sp>
      <p:sp>
        <p:nvSpPr>
          <p:cNvPr id="12" name="Shape 9"/>
          <p:cNvSpPr/>
          <p:nvPr/>
        </p:nvSpPr>
        <p:spPr>
          <a:xfrm>
            <a:off x="640080" y="2798064"/>
            <a:ext cx="329184" cy="329184"/>
          </a:xfrm>
          <a:prstGeom prst="ellipse">
            <a:avLst/>
          </a:prstGeom>
          <a:solidFill>
            <a:srgbClr val="5C4536"/>
          </a:solidFill>
          <a:ln/>
        </p:spPr>
      </p:sp>
      <p:sp>
        <p:nvSpPr>
          <p:cNvPr id="13" name="Text 10"/>
          <p:cNvSpPr/>
          <p:nvPr/>
        </p:nvSpPr>
        <p:spPr>
          <a:xfrm>
            <a:off x="640080" y="2798064"/>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2</a:t>
            </a:r>
            <a:endParaRPr lang="en-US" sz="1200" dirty="0"/>
          </a:p>
        </p:txBody>
      </p:sp>
      <p:sp>
        <p:nvSpPr>
          <p:cNvPr id="14" name="Text 11"/>
          <p:cNvSpPr/>
          <p:nvPr/>
        </p:nvSpPr>
        <p:spPr>
          <a:xfrm>
            <a:off x="1133856" y="2761488"/>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Facilitator scores against evaluation/expected-results.md and the rubric.</a:t>
            </a:r>
            <a:endParaRPr lang="en-US" sz="1250" dirty="0"/>
          </a:p>
        </p:txBody>
      </p:sp>
      <p:sp>
        <p:nvSpPr>
          <p:cNvPr id="15" name="Shape 12"/>
          <p:cNvSpPr/>
          <p:nvPr/>
        </p:nvSpPr>
        <p:spPr>
          <a:xfrm>
            <a:off x="640080" y="3529584"/>
            <a:ext cx="329184" cy="329184"/>
          </a:xfrm>
          <a:prstGeom prst="ellipse">
            <a:avLst/>
          </a:prstGeom>
          <a:solidFill>
            <a:srgbClr val="5C4536"/>
          </a:solidFill>
          <a:ln/>
        </p:spPr>
      </p:sp>
      <p:sp>
        <p:nvSpPr>
          <p:cNvPr id="16" name="Text 13"/>
          <p:cNvSpPr/>
          <p:nvPr/>
        </p:nvSpPr>
        <p:spPr>
          <a:xfrm>
            <a:off x="640080" y="3529584"/>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3</a:t>
            </a:r>
            <a:endParaRPr lang="en-US" sz="1200" dirty="0"/>
          </a:p>
        </p:txBody>
      </p:sp>
      <p:sp>
        <p:nvSpPr>
          <p:cNvPr id="17" name="Text 14"/>
          <p:cNvSpPr/>
          <p:nvPr/>
        </p:nvSpPr>
        <p:spPr>
          <a:xfrm>
            <a:off x="1133856" y="3493008"/>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FinalScore computed per formula. Leaderboard displayed live.</a:t>
            </a:r>
            <a:endParaRPr lang="en-US" sz="1250" dirty="0"/>
          </a:p>
        </p:txBody>
      </p:sp>
      <p:sp>
        <p:nvSpPr>
          <p:cNvPr id="18" name="Shape 15"/>
          <p:cNvSpPr/>
          <p:nvPr/>
        </p:nvSpPr>
        <p:spPr>
          <a:xfrm>
            <a:off x="640080" y="4261104"/>
            <a:ext cx="329184" cy="329184"/>
          </a:xfrm>
          <a:prstGeom prst="ellipse">
            <a:avLst/>
          </a:prstGeom>
          <a:solidFill>
            <a:srgbClr val="5C4536"/>
          </a:solidFill>
          <a:ln/>
        </p:spPr>
      </p:sp>
      <p:sp>
        <p:nvSpPr>
          <p:cNvPr id="19" name="Text 16"/>
          <p:cNvSpPr/>
          <p:nvPr/>
        </p:nvSpPr>
        <p:spPr>
          <a:xfrm>
            <a:off x="640080" y="4261104"/>
            <a:ext cx="329184" cy="329184"/>
          </a:xfrm>
          <a:prstGeom prst="rect">
            <a:avLst/>
          </a:prstGeom>
          <a:noFill/>
          <a:ln/>
        </p:spPr>
        <p:txBody>
          <a:bodyPr wrap="square" lIns="0" tIns="0" rIns="0" bIns="0" rtlCol="0" anchor="ctr"/>
          <a:lstStyle/>
          <a:p>
            <a:pPr algn="ctr" indent="0" marL="0">
              <a:buNone/>
            </a:pPr>
            <a:r>
              <a:rPr lang="en-US" sz="1200" b="1" dirty="0">
                <a:solidFill>
                  <a:srgbClr val="E8E0D9"/>
                </a:solidFill>
                <a:latin typeface="Arial" pitchFamily="34" charset="0"/>
                <a:ea typeface="Arial" pitchFamily="34" charset="-122"/>
                <a:cs typeface="Arial" pitchFamily="34" charset="-120"/>
              </a:rPr>
              <a:t>4</a:t>
            </a:r>
            <a:endParaRPr lang="en-US" sz="1200" dirty="0"/>
          </a:p>
        </p:txBody>
      </p:sp>
      <p:sp>
        <p:nvSpPr>
          <p:cNvPr id="20" name="Text 17"/>
          <p:cNvSpPr/>
          <p:nvPr/>
        </p:nvSpPr>
        <p:spPr>
          <a:xfrm>
            <a:off x="1133856" y="4224528"/>
            <a:ext cx="5129784" cy="585216"/>
          </a:xfrm>
          <a:prstGeom prst="rect">
            <a:avLst/>
          </a:prstGeom>
          <a:noFill/>
          <a:ln/>
        </p:spPr>
        <p:txBody>
          <a:bodyPr wrap="square" lIns="0" tIns="0" rIns="0" bIns="0" rtlCol="0" anchor="ctr"/>
          <a:lstStyle/>
          <a:p>
            <a:pPr indent="0" marL="0">
              <a:lnSpc>
                <a:spcPts val="1600"/>
              </a:lnSpc>
              <a:buNone/>
            </a:pPr>
            <a:r>
              <a:rPr lang="en-US" sz="1250" dirty="0">
                <a:solidFill>
                  <a:srgbClr val="E8E0D9"/>
                </a:solidFill>
                <a:latin typeface="Arial" pitchFamily="34" charset="0"/>
                <a:ea typeface="Arial" pitchFamily="34" charset="-122"/>
                <a:cs typeface="Arial" pitchFamily="34" charset="-120"/>
              </a:rPr>
              <a:t>Retro: what surprised you, and what would you keep for real work?</a:t>
            </a:r>
            <a:endParaRPr lang="en-US" sz="1250" dirty="0"/>
          </a:p>
        </p:txBody>
      </p:sp>
      <p:sp>
        <p:nvSpPr>
          <p:cNvPr id="21" name="Text 18"/>
          <p:cNvSpPr/>
          <p:nvPr/>
        </p:nvSpPr>
        <p:spPr>
          <a:xfrm>
            <a:off x="6537960" y="1828800"/>
            <a:ext cx="5013655" cy="256032"/>
          </a:xfrm>
          <a:prstGeom prst="rect">
            <a:avLst/>
          </a:prstGeom>
          <a:noFill/>
          <a:ln/>
        </p:spPr>
        <p:txBody>
          <a:bodyPr wrap="square" lIns="0" tIns="0" rIns="0" bIns="0" rtlCol="0" anchor="ctr"/>
          <a:lstStyle/>
          <a:p>
            <a:pPr indent="0" marL="0">
              <a:buNone/>
            </a:pPr>
            <a:r>
              <a:rPr lang="en-US" sz="1000" b="1" spc="160" kern="0" dirty="0">
                <a:solidFill>
                  <a:srgbClr val="0054F0"/>
                </a:solidFill>
                <a:latin typeface="Arial" pitchFamily="34" charset="0"/>
                <a:ea typeface="Arial" pitchFamily="34" charset="-122"/>
                <a:cs typeface="Arial" pitchFamily="34" charset="-120"/>
              </a:rPr>
              <a:t>THE DEBRIEF QUESTIONS</a:t>
            </a:r>
            <a:endParaRPr lang="en-US" sz="1000" dirty="0"/>
          </a:p>
        </p:txBody>
      </p:sp>
      <p:sp>
        <p:nvSpPr>
          <p:cNvPr id="22" name="Shape 19"/>
          <p:cNvSpPr/>
          <p:nvPr/>
        </p:nvSpPr>
        <p:spPr>
          <a:xfrm>
            <a:off x="6574536" y="2276856"/>
            <a:ext cx="118872" cy="118872"/>
          </a:xfrm>
          <a:prstGeom prst="ellipse">
            <a:avLst/>
          </a:prstGeom>
          <a:solidFill>
            <a:srgbClr val="0054F0"/>
          </a:solidFill>
          <a:ln/>
        </p:spPr>
      </p:sp>
      <p:sp>
        <p:nvSpPr>
          <p:cNvPr id="23" name="Text 20"/>
          <p:cNvSpPr/>
          <p:nvPr/>
        </p:nvSpPr>
        <p:spPr>
          <a:xfrm>
            <a:off x="6848856" y="2194560"/>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Where did your token count drop most — and was it where you expected?</a:t>
            </a:r>
            <a:endParaRPr lang="en-US" sz="1250" dirty="0"/>
          </a:p>
        </p:txBody>
      </p:sp>
      <p:sp>
        <p:nvSpPr>
          <p:cNvPr id="24" name="Shape 21"/>
          <p:cNvSpPr/>
          <p:nvPr/>
        </p:nvSpPr>
        <p:spPr>
          <a:xfrm>
            <a:off x="6574536" y="2953512"/>
            <a:ext cx="118872" cy="118872"/>
          </a:xfrm>
          <a:prstGeom prst="ellipse">
            <a:avLst/>
          </a:prstGeom>
          <a:solidFill>
            <a:srgbClr val="0054F0"/>
          </a:solidFill>
          <a:ln/>
        </p:spPr>
      </p:sp>
      <p:sp>
        <p:nvSpPr>
          <p:cNvPr id="25" name="Text 22"/>
          <p:cNvSpPr/>
          <p:nvPr/>
        </p:nvSpPr>
        <p:spPr>
          <a:xfrm>
            <a:off x="6848856" y="2871216"/>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Which archetype caught you, and what would have caught it earlier?</a:t>
            </a:r>
            <a:endParaRPr lang="en-US" sz="1250" dirty="0"/>
          </a:p>
        </p:txBody>
      </p:sp>
      <p:sp>
        <p:nvSpPr>
          <p:cNvPr id="26" name="Shape 23"/>
          <p:cNvSpPr/>
          <p:nvPr/>
        </p:nvSpPr>
        <p:spPr>
          <a:xfrm>
            <a:off x="6574536" y="3630168"/>
            <a:ext cx="118872" cy="118872"/>
          </a:xfrm>
          <a:prstGeom prst="ellipse">
            <a:avLst/>
          </a:prstGeom>
          <a:solidFill>
            <a:srgbClr val="0054F0"/>
          </a:solidFill>
          <a:ln/>
        </p:spPr>
      </p:sp>
      <p:sp>
        <p:nvSpPr>
          <p:cNvPr id="27" name="Text 24"/>
          <p:cNvSpPr/>
          <p:nvPr/>
        </p:nvSpPr>
        <p:spPr>
          <a:xfrm>
            <a:off x="6848856" y="3547872"/>
            <a:ext cx="4702759" cy="566928"/>
          </a:xfrm>
          <a:prstGeom prst="rect">
            <a:avLst/>
          </a:prstGeom>
          <a:noFill/>
          <a:ln/>
        </p:spPr>
        <p:txBody>
          <a:bodyPr wrap="square" lIns="0" tIns="0" rIns="0" bIns="0" rtlCol="0" anchor="t"/>
          <a:lstStyle/>
          <a:p>
            <a:pPr indent="0" marL="0">
              <a:lnSpc>
                <a:spcPts val="1700"/>
              </a:lnSpc>
              <a:buNone/>
            </a:pPr>
            <a:r>
              <a:rPr lang="en-US" sz="1250" dirty="0">
                <a:solidFill>
                  <a:srgbClr val="FAF9F7"/>
                </a:solidFill>
                <a:latin typeface="Arial" pitchFamily="34" charset="0"/>
                <a:ea typeface="Arial" pitchFamily="34" charset="-122"/>
                <a:cs typeface="Arial" pitchFamily="34" charset="-120"/>
              </a:rPr>
              <a:t>What would you take back to a real agent on Monday?</a:t>
            </a:r>
            <a:endParaRPr lang="en-US" sz="1250" dirty="0"/>
          </a:p>
        </p:txBody>
      </p:sp>
      <p:sp>
        <p:nvSpPr>
          <p:cNvPr id="28" name="Shape 25"/>
          <p:cNvSpPr/>
          <p:nvPr/>
        </p:nvSpPr>
        <p:spPr>
          <a:xfrm>
            <a:off x="6537960" y="4709160"/>
            <a:ext cx="5013655" cy="960120"/>
          </a:xfrm>
          <a:prstGeom prst="roundRect">
            <a:avLst>
              <a:gd name="adj" fmla="val 11429"/>
            </a:avLst>
          </a:prstGeom>
          <a:solidFill>
            <a:srgbClr val="0054F0"/>
          </a:solidFill>
          <a:ln/>
        </p:spPr>
      </p:sp>
      <p:sp>
        <p:nvSpPr>
          <p:cNvPr id="29" name="Text 26"/>
          <p:cNvSpPr/>
          <p:nvPr/>
        </p:nvSpPr>
        <p:spPr>
          <a:xfrm>
            <a:off x="6812280" y="4709160"/>
            <a:ext cx="4465015" cy="960120"/>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Arial" pitchFamily="34" charset="0"/>
                <a:ea typeface="Arial" pitchFamily="34" charset="-122"/>
                <a:cs typeface="Arial" pitchFamily="34" charset="-120"/>
              </a:rPr>
              <a:t>The leaderboard is the hook. The retro is the part that survives the afternoon.</a:t>
            </a:r>
            <a:endParaRPr lang="en-US" sz="1350" dirty="0"/>
          </a:p>
        </p:txBody>
      </p:sp>
      <p:sp>
        <p:nvSpPr>
          <p:cNvPr id="30" name="Text 27"/>
          <p:cNvSpPr/>
          <p:nvPr/>
        </p:nvSpPr>
        <p:spPr>
          <a:xfrm>
            <a:off x="6537960" y="5779008"/>
            <a:ext cx="5013655" cy="548640"/>
          </a:xfrm>
          <a:prstGeom prst="rect">
            <a:avLst/>
          </a:prstGeom>
          <a:noFill/>
          <a:ln/>
        </p:spPr>
        <p:txBody>
          <a:bodyPr wrap="square" lIns="0" tIns="0" rIns="0" bIns="0" rtlCol="0" anchor="t"/>
          <a:lstStyle/>
          <a:p>
            <a:pPr indent="0" marL="0">
              <a:lnSpc>
                <a:spcPts val="1400"/>
              </a:lnSpc>
              <a:buNone/>
            </a:pPr>
            <a:r>
              <a:rPr lang="en-US" sz="1050" i="1" dirty="0">
                <a:solidFill>
                  <a:srgbClr val="9E8B7C"/>
                </a:solidFill>
                <a:latin typeface="Arial" pitchFamily="34" charset="0"/>
                <a:ea typeface="Arial" pitchFamily="34" charset="-122"/>
                <a:cs typeface="Arial" pitchFamily="34" charset="-120"/>
              </a:rPr>
              <a:t>Ten minutes goes fast. Score during Phase 4 as submissions arrive, not after the clock stops.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8E0D9"/>
        </a:solidFill>
      </p:bgPr>
    </p:bg>
    <p:spTree>
      <p:nvGrpSpPr>
        <p:cNvPr id="1" name=""/>
        <p:cNvGrpSpPr/>
        <p:nvPr/>
      </p:nvGrpSpPr>
      <p:grpSpPr>
        <a:xfrm>
          <a:off x="0" y="0"/>
          <a:ext cx="0" cy="0"/>
          <a:chOff x="0" y="0"/>
          <a:chExt cx="0" cy="0"/>
        </a:xfrm>
      </p:grpSpPr>
      <p:sp>
        <p:nvSpPr>
          <p:cNvPr id="2" name="Text 0"/>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24</a:t>
            </a:r>
            <a:endParaRPr lang="en-US" sz="1000" dirty="0"/>
          </a:p>
        </p:txBody>
      </p:sp>
      <p:sp>
        <p:nvSpPr>
          <p:cNvPr id="3" name="Text 1"/>
          <p:cNvSpPr/>
          <p:nvPr/>
        </p:nvSpPr>
        <p:spPr>
          <a:xfrm>
            <a:off x="640080" y="475488"/>
            <a:ext cx="8229600" cy="274320"/>
          </a:xfrm>
          <a:prstGeom prst="rect">
            <a:avLst/>
          </a:prstGeom>
          <a:noFill/>
          <a:ln/>
        </p:spPr>
        <p:txBody>
          <a:bodyPr wrap="square" lIns="0" tIns="0" rIns="0" bIns="0" rtlCol="0" anchor="ctr"/>
          <a:lstStyle/>
          <a:p>
            <a:pPr indent="0" marL="0">
              <a:buNone/>
            </a:pPr>
            <a:r>
              <a:rPr lang="en-US" sz="1150" b="1" spc="220" kern="0" dirty="0">
                <a:solidFill>
                  <a:srgbClr val="0054F0"/>
                </a:solidFill>
                <a:latin typeface="Arial" pitchFamily="34" charset="0"/>
                <a:ea typeface="Arial" pitchFamily="34" charset="-122"/>
                <a:cs typeface="Arial" pitchFamily="34" charset="-120"/>
              </a:rPr>
              <a:t>HOW THE RANKING WORKS</a:t>
            </a:r>
            <a:endParaRPr lang="en-US" sz="115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lnSpc>
                <a:spcPts val="4032"/>
              </a:lnSpc>
              <a:buNone/>
            </a:pPr>
            <a:r>
              <a:rPr lang="en-US" sz="3600" b="1" dirty="0">
                <a:solidFill>
                  <a:srgbClr val="331E11"/>
                </a:solidFill>
                <a:latin typeface="Arial" pitchFamily="34" charset="0"/>
                <a:ea typeface="Arial" pitchFamily="34" charset="-122"/>
                <a:cs typeface="Arial" pitchFamily="34" charset="-120"/>
              </a:rPr>
              <a:t>Leaderboard mechanics</a:t>
            </a:r>
            <a:endParaRPr lang="en-US" sz="3600" dirty="0"/>
          </a:p>
        </p:txBody>
      </p:sp>
      <p:sp>
        <p:nvSpPr>
          <p:cNvPr id="5" name="Shape 3"/>
          <p:cNvSpPr/>
          <p:nvPr/>
        </p:nvSpPr>
        <p:spPr>
          <a:xfrm>
            <a:off x="640080" y="2103120"/>
            <a:ext cx="2624328" cy="2468880"/>
          </a:xfrm>
          <a:prstGeom prst="roundRect">
            <a:avLst>
              <a:gd name="adj" fmla="val 5185"/>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6" name="Shape 4"/>
          <p:cNvSpPr/>
          <p:nvPr/>
        </p:nvSpPr>
        <p:spPr>
          <a:xfrm>
            <a:off x="960120" y="2377440"/>
            <a:ext cx="566928" cy="566928"/>
          </a:xfrm>
          <a:prstGeom prst="ellipse">
            <a:avLst/>
          </a:prstGeom>
          <a:solidFill>
            <a:srgbClr val="0054F0"/>
          </a:solidFill>
          <a:ln/>
        </p:spPr>
      </p:sp>
      <p:pic>
        <p:nvPicPr>
          <p:cNvPr id="7" name="Image 0" descr="/home/claude/assets/ic_file_pampas.png">    </p:cNvPr>
          <p:cNvPicPr>
            <a:picLocks noChangeAspect="1"/>
          </p:cNvPicPr>
          <p:nvPr/>
        </p:nvPicPr>
        <p:blipFill>
          <a:blip r:embed="rId1"/>
          <a:stretch>
            <a:fillRect/>
          </a:stretch>
        </p:blipFill>
        <p:spPr>
          <a:xfrm>
            <a:off x="1107521" y="2524841"/>
            <a:ext cx="272125" cy="272125"/>
          </a:xfrm>
          <a:prstGeom prst="rect">
            <a:avLst/>
          </a:prstGeom>
        </p:spPr>
      </p:pic>
      <p:sp>
        <p:nvSpPr>
          <p:cNvPr id="8" name="Text 5"/>
          <p:cNvSpPr/>
          <p:nvPr/>
        </p:nvSpPr>
        <p:spPr>
          <a:xfrm>
            <a:off x="960120" y="3090672"/>
            <a:ext cx="1984248" cy="384048"/>
          </a:xfrm>
          <a:prstGeom prst="rect">
            <a:avLst/>
          </a:prstGeom>
          <a:noFill/>
          <a:ln/>
        </p:spPr>
        <p:txBody>
          <a:bodyPr wrap="square" lIns="0" tIns="0" rIns="0" bIns="0" rtlCol="0" anchor="ctr"/>
          <a:lstStyle/>
          <a:p>
            <a:pPr indent="0" marL="0">
              <a:buNone/>
            </a:pPr>
            <a:r>
              <a:rPr lang="en-US" sz="1700" b="1" dirty="0">
                <a:solidFill>
                  <a:srgbClr val="331E11"/>
                </a:solidFill>
                <a:latin typeface="Arial" pitchFamily="34" charset="0"/>
                <a:ea typeface="Arial" pitchFamily="34" charset="-122"/>
                <a:cs typeface="Arial" pitchFamily="34" charset="-120"/>
              </a:rPr>
              <a:t>Submit</a:t>
            </a:r>
            <a:endParaRPr lang="en-US" sz="1700" dirty="0"/>
          </a:p>
        </p:txBody>
      </p:sp>
      <p:sp>
        <p:nvSpPr>
          <p:cNvPr id="9" name="Text 6"/>
          <p:cNvSpPr/>
          <p:nvPr/>
        </p:nvSpPr>
        <p:spPr>
          <a:xfrm>
            <a:off x="960120" y="3520440"/>
            <a:ext cx="1984248" cy="91440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Each team submits their V4 agent output for all ten cases.</a:t>
            </a:r>
            <a:endParaRPr lang="en-US" sz="1150" dirty="0"/>
          </a:p>
        </p:txBody>
      </p:sp>
      <p:sp>
        <p:nvSpPr>
          <p:cNvPr id="10" name="Text 7"/>
          <p:cNvSpPr/>
          <p:nvPr/>
        </p:nvSpPr>
        <p:spPr>
          <a:xfrm>
            <a:off x="3282696" y="3017520"/>
            <a:ext cx="219456" cy="365760"/>
          </a:xfrm>
          <a:prstGeom prst="rect">
            <a:avLst/>
          </a:prstGeom>
          <a:noFill/>
          <a:ln/>
        </p:spPr>
        <p:txBody>
          <a:bodyPr wrap="square" lIns="0" tIns="0" rIns="0" bIns="0" rtlCol="0" anchor="ctr"/>
          <a:lstStyle/>
          <a:p>
            <a:pPr algn="ctr" indent="0" marL="0">
              <a:buNone/>
            </a:pPr>
            <a:r>
              <a:rPr lang="en-US" sz="1700" dirty="0">
                <a:solidFill>
                  <a:srgbClr val="D9CEC3"/>
                </a:solidFill>
                <a:latin typeface="Arial" pitchFamily="34" charset="0"/>
                <a:ea typeface="Arial" pitchFamily="34" charset="-122"/>
                <a:cs typeface="Arial" pitchFamily="34" charset="-120"/>
              </a:rPr>
              <a:t>→</a:t>
            </a:r>
            <a:endParaRPr lang="en-US" sz="1700" dirty="0"/>
          </a:p>
        </p:txBody>
      </p:sp>
      <p:sp>
        <p:nvSpPr>
          <p:cNvPr id="11" name="Shape 8"/>
          <p:cNvSpPr/>
          <p:nvPr/>
        </p:nvSpPr>
        <p:spPr>
          <a:xfrm>
            <a:off x="3520440" y="2103120"/>
            <a:ext cx="2624328" cy="2468880"/>
          </a:xfrm>
          <a:prstGeom prst="roundRect">
            <a:avLst>
              <a:gd name="adj" fmla="val 5185"/>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2" name="Shape 9"/>
          <p:cNvSpPr/>
          <p:nvPr/>
        </p:nvSpPr>
        <p:spPr>
          <a:xfrm>
            <a:off x="3840480" y="2377440"/>
            <a:ext cx="566928" cy="566928"/>
          </a:xfrm>
          <a:prstGeom prst="ellipse">
            <a:avLst/>
          </a:prstGeom>
          <a:solidFill>
            <a:srgbClr val="0054F0"/>
          </a:solidFill>
          <a:ln/>
        </p:spPr>
      </p:sp>
      <p:pic>
        <p:nvPicPr>
          <p:cNvPr id="13" name="Image 1" descr="/home/claude/assets/ic_check_pampas.png">    </p:cNvPr>
          <p:cNvPicPr>
            <a:picLocks noChangeAspect="1"/>
          </p:cNvPicPr>
          <p:nvPr/>
        </p:nvPicPr>
        <p:blipFill>
          <a:blip r:embed="rId2"/>
          <a:stretch>
            <a:fillRect/>
          </a:stretch>
        </p:blipFill>
        <p:spPr>
          <a:xfrm>
            <a:off x="3987881" y="2524841"/>
            <a:ext cx="272125" cy="272125"/>
          </a:xfrm>
          <a:prstGeom prst="rect">
            <a:avLst/>
          </a:prstGeom>
        </p:spPr>
      </p:pic>
      <p:sp>
        <p:nvSpPr>
          <p:cNvPr id="14" name="Text 10"/>
          <p:cNvSpPr/>
          <p:nvPr/>
        </p:nvSpPr>
        <p:spPr>
          <a:xfrm>
            <a:off x="3840480" y="3090672"/>
            <a:ext cx="1984248" cy="384048"/>
          </a:xfrm>
          <a:prstGeom prst="rect">
            <a:avLst/>
          </a:prstGeom>
          <a:noFill/>
          <a:ln/>
        </p:spPr>
        <p:txBody>
          <a:bodyPr wrap="square" lIns="0" tIns="0" rIns="0" bIns="0" rtlCol="0" anchor="ctr"/>
          <a:lstStyle/>
          <a:p>
            <a:pPr indent="0" marL="0">
              <a:buNone/>
            </a:pPr>
            <a:r>
              <a:rPr lang="en-US" sz="1700" b="1" dirty="0">
                <a:solidFill>
                  <a:srgbClr val="331E11"/>
                </a:solidFill>
                <a:latin typeface="Arial" pitchFamily="34" charset="0"/>
                <a:ea typeface="Arial" pitchFamily="34" charset="-122"/>
                <a:cs typeface="Arial" pitchFamily="34" charset="-120"/>
              </a:rPr>
              <a:t>Score</a:t>
            </a:r>
            <a:endParaRPr lang="en-US" sz="1700" dirty="0"/>
          </a:p>
        </p:txBody>
      </p:sp>
      <p:sp>
        <p:nvSpPr>
          <p:cNvPr id="15" name="Text 11"/>
          <p:cNvSpPr/>
          <p:nvPr/>
        </p:nvSpPr>
        <p:spPr>
          <a:xfrm>
            <a:off x="3840480" y="3520440"/>
            <a:ext cx="1984248" cy="91440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Facilitator scores against expected-results.md and the 20-point rubric.</a:t>
            </a:r>
            <a:endParaRPr lang="en-US" sz="1150" dirty="0"/>
          </a:p>
        </p:txBody>
      </p:sp>
      <p:sp>
        <p:nvSpPr>
          <p:cNvPr id="16" name="Text 12"/>
          <p:cNvSpPr/>
          <p:nvPr/>
        </p:nvSpPr>
        <p:spPr>
          <a:xfrm>
            <a:off x="6163056" y="3017520"/>
            <a:ext cx="219456" cy="365760"/>
          </a:xfrm>
          <a:prstGeom prst="rect">
            <a:avLst/>
          </a:prstGeom>
          <a:noFill/>
          <a:ln/>
        </p:spPr>
        <p:txBody>
          <a:bodyPr wrap="square" lIns="0" tIns="0" rIns="0" bIns="0" rtlCol="0" anchor="ctr"/>
          <a:lstStyle/>
          <a:p>
            <a:pPr algn="ctr" indent="0" marL="0">
              <a:buNone/>
            </a:pPr>
            <a:r>
              <a:rPr lang="en-US" sz="1700" dirty="0">
                <a:solidFill>
                  <a:srgbClr val="D9CEC3"/>
                </a:solidFill>
                <a:latin typeface="Arial" pitchFamily="34" charset="0"/>
                <a:ea typeface="Arial" pitchFamily="34" charset="-122"/>
                <a:cs typeface="Arial" pitchFamily="34" charset="-120"/>
              </a:rPr>
              <a:t>→</a:t>
            </a:r>
            <a:endParaRPr lang="en-US" sz="1700" dirty="0"/>
          </a:p>
        </p:txBody>
      </p:sp>
      <p:sp>
        <p:nvSpPr>
          <p:cNvPr id="17" name="Shape 13"/>
          <p:cNvSpPr/>
          <p:nvPr/>
        </p:nvSpPr>
        <p:spPr>
          <a:xfrm>
            <a:off x="6400800" y="2103120"/>
            <a:ext cx="2624328" cy="2468880"/>
          </a:xfrm>
          <a:prstGeom prst="roundRect">
            <a:avLst>
              <a:gd name="adj" fmla="val 5185"/>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18" name="Shape 14"/>
          <p:cNvSpPr/>
          <p:nvPr/>
        </p:nvSpPr>
        <p:spPr>
          <a:xfrm>
            <a:off x="6720840" y="2377440"/>
            <a:ext cx="566928" cy="566928"/>
          </a:xfrm>
          <a:prstGeom prst="ellipse">
            <a:avLst/>
          </a:prstGeom>
          <a:solidFill>
            <a:srgbClr val="0054F0"/>
          </a:solidFill>
          <a:ln/>
        </p:spPr>
      </p:sp>
      <p:pic>
        <p:nvPicPr>
          <p:cNvPr id="19" name="Image 2" descr="/home/claude/assets/ic_scale_pampas.png">    </p:cNvPr>
          <p:cNvPicPr>
            <a:picLocks noChangeAspect="1"/>
          </p:cNvPicPr>
          <p:nvPr/>
        </p:nvPicPr>
        <p:blipFill>
          <a:blip r:embed="rId3"/>
          <a:stretch>
            <a:fillRect/>
          </a:stretch>
        </p:blipFill>
        <p:spPr>
          <a:xfrm>
            <a:off x="6868241" y="2524841"/>
            <a:ext cx="272125" cy="272125"/>
          </a:xfrm>
          <a:prstGeom prst="rect">
            <a:avLst/>
          </a:prstGeom>
        </p:spPr>
      </p:pic>
      <p:sp>
        <p:nvSpPr>
          <p:cNvPr id="20" name="Text 15"/>
          <p:cNvSpPr/>
          <p:nvPr/>
        </p:nvSpPr>
        <p:spPr>
          <a:xfrm>
            <a:off x="6720840" y="3090672"/>
            <a:ext cx="1984248" cy="384048"/>
          </a:xfrm>
          <a:prstGeom prst="rect">
            <a:avLst/>
          </a:prstGeom>
          <a:noFill/>
          <a:ln/>
        </p:spPr>
        <p:txBody>
          <a:bodyPr wrap="square" lIns="0" tIns="0" rIns="0" bIns="0" rtlCol="0" anchor="ctr"/>
          <a:lstStyle/>
          <a:p>
            <a:pPr indent="0" marL="0">
              <a:buNone/>
            </a:pPr>
            <a:r>
              <a:rPr lang="en-US" sz="1700" b="1" dirty="0">
                <a:solidFill>
                  <a:srgbClr val="331E11"/>
                </a:solidFill>
                <a:latin typeface="Arial" pitchFamily="34" charset="0"/>
                <a:ea typeface="Arial" pitchFamily="34" charset="-122"/>
                <a:cs typeface="Arial" pitchFamily="34" charset="-120"/>
              </a:rPr>
              <a:t>Compute</a:t>
            </a:r>
            <a:endParaRPr lang="en-US" sz="1700" dirty="0"/>
          </a:p>
        </p:txBody>
      </p:sp>
      <p:sp>
        <p:nvSpPr>
          <p:cNvPr id="21" name="Text 16"/>
          <p:cNvSpPr/>
          <p:nvPr/>
        </p:nvSpPr>
        <p:spPr>
          <a:xfrm>
            <a:off x="6720840" y="3520440"/>
            <a:ext cx="1984248" cy="91440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FinalScore per the formula: quality 70, cost 30, penalties off the top.</a:t>
            </a:r>
            <a:endParaRPr lang="en-US" sz="1150" dirty="0"/>
          </a:p>
        </p:txBody>
      </p:sp>
      <p:sp>
        <p:nvSpPr>
          <p:cNvPr id="22" name="Text 17"/>
          <p:cNvSpPr/>
          <p:nvPr/>
        </p:nvSpPr>
        <p:spPr>
          <a:xfrm>
            <a:off x="9043416" y="3017520"/>
            <a:ext cx="219456" cy="365760"/>
          </a:xfrm>
          <a:prstGeom prst="rect">
            <a:avLst/>
          </a:prstGeom>
          <a:noFill/>
          <a:ln/>
        </p:spPr>
        <p:txBody>
          <a:bodyPr wrap="square" lIns="0" tIns="0" rIns="0" bIns="0" rtlCol="0" anchor="ctr"/>
          <a:lstStyle/>
          <a:p>
            <a:pPr algn="ctr" indent="0" marL="0">
              <a:buNone/>
            </a:pPr>
            <a:r>
              <a:rPr lang="en-US" sz="1700" dirty="0">
                <a:solidFill>
                  <a:srgbClr val="D9CEC3"/>
                </a:solidFill>
                <a:latin typeface="Arial" pitchFamily="34" charset="0"/>
                <a:ea typeface="Arial" pitchFamily="34" charset="-122"/>
                <a:cs typeface="Arial" pitchFamily="34" charset="-120"/>
              </a:rPr>
              <a:t>→</a:t>
            </a:r>
            <a:endParaRPr lang="en-US" sz="1700" dirty="0"/>
          </a:p>
        </p:txBody>
      </p:sp>
      <p:sp>
        <p:nvSpPr>
          <p:cNvPr id="23" name="Shape 18"/>
          <p:cNvSpPr/>
          <p:nvPr/>
        </p:nvSpPr>
        <p:spPr>
          <a:xfrm>
            <a:off x="9281160" y="2103120"/>
            <a:ext cx="2624328" cy="2468880"/>
          </a:xfrm>
          <a:prstGeom prst="roundRect">
            <a:avLst>
              <a:gd name="adj" fmla="val 5185"/>
            </a:avLst>
          </a:prstGeom>
          <a:solidFill>
            <a:srgbClr val="FFFFFF"/>
          </a:solidFill>
          <a:ln w="12700">
            <a:solidFill>
              <a:srgbClr val="D9CEC3"/>
            </a:solidFill>
            <a:prstDash val="solid"/>
          </a:ln>
          <a:effectLst>
            <a:outerShdw sx="100000" sy="100000" kx="0" ky="0" algn="bl" rotWithShape="0" blurRad="152400" dist="25400" dir="5400000">
              <a:srgbClr val="000000">
                <a:alpha val="7000"/>
              </a:srgbClr>
            </a:outerShdw>
          </a:effectLst>
        </p:spPr>
      </p:sp>
      <p:sp>
        <p:nvSpPr>
          <p:cNvPr id="24" name="Shape 19"/>
          <p:cNvSpPr/>
          <p:nvPr/>
        </p:nvSpPr>
        <p:spPr>
          <a:xfrm>
            <a:off x="9601200" y="2377440"/>
            <a:ext cx="566928" cy="566928"/>
          </a:xfrm>
          <a:prstGeom prst="ellipse">
            <a:avLst/>
          </a:prstGeom>
          <a:solidFill>
            <a:srgbClr val="0054F0"/>
          </a:solidFill>
          <a:ln/>
        </p:spPr>
      </p:sp>
      <p:pic>
        <p:nvPicPr>
          <p:cNvPr id="25" name="Image 3" descr="/home/claude/assets/ic_award_pampas.png">    </p:cNvPr>
          <p:cNvPicPr>
            <a:picLocks noChangeAspect="1"/>
          </p:cNvPicPr>
          <p:nvPr/>
        </p:nvPicPr>
        <p:blipFill>
          <a:blip r:embed="rId4"/>
          <a:stretch>
            <a:fillRect/>
          </a:stretch>
        </p:blipFill>
        <p:spPr>
          <a:xfrm>
            <a:off x="9748601" y="2524841"/>
            <a:ext cx="272125" cy="272125"/>
          </a:xfrm>
          <a:prstGeom prst="rect">
            <a:avLst/>
          </a:prstGeom>
        </p:spPr>
      </p:pic>
      <p:sp>
        <p:nvSpPr>
          <p:cNvPr id="26" name="Text 20"/>
          <p:cNvSpPr/>
          <p:nvPr/>
        </p:nvSpPr>
        <p:spPr>
          <a:xfrm>
            <a:off x="9601200" y="3090672"/>
            <a:ext cx="1984248" cy="384048"/>
          </a:xfrm>
          <a:prstGeom prst="rect">
            <a:avLst/>
          </a:prstGeom>
          <a:noFill/>
          <a:ln/>
        </p:spPr>
        <p:txBody>
          <a:bodyPr wrap="square" lIns="0" tIns="0" rIns="0" bIns="0" rtlCol="0" anchor="ctr"/>
          <a:lstStyle/>
          <a:p>
            <a:pPr indent="0" marL="0">
              <a:buNone/>
            </a:pPr>
            <a:r>
              <a:rPr lang="en-US" sz="1700" b="1" dirty="0">
                <a:solidFill>
                  <a:srgbClr val="331E11"/>
                </a:solidFill>
                <a:latin typeface="Arial" pitchFamily="34" charset="0"/>
                <a:ea typeface="Arial" pitchFamily="34" charset="-122"/>
                <a:cs typeface="Arial" pitchFamily="34" charset="-120"/>
              </a:rPr>
              <a:t>Rank</a:t>
            </a:r>
            <a:endParaRPr lang="en-US" sz="1700" dirty="0"/>
          </a:p>
        </p:txBody>
      </p:sp>
      <p:sp>
        <p:nvSpPr>
          <p:cNvPr id="27" name="Text 21"/>
          <p:cNvSpPr/>
          <p:nvPr/>
        </p:nvSpPr>
        <p:spPr>
          <a:xfrm>
            <a:off x="9601200" y="3520440"/>
            <a:ext cx="1984248" cy="914400"/>
          </a:xfrm>
          <a:prstGeom prst="rect">
            <a:avLst/>
          </a:prstGeom>
          <a:noFill/>
          <a:ln/>
        </p:spPr>
        <p:txBody>
          <a:bodyPr wrap="square" lIns="0" tIns="0" rIns="0" bIns="0" rtlCol="0" anchor="ctr"/>
          <a:lstStyle/>
          <a:p>
            <a:pPr indent="0" marL="0">
              <a:lnSpc>
                <a:spcPts val="1500"/>
              </a:lnSpc>
              <a:buNone/>
            </a:pPr>
            <a:r>
              <a:rPr lang="en-US" sz="1150" dirty="0">
                <a:solidFill>
                  <a:srgbClr val="7A6B60"/>
                </a:solidFill>
                <a:latin typeface="Arial" pitchFamily="34" charset="0"/>
                <a:ea typeface="Arial" pitchFamily="34" charset="-122"/>
                <a:cs typeface="Arial" pitchFamily="34" charset="-120"/>
              </a:rPr>
              <a:t>Ranked leaderboard displayed live, revealed from the bottom up.</a:t>
            </a:r>
            <a:endParaRPr lang="en-US" sz="1150" dirty="0"/>
          </a:p>
        </p:txBody>
      </p:sp>
      <p:sp>
        <p:nvSpPr>
          <p:cNvPr id="28" name="Shape 22"/>
          <p:cNvSpPr/>
          <p:nvPr/>
        </p:nvSpPr>
        <p:spPr>
          <a:xfrm>
            <a:off x="640080" y="4937760"/>
            <a:ext cx="10911535" cy="1051560"/>
          </a:xfrm>
          <a:prstGeom prst="roundRect">
            <a:avLst>
              <a:gd name="adj" fmla="val 12174"/>
            </a:avLst>
          </a:prstGeom>
          <a:solidFill>
            <a:srgbClr val="331E11"/>
          </a:solidFill>
          <a:ln/>
        </p:spPr>
      </p:sp>
      <p:sp>
        <p:nvSpPr>
          <p:cNvPr id="29" name="Shape 23"/>
          <p:cNvSpPr/>
          <p:nvPr/>
        </p:nvSpPr>
        <p:spPr>
          <a:xfrm>
            <a:off x="1024128" y="5193792"/>
            <a:ext cx="530352" cy="530352"/>
          </a:xfrm>
          <a:prstGeom prst="ellipse">
            <a:avLst/>
          </a:prstGeom>
          <a:solidFill>
            <a:srgbClr val="0054F0"/>
          </a:solidFill>
          <a:ln/>
        </p:spPr>
      </p:sp>
      <p:pic>
        <p:nvPicPr>
          <p:cNvPr id="30" name="Image 4" descr="/home/claude/assets/ic_alert_pampas.png">    </p:cNvPr>
          <p:cNvPicPr>
            <a:picLocks noChangeAspect="1"/>
          </p:cNvPicPr>
          <p:nvPr/>
        </p:nvPicPr>
        <p:blipFill>
          <a:blip r:embed="rId5"/>
          <a:stretch>
            <a:fillRect/>
          </a:stretch>
        </p:blipFill>
        <p:spPr>
          <a:xfrm>
            <a:off x="1162020" y="5331684"/>
            <a:ext cx="254569" cy="254569"/>
          </a:xfrm>
          <a:prstGeom prst="rect">
            <a:avLst/>
          </a:prstGeom>
        </p:spPr>
      </p:pic>
      <p:sp>
        <p:nvSpPr>
          <p:cNvPr id="31" name="Text 24"/>
          <p:cNvSpPr/>
          <p:nvPr/>
        </p:nvSpPr>
        <p:spPr>
          <a:xfrm>
            <a:off x="1783080" y="4937760"/>
            <a:ext cx="9311335" cy="1051560"/>
          </a:xfrm>
          <a:prstGeom prst="rect">
            <a:avLst/>
          </a:prstGeom>
          <a:noFill/>
          <a:ln/>
        </p:spPr>
        <p:txBody>
          <a:bodyPr wrap="square" lIns="0" tIns="0" rIns="0" bIns="0" rtlCol="0" anchor="ctr"/>
          <a:lstStyle/>
          <a:p>
            <a:pPr indent="0" marL="0">
              <a:lnSpc>
                <a:spcPts val="2000"/>
              </a:lnSpc>
              <a:buNone/>
            </a:pPr>
            <a:r>
              <a:rPr lang="en-US" sz="1400" dirty="0">
                <a:solidFill>
                  <a:srgbClr val="E8E0D9"/>
                </a:solidFill>
                <a:latin typeface="Arial" pitchFamily="34" charset="0"/>
                <a:ea typeface="Arial" pitchFamily="34" charset="-122"/>
                <a:cs typeface="Arial" pitchFamily="34" charset="-120"/>
              </a:rPr>
              <a:t>Ask the room to predict whether the cheapest agent won, before you reveal the top. It usually did not — and that is the whole lesson in one moment.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331E11"/>
        </a:solidFill>
      </p:bgPr>
    </p:bg>
    <p:spTree>
      <p:nvGrpSpPr>
        <p:cNvPr id="1" name=""/>
        <p:cNvGrpSpPr/>
        <p:nvPr/>
      </p:nvGrpSpPr>
      <p:grpSpPr>
        <a:xfrm>
          <a:off x="0" y="0"/>
          <a:ext cx="0" cy="0"/>
          <a:chOff x="0" y="0"/>
          <a:chExt cx="0" cy="0"/>
        </a:xfrm>
      </p:grpSpPr>
      <p:pic>
        <p:nvPicPr>
          <p:cNvPr id="2" name="Image 0" descr="/home/claude/assets/contours.png">    </p:cNvPr>
          <p:cNvPicPr>
            <a:picLocks noChangeAspect="1"/>
          </p:cNvPicPr>
          <p:nvPr/>
        </p:nvPicPr>
        <p:blipFill>
          <a:blip r:embed="rId1">
            <a:alphaModFix amt="45000"/>
          </a:blip>
          <a:stretch>
            <a:fillRect/>
          </a:stretch>
        </p:blipFill>
        <p:spPr>
          <a:xfrm>
            <a:off x="0" y="2377440"/>
            <a:ext cx="12191695" cy="4480560"/>
          </a:xfrm>
          <a:prstGeom prst="rect">
            <a:avLst/>
          </a:prstGeom>
        </p:spPr>
      </p:pic>
      <p:sp>
        <p:nvSpPr>
          <p:cNvPr id="3" name="Text 0"/>
          <p:cNvSpPr/>
          <p:nvPr/>
        </p:nvSpPr>
        <p:spPr>
          <a:xfrm>
            <a:off x="640080" y="502920"/>
            <a:ext cx="8229600" cy="274320"/>
          </a:xfrm>
          <a:prstGeom prst="rect">
            <a:avLst/>
          </a:prstGeom>
          <a:noFill/>
          <a:ln/>
        </p:spPr>
        <p:txBody>
          <a:bodyPr wrap="square" lIns="0" tIns="0" rIns="0" bIns="0" rtlCol="0" anchor="ctr"/>
          <a:lstStyle/>
          <a:p>
            <a:pPr indent="0" marL="0">
              <a:buNone/>
            </a:pPr>
            <a:r>
              <a:rPr lang="en-US" sz="1150" b="1" spc="220" kern="0" dirty="0">
                <a:solidFill>
                  <a:srgbClr val="D6E3FF"/>
                </a:solidFill>
                <a:latin typeface="Arial" pitchFamily="34" charset="0"/>
                <a:ea typeface="Arial" pitchFamily="34" charset="-122"/>
                <a:cs typeface="Arial" pitchFamily="34" charset="-120"/>
              </a:rPr>
              <a:t>RECAP</a:t>
            </a:r>
            <a:endParaRPr lang="en-US" sz="1150" dirty="0"/>
          </a:p>
        </p:txBody>
      </p:sp>
      <p:sp>
        <p:nvSpPr>
          <p:cNvPr id="4" name="Text 1"/>
          <p:cNvSpPr/>
          <p:nvPr/>
        </p:nvSpPr>
        <p:spPr>
          <a:xfrm>
            <a:off x="640080" y="868680"/>
            <a:ext cx="10881360" cy="914400"/>
          </a:xfrm>
          <a:prstGeom prst="rect">
            <a:avLst/>
          </a:prstGeom>
          <a:noFill/>
          <a:ln/>
        </p:spPr>
        <p:txBody>
          <a:bodyPr wrap="square" lIns="0" tIns="0" rIns="0" bIns="0" rtlCol="0" anchor="t"/>
          <a:lstStyle/>
          <a:p>
            <a:pPr indent="0" marL="0">
              <a:lnSpc>
                <a:spcPts val="3584"/>
              </a:lnSpc>
              <a:buNone/>
            </a:pPr>
            <a:r>
              <a:rPr lang="en-US" sz="3200" b="1" dirty="0">
                <a:solidFill>
                  <a:srgbClr val="FAF9F7"/>
                </a:solidFill>
                <a:latin typeface="Arial" pitchFamily="34" charset="0"/>
                <a:ea typeface="Arial" pitchFamily="34" charset="-122"/>
                <a:cs typeface="Arial" pitchFamily="34" charset="-120"/>
              </a:rPr>
              <a:t>What you can do now that you could not at 09:00</a:t>
            </a:r>
            <a:endParaRPr lang="en-US" sz="3200" dirty="0"/>
          </a:p>
        </p:txBody>
      </p:sp>
      <p:sp>
        <p:nvSpPr>
          <p:cNvPr id="5" name="Shape 2"/>
          <p:cNvSpPr/>
          <p:nvPr/>
        </p:nvSpPr>
        <p:spPr>
          <a:xfrm>
            <a:off x="284836" y="2148840"/>
            <a:ext cx="2148840" cy="2651760"/>
          </a:xfrm>
          <a:prstGeom prst="roundRect">
            <a:avLst>
              <a:gd name="adj" fmla="val 5957"/>
            </a:avLst>
          </a:prstGeom>
          <a:solidFill>
            <a:srgbClr val="46301F"/>
          </a:solidFill>
          <a:ln w="12700">
            <a:solidFill>
              <a:srgbClr val="0054F0"/>
            </a:solidFill>
            <a:prstDash val="solid"/>
          </a:ln>
        </p:spPr>
      </p:sp>
      <p:sp>
        <p:nvSpPr>
          <p:cNvPr id="6" name="Shape 3"/>
          <p:cNvSpPr/>
          <p:nvPr/>
        </p:nvSpPr>
        <p:spPr>
          <a:xfrm>
            <a:off x="1075792" y="2423160"/>
            <a:ext cx="566928" cy="566928"/>
          </a:xfrm>
          <a:prstGeom prst="ellipse">
            <a:avLst/>
          </a:prstGeom>
          <a:solidFill>
            <a:srgbClr val="0054F0"/>
          </a:solidFill>
          <a:ln/>
        </p:spPr>
      </p:sp>
      <p:pic>
        <p:nvPicPr>
          <p:cNvPr id="7" name="Image 1" descr="/home/claude/assets/ic_layers_pampas.png">    </p:cNvPr>
          <p:cNvPicPr>
            <a:picLocks noChangeAspect="1"/>
          </p:cNvPicPr>
          <p:nvPr/>
        </p:nvPicPr>
        <p:blipFill>
          <a:blip r:embed="rId2"/>
          <a:stretch>
            <a:fillRect/>
          </a:stretch>
        </p:blipFill>
        <p:spPr>
          <a:xfrm>
            <a:off x="1223193" y="2570561"/>
            <a:ext cx="272125" cy="272125"/>
          </a:xfrm>
          <a:prstGeom prst="rect">
            <a:avLst/>
          </a:prstGeom>
        </p:spPr>
      </p:pic>
      <p:sp>
        <p:nvSpPr>
          <p:cNvPr id="8" name="Text 4"/>
          <p:cNvSpPr/>
          <p:nvPr/>
        </p:nvSpPr>
        <p:spPr>
          <a:xfrm>
            <a:off x="431140" y="3154680"/>
            <a:ext cx="1856232" cy="548640"/>
          </a:xfrm>
          <a:prstGeom prst="rect">
            <a:avLst/>
          </a:prstGeom>
          <a:noFill/>
          <a:ln/>
        </p:spPr>
        <p:txBody>
          <a:bodyPr wrap="square" lIns="0" tIns="0" rIns="0" bIns="0" rtlCol="0" anchor="ctr"/>
          <a:lstStyle/>
          <a:p>
            <a:pPr algn="ctr" indent="0" marL="0">
              <a:lnSpc>
                <a:spcPts val="1700"/>
              </a:lnSpc>
              <a:buNone/>
            </a:pPr>
            <a:r>
              <a:rPr lang="en-US" sz="1400" b="1" dirty="0">
                <a:solidFill>
                  <a:srgbClr val="FAF9F7"/>
                </a:solidFill>
                <a:latin typeface="Arial" pitchFamily="34" charset="0"/>
                <a:ea typeface="Arial" pitchFamily="34" charset="-122"/>
                <a:cs typeface="Arial" pitchFamily="34" charset="-120"/>
              </a:rPr>
              <a:t>Skills design</a:t>
            </a:r>
            <a:endParaRPr lang="en-US" sz="1400" dirty="0"/>
          </a:p>
        </p:txBody>
      </p:sp>
      <p:sp>
        <p:nvSpPr>
          <p:cNvPr id="9" name="Text 5"/>
          <p:cNvSpPr/>
          <p:nvPr/>
        </p:nvSpPr>
        <p:spPr>
          <a:xfrm>
            <a:off x="467716" y="3749040"/>
            <a:ext cx="1783080" cy="914400"/>
          </a:xfrm>
          <a:prstGeom prst="rect">
            <a:avLst/>
          </a:prstGeom>
          <a:noFill/>
          <a:ln/>
        </p:spPr>
        <p:txBody>
          <a:bodyPr wrap="square" lIns="0" tIns="0" rIns="0" bIns="0" rtlCol="0" anchor="ctr"/>
          <a:lstStyle/>
          <a:p>
            <a:pPr algn="ctr" indent="0" marL="0">
              <a:lnSpc>
                <a:spcPts val="1400"/>
              </a:lnSpc>
              <a:buNone/>
            </a:pPr>
            <a:r>
              <a:rPr lang="en-US" sz="1100" dirty="0">
                <a:solidFill>
                  <a:srgbClr val="E8E0D9"/>
                </a:solidFill>
                <a:latin typeface="Arial" pitchFamily="34" charset="0"/>
                <a:ea typeface="Arial" pitchFamily="34" charset="-122"/>
                <a:cs typeface="Arial" pitchFamily="34" charset="-120"/>
              </a:rPr>
              <a:t>Scaffold a reusable skill</a:t>
            </a:r>
            <a:endParaRPr lang="en-US" sz="1100" dirty="0"/>
          </a:p>
        </p:txBody>
      </p:sp>
      <p:sp>
        <p:nvSpPr>
          <p:cNvPr id="10" name="Shape 6"/>
          <p:cNvSpPr/>
          <p:nvPr/>
        </p:nvSpPr>
        <p:spPr>
          <a:xfrm>
            <a:off x="2653132" y="2148840"/>
            <a:ext cx="2148840" cy="2651760"/>
          </a:xfrm>
          <a:prstGeom prst="roundRect">
            <a:avLst>
              <a:gd name="adj" fmla="val 5957"/>
            </a:avLst>
          </a:prstGeom>
          <a:solidFill>
            <a:srgbClr val="46301F"/>
          </a:solidFill>
          <a:ln w="12700">
            <a:solidFill>
              <a:srgbClr val="0054F0"/>
            </a:solidFill>
            <a:prstDash val="solid"/>
          </a:ln>
        </p:spPr>
      </p:sp>
      <p:sp>
        <p:nvSpPr>
          <p:cNvPr id="11" name="Shape 7"/>
          <p:cNvSpPr/>
          <p:nvPr/>
        </p:nvSpPr>
        <p:spPr>
          <a:xfrm>
            <a:off x="3444088" y="2423160"/>
            <a:ext cx="566928" cy="566928"/>
          </a:xfrm>
          <a:prstGeom prst="ellipse">
            <a:avLst/>
          </a:prstGeom>
          <a:solidFill>
            <a:srgbClr val="0054F0"/>
          </a:solidFill>
          <a:ln/>
        </p:spPr>
      </p:sp>
      <p:pic>
        <p:nvPicPr>
          <p:cNvPr id="12" name="Image 2" descr="/home/claude/assets/ic_filter_pampas.png">    </p:cNvPr>
          <p:cNvPicPr>
            <a:picLocks noChangeAspect="1"/>
          </p:cNvPicPr>
          <p:nvPr/>
        </p:nvPicPr>
        <p:blipFill>
          <a:blip r:embed="rId3"/>
          <a:stretch>
            <a:fillRect/>
          </a:stretch>
        </p:blipFill>
        <p:spPr>
          <a:xfrm>
            <a:off x="3591489" y="2570561"/>
            <a:ext cx="272125" cy="272125"/>
          </a:xfrm>
          <a:prstGeom prst="rect">
            <a:avLst/>
          </a:prstGeom>
        </p:spPr>
      </p:pic>
      <p:sp>
        <p:nvSpPr>
          <p:cNvPr id="13" name="Text 8"/>
          <p:cNvSpPr/>
          <p:nvPr/>
        </p:nvSpPr>
        <p:spPr>
          <a:xfrm>
            <a:off x="2799436" y="3154680"/>
            <a:ext cx="1856232" cy="548640"/>
          </a:xfrm>
          <a:prstGeom prst="rect">
            <a:avLst/>
          </a:prstGeom>
          <a:noFill/>
          <a:ln/>
        </p:spPr>
        <p:txBody>
          <a:bodyPr wrap="square" lIns="0" tIns="0" rIns="0" bIns="0" rtlCol="0" anchor="ctr"/>
          <a:lstStyle/>
          <a:p>
            <a:pPr algn="ctr" indent="0" marL="0">
              <a:lnSpc>
                <a:spcPts val="1700"/>
              </a:lnSpc>
              <a:buNone/>
            </a:pPr>
            <a:r>
              <a:rPr lang="en-US" sz="1400" b="1" dirty="0">
                <a:solidFill>
                  <a:srgbClr val="FAF9F7"/>
                </a:solidFill>
                <a:latin typeface="Arial" pitchFamily="34" charset="0"/>
                <a:ea typeface="Arial" pitchFamily="34" charset="-122"/>
                <a:cs typeface="Arial" pitchFamily="34" charset="-120"/>
              </a:rPr>
              <a:t>Context engineering</a:t>
            </a:r>
            <a:endParaRPr lang="en-US" sz="1400" dirty="0"/>
          </a:p>
        </p:txBody>
      </p:sp>
      <p:sp>
        <p:nvSpPr>
          <p:cNvPr id="14" name="Text 9"/>
          <p:cNvSpPr/>
          <p:nvPr/>
        </p:nvSpPr>
        <p:spPr>
          <a:xfrm>
            <a:off x="2836012" y="3749040"/>
            <a:ext cx="1783080" cy="914400"/>
          </a:xfrm>
          <a:prstGeom prst="rect">
            <a:avLst/>
          </a:prstGeom>
          <a:noFill/>
          <a:ln/>
        </p:spPr>
        <p:txBody>
          <a:bodyPr wrap="square" lIns="0" tIns="0" rIns="0" bIns="0" rtlCol="0" anchor="ctr"/>
          <a:lstStyle/>
          <a:p>
            <a:pPr algn="ctr" indent="0" marL="0">
              <a:lnSpc>
                <a:spcPts val="1400"/>
              </a:lnSpc>
              <a:buNone/>
            </a:pPr>
            <a:r>
              <a:rPr lang="en-US" sz="1100" dirty="0">
                <a:solidFill>
                  <a:srgbClr val="E8E0D9"/>
                </a:solidFill>
                <a:latin typeface="Arial" pitchFamily="34" charset="0"/>
                <a:ea typeface="Arial" pitchFamily="34" charset="-122"/>
                <a:cs typeface="Arial" pitchFamily="34" charset="-120"/>
              </a:rPr>
              <a:t>Cut context 5× without losing correctness</a:t>
            </a:r>
            <a:endParaRPr lang="en-US" sz="1100" dirty="0"/>
          </a:p>
        </p:txBody>
      </p:sp>
      <p:sp>
        <p:nvSpPr>
          <p:cNvPr id="15" name="Shape 10"/>
          <p:cNvSpPr/>
          <p:nvPr/>
        </p:nvSpPr>
        <p:spPr>
          <a:xfrm>
            <a:off x="5021428" y="2148840"/>
            <a:ext cx="2148840" cy="2651760"/>
          </a:xfrm>
          <a:prstGeom prst="roundRect">
            <a:avLst>
              <a:gd name="adj" fmla="val 5957"/>
            </a:avLst>
          </a:prstGeom>
          <a:solidFill>
            <a:srgbClr val="46301F"/>
          </a:solidFill>
          <a:ln w="12700">
            <a:solidFill>
              <a:srgbClr val="0054F0"/>
            </a:solidFill>
            <a:prstDash val="solid"/>
          </a:ln>
        </p:spPr>
      </p:sp>
      <p:sp>
        <p:nvSpPr>
          <p:cNvPr id="16" name="Shape 11"/>
          <p:cNvSpPr/>
          <p:nvPr/>
        </p:nvSpPr>
        <p:spPr>
          <a:xfrm>
            <a:off x="5812384" y="2423160"/>
            <a:ext cx="566928" cy="566928"/>
          </a:xfrm>
          <a:prstGeom prst="ellipse">
            <a:avLst/>
          </a:prstGeom>
          <a:solidFill>
            <a:srgbClr val="0054F0"/>
          </a:solidFill>
          <a:ln/>
        </p:spPr>
      </p:sp>
      <p:pic>
        <p:nvPicPr>
          <p:cNvPr id="17" name="Image 3" descr="/home/claude/assets/ic_minimize_pampas.png">    </p:cNvPr>
          <p:cNvPicPr>
            <a:picLocks noChangeAspect="1"/>
          </p:cNvPicPr>
          <p:nvPr/>
        </p:nvPicPr>
        <p:blipFill>
          <a:blip r:embed="rId4"/>
          <a:stretch>
            <a:fillRect/>
          </a:stretch>
        </p:blipFill>
        <p:spPr>
          <a:xfrm>
            <a:off x="5959785" y="2570561"/>
            <a:ext cx="272125" cy="272125"/>
          </a:xfrm>
          <a:prstGeom prst="rect">
            <a:avLst/>
          </a:prstGeom>
        </p:spPr>
      </p:pic>
      <p:sp>
        <p:nvSpPr>
          <p:cNvPr id="18" name="Text 12"/>
          <p:cNvSpPr/>
          <p:nvPr/>
        </p:nvSpPr>
        <p:spPr>
          <a:xfrm>
            <a:off x="5167732" y="3154680"/>
            <a:ext cx="1856232" cy="548640"/>
          </a:xfrm>
          <a:prstGeom prst="rect">
            <a:avLst/>
          </a:prstGeom>
          <a:noFill/>
          <a:ln/>
        </p:spPr>
        <p:txBody>
          <a:bodyPr wrap="square" lIns="0" tIns="0" rIns="0" bIns="0" rtlCol="0" anchor="ctr"/>
          <a:lstStyle/>
          <a:p>
            <a:pPr algn="ctr" indent="0" marL="0">
              <a:lnSpc>
                <a:spcPts val="1700"/>
              </a:lnSpc>
              <a:buNone/>
            </a:pPr>
            <a:r>
              <a:rPr lang="en-US" sz="1400" b="1" dirty="0">
                <a:solidFill>
                  <a:srgbClr val="FAF9F7"/>
                </a:solidFill>
                <a:latin typeface="Arial" pitchFamily="34" charset="0"/>
                <a:ea typeface="Arial" pitchFamily="34" charset="-122"/>
                <a:cs typeface="Arial" pitchFamily="34" charset="-120"/>
              </a:rPr>
              <a:t>Handoff patterns</a:t>
            </a:r>
            <a:endParaRPr lang="en-US" sz="1400" dirty="0"/>
          </a:p>
        </p:txBody>
      </p:sp>
      <p:sp>
        <p:nvSpPr>
          <p:cNvPr id="19" name="Text 13"/>
          <p:cNvSpPr/>
          <p:nvPr/>
        </p:nvSpPr>
        <p:spPr>
          <a:xfrm>
            <a:off x="5204308" y="3749040"/>
            <a:ext cx="1783080" cy="914400"/>
          </a:xfrm>
          <a:prstGeom prst="rect">
            <a:avLst/>
          </a:prstGeom>
          <a:noFill/>
          <a:ln/>
        </p:spPr>
        <p:txBody>
          <a:bodyPr wrap="square" lIns="0" tIns="0" rIns="0" bIns="0" rtlCol="0" anchor="ctr"/>
          <a:lstStyle/>
          <a:p>
            <a:pPr algn="ctr" indent="0" marL="0">
              <a:lnSpc>
                <a:spcPts val="1400"/>
              </a:lnSpc>
              <a:buNone/>
            </a:pPr>
            <a:r>
              <a:rPr lang="en-US" sz="1100" dirty="0">
                <a:solidFill>
                  <a:srgbClr val="E8E0D9"/>
                </a:solidFill>
                <a:latin typeface="Arial" pitchFamily="34" charset="0"/>
                <a:ea typeface="Arial" pitchFamily="34" charset="-122"/>
                <a:cs typeface="Arial" pitchFamily="34" charset="-120"/>
              </a:rPr>
              <a:t>Design typed payloads, not context dumps</a:t>
            </a:r>
            <a:endParaRPr lang="en-US" sz="1100" dirty="0"/>
          </a:p>
        </p:txBody>
      </p:sp>
      <p:sp>
        <p:nvSpPr>
          <p:cNvPr id="20" name="Shape 14"/>
          <p:cNvSpPr/>
          <p:nvPr/>
        </p:nvSpPr>
        <p:spPr>
          <a:xfrm>
            <a:off x="7389724" y="2148840"/>
            <a:ext cx="2148840" cy="2651760"/>
          </a:xfrm>
          <a:prstGeom prst="roundRect">
            <a:avLst>
              <a:gd name="adj" fmla="val 5957"/>
            </a:avLst>
          </a:prstGeom>
          <a:solidFill>
            <a:srgbClr val="46301F"/>
          </a:solidFill>
          <a:ln w="12700">
            <a:solidFill>
              <a:srgbClr val="0054F0"/>
            </a:solidFill>
            <a:prstDash val="solid"/>
          </a:ln>
        </p:spPr>
      </p:sp>
      <p:sp>
        <p:nvSpPr>
          <p:cNvPr id="21" name="Shape 15"/>
          <p:cNvSpPr/>
          <p:nvPr/>
        </p:nvSpPr>
        <p:spPr>
          <a:xfrm>
            <a:off x="8180680" y="2423160"/>
            <a:ext cx="566928" cy="566928"/>
          </a:xfrm>
          <a:prstGeom prst="ellipse">
            <a:avLst/>
          </a:prstGeom>
          <a:solidFill>
            <a:srgbClr val="0054F0"/>
          </a:solidFill>
          <a:ln/>
        </p:spPr>
      </p:sp>
      <p:pic>
        <p:nvPicPr>
          <p:cNvPr id="22" name="Image 4" descr="/home/claude/assets/ic_sliders_pampas.png">    </p:cNvPr>
          <p:cNvPicPr>
            <a:picLocks noChangeAspect="1"/>
          </p:cNvPicPr>
          <p:nvPr/>
        </p:nvPicPr>
        <p:blipFill>
          <a:blip r:embed="rId5"/>
          <a:stretch>
            <a:fillRect/>
          </a:stretch>
        </p:blipFill>
        <p:spPr>
          <a:xfrm>
            <a:off x="8328081" y="2570561"/>
            <a:ext cx="272125" cy="272125"/>
          </a:xfrm>
          <a:prstGeom prst="rect">
            <a:avLst/>
          </a:prstGeom>
        </p:spPr>
      </p:pic>
      <p:sp>
        <p:nvSpPr>
          <p:cNvPr id="23" name="Text 16"/>
          <p:cNvSpPr/>
          <p:nvPr/>
        </p:nvSpPr>
        <p:spPr>
          <a:xfrm>
            <a:off x="7536028" y="3154680"/>
            <a:ext cx="1856232" cy="548640"/>
          </a:xfrm>
          <a:prstGeom prst="rect">
            <a:avLst/>
          </a:prstGeom>
          <a:noFill/>
          <a:ln/>
        </p:spPr>
        <p:txBody>
          <a:bodyPr wrap="square" lIns="0" tIns="0" rIns="0" bIns="0" rtlCol="0" anchor="ctr"/>
          <a:lstStyle/>
          <a:p>
            <a:pPr algn="ctr" indent="0" marL="0">
              <a:lnSpc>
                <a:spcPts val="1700"/>
              </a:lnSpc>
              <a:buNone/>
            </a:pPr>
            <a:r>
              <a:rPr lang="en-US" sz="1400" b="1" dirty="0">
                <a:solidFill>
                  <a:srgbClr val="FAF9F7"/>
                </a:solidFill>
                <a:latin typeface="Arial" pitchFamily="34" charset="0"/>
                <a:ea typeface="Arial" pitchFamily="34" charset="-122"/>
                <a:cs typeface="Arial" pitchFamily="34" charset="-120"/>
              </a:rPr>
              <a:t>Model routing</a:t>
            </a:r>
            <a:endParaRPr lang="en-US" sz="1400" dirty="0"/>
          </a:p>
        </p:txBody>
      </p:sp>
      <p:sp>
        <p:nvSpPr>
          <p:cNvPr id="24" name="Text 17"/>
          <p:cNvSpPr/>
          <p:nvPr/>
        </p:nvSpPr>
        <p:spPr>
          <a:xfrm>
            <a:off x="7572604" y="3749040"/>
            <a:ext cx="1783080" cy="914400"/>
          </a:xfrm>
          <a:prstGeom prst="rect">
            <a:avLst/>
          </a:prstGeom>
          <a:noFill/>
          <a:ln/>
        </p:spPr>
        <p:txBody>
          <a:bodyPr wrap="square" lIns="0" tIns="0" rIns="0" bIns="0" rtlCol="0" anchor="ctr"/>
          <a:lstStyle/>
          <a:p>
            <a:pPr algn="ctr" indent="0" marL="0">
              <a:lnSpc>
                <a:spcPts val="1400"/>
              </a:lnSpc>
              <a:buNone/>
            </a:pPr>
            <a:r>
              <a:rPr lang="en-US" sz="1100" dirty="0">
                <a:solidFill>
                  <a:srgbClr val="E8E0D9"/>
                </a:solidFill>
                <a:latin typeface="Arial" pitchFamily="34" charset="0"/>
                <a:ea typeface="Arial" pitchFamily="34" charset="-122"/>
                <a:cs typeface="Arial" pitchFamily="34" charset="-120"/>
              </a:rPr>
              <a:t>Route by cost and complexity</a:t>
            </a:r>
            <a:endParaRPr lang="en-US" sz="1100" dirty="0"/>
          </a:p>
        </p:txBody>
      </p:sp>
      <p:sp>
        <p:nvSpPr>
          <p:cNvPr id="25" name="Shape 18"/>
          <p:cNvSpPr/>
          <p:nvPr/>
        </p:nvSpPr>
        <p:spPr>
          <a:xfrm>
            <a:off x="9758020" y="2148840"/>
            <a:ext cx="2148840" cy="2651760"/>
          </a:xfrm>
          <a:prstGeom prst="roundRect">
            <a:avLst>
              <a:gd name="adj" fmla="val 5957"/>
            </a:avLst>
          </a:prstGeom>
          <a:solidFill>
            <a:srgbClr val="46301F"/>
          </a:solidFill>
          <a:ln w="12700">
            <a:solidFill>
              <a:srgbClr val="0054F0"/>
            </a:solidFill>
            <a:prstDash val="solid"/>
          </a:ln>
        </p:spPr>
      </p:sp>
      <p:sp>
        <p:nvSpPr>
          <p:cNvPr id="26" name="Shape 19"/>
          <p:cNvSpPr/>
          <p:nvPr/>
        </p:nvSpPr>
        <p:spPr>
          <a:xfrm>
            <a:off x="10548976" y="2423160"/>
            <a:ext cx="566928" cy="566928"/>
          </a:xfrm>
          <a:prstGeom prst="ellipse">
            <a:avLst/>
          </a:prstGeom>
          <a:solidFill>
            <a:srgbClr val="0054F0"/>
          </a:solidFill>
          <a:ln/>
        </p:spPr>
      </p:sp>
      <p:pic>
        <p:nvPicPr>
          <p:cNvPr id="27" name="Image 5" descr="/home/claude/assets/ic_scale_pampas.png">    </p:cNvPr>
          <p:cNvPicPr>
            <a:picLocks noChangeAspect="1"/>
          </p:cNvPicPr>
          <p:nvPr/>
        </p:nvPicPr>
        <p:blipFill>
          <a:blip r:embed="rId6"/>
          <a:stretch>
            <a:fillRect/>
          </a:stretch>
        </p:blipFill>
        <p:spPr>
          <a:xfrm>
            <a:off x="10696377" y="2570561"/>
            <a:ext cx="272125" cy="272125"/>
          </a:xfrm>
          <a:prstGeom prst="rect">
            <a:avLst/>
          </a:prstGeom>
        </p:spPr>
      </p:pic>
      <p:sp>
        <p:nvSpPr>
          <p:cNvPr id="28" name="Text 20"/>
          <p:cNvSpPr/>
          <p:nvPr/>
        </p:nvSpPr>
        <p:spPr>
          <a:xfrm>
            <a:off x="9904324" y="3154680"/>
            <a:ext cx="1856232" cy="548640"/>
          </a:xfrm>
          <a:prstGeom prst="rect">
            <a:avLst/>
          </a:prstGeom>
          <a:noFill/>
          <a:ln/>
        </p:spPr>
        <p:txBody>
          <a:bodyPr wrap="square" lIns="0" tIns="0" rIns="0" bIns="0" rtlCol="0" anchor="ctr"/>
          <a:lstStyle/>
          <a:p>
            <a:pPr algn="ctr" indent="0" marL="0">
              <a:lnSpc>
                <a:spcPts val="1700"/>
              </a:lnSpc>
              <a:buNone/>
            </a:pPr>
            <a:r>
              <a:rPr lang="en-US" sz="1400" b="1" dirty="0">
                <a:solidFill>
                  <a:srgbClr val="FAF9F7"/>
                </a:solidFill>
                <a:latin typeface="Arial" pitchFamily="34" charset="0"/>
                <a:ea typeface="Arial" pitchFamily="34" charset="-122"/>
                <a:cs typeface="Arial" pitchFamily="34" charset="-120"/>
              </a:rPr>
              <a:t>Evaluation</a:t>
            </a:r>
            <a:endParaRPr lang="en-US" sz="1400" dirty="0"/>
          </a:p>
        </p:txBody>
      </p:sp>
      <p:sp>
        <p:nvSpPr>
          <p:cNvPr id="29" name="Text 21"/>
          <p:cNvSpPr/>
          <p:nvPr/>
        </p:nvSpPr>
        <p:spPr>
          <a:xfrm>
            <a:off x="9940900" y="3749040"/>
            <a:ext cx="1783080" cy="914400"/>
          </a:xfrm>
          <a:prstGeom prst="rect">
            <a:avLst/>
          </a:prstGeom>
          <a:noFill/>
          <a:ln/>
        </p:spPr>
        <p:txBody>
          <a:bodyPr wrap="square" lIns="0" tIns="0" rIns="0" bIns="0" rtlCol="0" anchor="ctr"/>
          <a:lstStyle/>
          <a:p>
            <a:pPr algn="ctr" indent="0" marL="0">
              <a:lnSpc>
                <a:spcPts val="1400"/>
              </a:lnSpc>
              <a:buNone/>
            </a:pPr>
            <a:r>
              <a:rPr lang="en-US" sz="1100" dirty="0">
                <a:solidFill>
                  <a:srgbClr val="E8E0D9"/>
                </a:solidFill>
                <a:latin typeface="Arial" pitchFamily="34" charset="0"/>
                <a:ea typeface="Arial" pitchFamily="34" charset="-122"/>
                <a:cs typeface="Arial" pitchFamily="34" charset="-120"/>
              </a:rPr>
              <a:t>Build a quality gate and a scoring rubric</a:t>
            </a:r>
            <a:endParaRPr lang="en-US" sz="1100" dirty="0"/>
          </a:p>
        </p:txBody>
      </p:sp>
      <p:sp>
        <p:nvSpPr>
          <p:cNvPr id="30" name="Shape 22"/>
          <p:cNvSpPr/>
          <p:nvPr/>
        </p:nvSpPr>
        <p:spPr>
          <a:xfrm>
            <a:off x="640080" y="5257800"/>
            <a:ext cx="1097280" cy="41148"/>
          </a:xfrm>
          <a:prstGeom prst="rect">
            <a:avLst/>
          </a:prstGeom>
          <a:solidFill>
            <a:srgbClr val="0054F0"/>
          </a:solidFill>
          <a:ln/>
        </p:spPr>
      </p:sp>
      <p:sp>
        <p:nvSpPr>
          <p:cNvPr id="31" name="Text 23"/>
          <p:cNvSpPr/>
          <p:nvPr/>
        </p:nvSpPr>
        <p:spPr>
          <a:xfrm>
            <a:off x="640080" y="5486400"/>
            <a:ext cx="10881360" cy="731520"/>
          </a:xfrm>
          <a:prstGeom prst="rect">
            <a:avLst/>
          </a:prstGeom>
          <a:noFill/>
          <a:ln/>
        </p:spPr>
        <p:txBody>
          <a:bodyPr wrap="square" lIns="0" tIns="0" rIns="0" bIns="0" rtlCol="0" anchor="ctr"/>
          <a:lstStyle/>
          <a:p>
            <a:pPr indent="0" marL="0">
              <a:lnSpc>
                <a:spcPts val="2200"/>
              </a:lnSpc>
              <a:buNone/>
            </a:pPr>
            <a:r>
              <a:rPr lang="en-US" sz="1500" dirty="0">
                <a:solidFill>
                  <a:srgbClr val="E8E0D9"/>
                </a:solidFill>
                <a:latin typeface="Arial" pitchFamily="34" charset="0"/>
                <a:ea typeface="Arial" pitchFamily="34" charset="-122"/>
                <a:cs typeface="Arial" pitchFamily="34" charset="-120"/>
              </a:rPr>
              <a:t>The transferable idea is the handoff payload. Most of you will design an interface between two agents long before you build a scoring rubric.</a:t>
            </a:r>
            <a:endParaRPr lang="en-US" sz="1500" dirty="0"/>
          </a:p>
        </p:txBody>
      </p:sp>
      <p:sp>
        <p:nvSpPr>
          <p:cNvPr id="32" name="Text 24"/>
          <p:cNvSpPr/>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7A6B60"/>
                </a:solidFill>
                <a:latin typeface="Arial" pitchFamily="34" charset="0"/>
                <a:ea typeface="Arial" pitchFamily="34" charset="-122"/>
                <a:cs typeface="Arial"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Optimization Challenge</dc:title>
  <dc:subject>PptxGenJS Presentation</dc:subject>
  <dc:creator>NordicBike AB Workshop</dc:creator>
  <cp:lastModifiedBy>NordicBike AB Workshop</cp:lastModifiedBy>
  <cp:revision>1</cp:revision>
  <dcterms:created xsi:type="dcterms:W3CDTF">2026-08-14T11:19:53Z</dcterms:created>
  <dcterms:modified xsi:type="dcterms:W3CDTF">2026-08-14T11:19:53Z</dcterms:modified>
</cp:coreProperties>
</file>